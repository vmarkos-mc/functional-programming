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4" r:id="rId5"/>
    <p:sldMasterId id="2147483660" r:id="rId6"/>
    <p:sldMasterId id="214748366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iIxzjHRsMNsEdajEcxVTu6thP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do these by hand to understand what is going on</a:t>
            </a:r>
            <a:endParaRPr/>
          </a:p>
        </p:txBody>
      </p:sp>
      <p:sp>
        <p:nvSpPr>
          <p:cNvPr id="133" name="Google Shape;1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through this with a. small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through this with a. small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Title Slide Option 4" showMasterSp="0">
  <p:cSld name="3_Section Title Slide Option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Derby Logo" id="11" name="Google Shape;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076" y="373818"/>
            <a:ext cx="970338" cy="983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Inner Slide">
  <p:cSld name="Default Inner Slide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yellow rectangular sign with white text&#10;&#10;Description automatically generated" id="13" name="Google Shape;1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13" y="6182886"/>
            <a:ext cx="418005" cy="57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Slide Option 1" showMasterSp="0">
  <p:cSld name="Section Title Slide Option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Derby Logo" id="15" name="Google Shape;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076" y="373818"/>
            <a:ext cx="970338" cy="983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Title Slide Option 2" showMasterSp="0">
  <p:cSld name="1_Section Title Slide Option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Derby Logo" id="17" name="Google Shape;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076" y="373818"/>
            <a:ext cx="970338" cy="983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Title Slide Option 3" showMasterSp="0">
  <p:cSld name="2_Section Title Slide Option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Derby Logo" id="19" name="Google Shape;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076" y="373818"/>
            <a:ext cx="970338" cy="983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Option 1">
  <p:cSld name="Title Slide Option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Derby Logo" id="22" name="Google Shape;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041" y="373818"/>
            <a:ext cx="976408" cy="989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rectangular sign with white text&#10;&#10;Description automatically generated" id="23" name="Google Shape;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35" y="5924332"/>
            <a:ext cx="418005" cy="57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Option 2">
  <p:cSld name="1_Title Slide Option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Derby Logo" id="25" name="Google Shape;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076" y="373818"/>
            <a:ext cx="970338" cy="983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Option 3">
  <p:cSld name="Title Slide Option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Derby Logo" id="28" name="Google Shape;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076" y="373818"/>
            <a:ext cx="970338" cy="983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rectangular sign with white text&#10;&#10;Description automatically generated" id="29" name="Google Shape;2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35" y="5924332"/>
            <a:ext cx="418005" cy="57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Option 4">
  <p:cSld name="Title Slide Option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Derby Logo" id="31" name="Google Shape;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041" y="373818"/>
            <a:ext cx="976408" cy="989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Option 2">
  <p:cSld name="Title Slide Option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ty of Derby Logo" id="35" name="Google Shape;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041" y="373818"/>
            <a:ext cx="976408" cy="989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Inner Slide">
  <p:cSld name="Default Inner Slide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yellow rectangular sign with white text&#10;&#10;Description automatically generated" id="41" name="Google Shape;4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13" y="6182886"/>
            <a:ext cx="418005" cy="57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/Blue Accessibility Option">
  <p:cSld name="Grey/Blue Accessibility Option">
    <p:bg>
      <p:bgPr>
        <a:solidFill>
          <a:srgbClr val="EDF4F5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yellow rectangular sign with white text&#10;&#10;Description automatically generated" id="43" name="Google Shape;4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13" y="6182886"/>
            <a:ext cx="418005" cy="57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yslexia Accessibility Option">
  <p:cSld name="Dyslexia Accessibility Option">
    <p:bg>
      <p:bgPr>
        <a:solidFill>
          <a:srgbClr val="FEFBEC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yellow rectangular sign with white text&#10;&#10;Description automatically generated" id="45" name="Google Shape;4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13" y="6182886"/>
            <a:ext cx="418005" cy="57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Title Slide Option">
  <p:cSld name="End Title Slide O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yellow rectangular sign with white text&#10;&#10;Description automatically generated" id="50" name="Google Shape;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965" y="5924331"/>
            <a:ext cx="418005" cy="57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9.jpg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8.jp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  <p:sldLayoutId id="2147483656" r:id="rId3"/>
    <p:sldLayoutId id="2147483657" r:id="rId4"/>
    <p:sldLayoutId id="2147483658" r:id="rId5"/>
    <p:sldLayoutId id="214748365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29"/>
          <p:cNvCxnSpPr/>
          <p:nvPr/>
        </p:nvCxnSpPr>
        <p:spPr>
          <a:xfrm rot="10800000">
            <a:off x="224413" y="6064371"/>
            <a:ext cx="11716378" cy="0"/>
          </a:xfrm>
          <a:prstGeom prst="straightConnector1">
            <a:avLst/>
          </a:prstGeom>
          <a:noFill/>
          <a:ln cap="flat" cmpd="sng" w="25400">
            <a:solidFill>
              <a:srgbClr val="9DA0A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black and white logo&#10;&#10;Description automatically generated with medium confidence" id="38" name="Google Shape;38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997249" y="226334"/>
            <a:ext cx="970338" cy="98302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9"/>
          <p:cNvSpPr txBox="1"/>
          <p:nvPr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derby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.ac.uk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041" y="373818"/>
            <a:ext cx="976407" cy="989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9690" y="734801"/>
            <a:ext cx="1063361" cy="26720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title"/>
          </p:nvPr>
        </p:nvSpPr>
        <p:spPr>
          <a:xfrm>
            <a:off x="267198" y="1745152"/>
            <a:ext cx="6799263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4CM525</a:t>
            </a:r>
            <a:b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Functional Programming</a:t>
            </a:r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267198" y="3544111"/>
            <a:ext cx="465649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 Stephan Reiff-Marganiec University of Derby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2024-2025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267198" y="1745152"/>
            <a:ext cx="6799263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4CM525 Functional Programming</a:t>
            </a:r>
            <a:b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6</a:t>
            </a:r>
            <a:b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 Order Functions 1</a:t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267198" y="5044665"/>
            <a:ext cx="465649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 Stephan Reiff-Marganiec University of Derby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2024-2025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 order functions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bit of recall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Order Functions 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the functions we have seen (they took data and returned data)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Recursive functions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function that calls itself on a smaller version of same problem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case(s) and recursive case(s)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Composition of functions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Didn’t do this explicitly, but as Computer Scientists you know that is how we build bigger programmes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Maths: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 = f ∘ g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h(x) = (f ∘ g) (x)</a:t>
            </a:r>
            <a:endParaRPr/>
          </a:p>
          <a:p>
            <a:pPr indent="-215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f ::         -&gt;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g ::         -&gt; </a:t>
            </a:r>
            <a:endParaRPr/>
          </a:p>
          <a:p>
            <a:pPr indent="-241300" lvl="3" marL="17145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4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 ::         -&gt;              </a:t>
            </a:r>
            <a:endParaRPr/>
          </a:p>
          <a:p>
            <a:pPr indent="-215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022598" y="4784422"/>
            <a:ext cx="545084" cy="4572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125963" y="4784422"/>
            <a:ext cx="469900" cy="4572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793493" y="5440624"/>
            <a:ext cx="4699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022598" y="5409172"/>
            <a:ext cx="545084" cy="4572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793493" y="6065043"/>
            <a:ext cx="4699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125963" y="6041742"/>
            <a:ext cx="469900" cy="50380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look at some list functions 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these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toUpperString :: String -&gt; String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toUpperString [] = []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toUpperString (x:xs) = toUpper x : toUpperString xs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squareList :: [Int] -&gt; [Int]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squareList [] = []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squareList (x:xs) = square x : squareList xs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you have seen others over the last weeks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do they have in common?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Commonality and abstraction =&gt; reuse!</a:t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toUpperString (x:xs) = </a:t>
            </a:r>
            <a:r>
              <a:rPr b="1" i="0" lang="en-US" sz="2400" u="none" cap="none" strike="noStrike">
                <a:solidFill>
                  <a:srgbClr val="7030A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toUpper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x : toUpperString xs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squareList (x:xs) = </a:t>
            </a:r>
            <a:r>
              <a:rPr b="1" i="0" lang="en-US" sz="2400" u="none" cap="none" strike="noStrike">
                <a:solidFill>
                  <a:srgbClr val="7030A0"/>
                </a:solidFill>
                <a:latin typeface="Comic Sans MS"/>
                <a:ea typeface="Comic Sans MS"/>
                <a:cs typeface="Comic Sans MS"/>
                <a:sym typeface="Comic Sans MS"/>
              </a:rPr>
              <a:t>square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x : squareList xs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both have a function that applies to a single element!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what we like to have is a function that can take any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put it in place of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square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toUpper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… 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course there is some need to be sensible on types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Perspective on non-functional languages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not something you have seen in L4 programming!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 Variables: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created variables, operated on them, passed to functions/ methods, returned them, stored them in data structures, …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Methods/ functions: 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declared them and used them</a:t>
            </a:r>
            <a:endParaRPr/>
          </a:p>
          <a:p>
            <a:pPr indent="-215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you have not passed functions to functions, or returned them from functions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programming in C might use function pointers 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also see some of the concepts from today’s class in Python in Semester 2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Higher-order functions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consider a first-order function f; it has an input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(the example has 2 input values) and an output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eq :: Int -&gt; Int -&gt; Bool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eq(1, 1) = True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said in the first lecture that functions are first-class citizens in Haskell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we can use them just like values …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higher-order function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function that takes a function as input and/or returns a function as output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Higher-order function: an example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these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square :: Int -&gt; Int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square(n) = n * 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applyToTuple :: (Int -&gt; Int) -&gt; (Int, Int, Int) -&gt; (Int, Int, Int)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applyToTuple f (a, b, c) -&gt; (f a, f b, f c)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following?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applyToTuple square (1, 2, 3)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Very useful higher-order functions on lists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filter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filter :: (a -&gt; Bool) [a] -&gt; [a]</a:t>
            </a:r>
            <a:endParaRPr b="0" i="1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function that discards items in a list 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map :: (a -&gt; b) [a] -&gt; [b]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function that computes a new list by applying a function to every element in a list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kind of ‘apply to all pattern’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do some work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376813" y="1206274"/>
            <a:ext cx="5719187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square :: Int -&gt; Int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c2f :: Float -&gt; Float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isEven :: Int -&gt; Bool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filter :: (a -&gt; Bool) [a] -&gt; [a]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map :: (a -&gt; b) [a] -&gt; [b]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7" name="Google Shape;137;p11"/>
          <p:cNvSpPr txBox="1"/>
          <p:nvPr/>
        </p:nvSpPr>
        <p:spPr>
          <a:xfrm>
            <a:off x="5952113" y="1206274"/>
            <a:ext cx="5223887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map square [1 .. 5]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map c2f [1.0 .. 5.0]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map isEven [1 .. 5]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filter isEven [1 .. 5]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filter square [1 .. 5]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and filter implemented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map :: (a -&gt; b) -&gt; [a] -&gt; [b]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map _ [] = []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map f (x:xs) = f x : map f xs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filter :: (a -&gt; Bool) -&gt; [a] -&gt; [a]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filter _ [] = []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filter p (x:xs) | p x       = x : filter p xs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	          | otherwise = filter p xs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very useful higher-order functions on lists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Folding reduces a list to a single value by repeatedly applying a function to the value computed so far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Folding is a sort of iteration pattern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Folding can go right to left or left to right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think of it (roughly) as adding operators between the elements in a list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foldl :: (b -&gt; a -&gt; b) -&gt; b -&gt; [a] -&gt; b</a:t>
            </a:r>
            <a:endParaRPr b="0" i="1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foldr :: (a -&gt; b -&gt; b) -&gt; b -&gt; [a] -&gt; b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just think about this for a moment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fold + into [1..5] gives ((((1+ 2) + 3) + 4) + 5)  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fold + into [1..5] gives (1 + (2 + (3 + (4 + 5))))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finally zipWith: higher-order functions on lists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Zip is a function that combines two lists into one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zipWith :: (a -&gt; b -&gt; c) -&gt; [a] -&gt; [b] -&gt; [c]</a:t>
            </a:r>
            <a:endParaRPr b="0" i="1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just think about this for a moment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Zip to pairs:</a:t>
            </a:r>
            <a:endParaRPr/>
          </a:p>
          <a:p>
            <a:pPr indent="-342900" lvl="2" marL="12573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[1..5] and [a, b, c, d, e] to [(1,a), (2,b), (3, c), (4, d), (5, e)]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Zip to sums:</a:t>
            </a:r>
            <a:endParaRPr/>
          </a:p>
          <a:p>
            <a:pPr indent="-342900" lvl="2" marL="12573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[1..5] and [10..15] to [11, 12, 13, 14, 15]</a:t>
            </a:r>
            <a:endParaRPr b="1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zipWith and foldr implemented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zipWith :: (a -&gt; b -&gt; c) -&gt; [a] -&gt; [b] -&gt; [c]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zipWith _ [] [] = []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zipWith f (x:xs) (y:ys) = f x y : zipWith f xs ys</a:t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foldr :: (a -&gt; b -&gt; b) -&gt; b -&gt; [a] -&gt; b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foldr _ acc [] = acc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foldr f acc (x:xs) = f x (foldr f acc xs)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type="title"/>
          </p:nvPr>
        </p:nvSpPr>
        <p:spPr>
          <a:xfrm>
            <a:off x="267198" y="1745152"/>
            <a:ext cx="679926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week we looked at higher-order functions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We’ll look at more of this next week, but before you’ll try some in the lab.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nd Title Slide Optio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ction Title Slide Option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itle Slide Option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fault Inner Slide Option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2021-03-18T09:19:43Z</dcterms:created>
  <dc:creator>Stephen Muessig</dc:creator>
</cp:coreProperties>
</file>