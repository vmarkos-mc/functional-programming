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Raleway"/>
      <p:regular r:id="rId45"/>
      <p:bold r:id="rId46"/>
      <p:italic r:id="rId47"/>
      <p:boldItalic r:id="rId48"/>
    </p:embeddedFont>
    <p:embeddedFont>
      <p:font typeface="Lato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aleway-bold.fntdata"/><Relationship Id="rId45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aleway-boldItalic.fntdata"/><Relationship Id="rId47" Type="http://schemas.openxmlformats.org/officeDocument/2006/relationships/font" Target="fonts/Raleway-italic.fntdata"/><Relationship Id="rId49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Lato-italic.fntdata"/><Relationship Id="rId50" Type="http://schemas.openxmlformats.org/officeDocument/2006/relationships/font" Target="fonts/Lato-bold.fntdata"/><Relationship Id="rId52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99f75cb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499f75cb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99f75cba3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499f75cba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99f75cba3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499f75cba3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99f75cba3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499f75cba3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99f75cba3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499f75cba3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99f75cba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499f75cba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99f75cba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499f75cba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99f75cba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499f75cba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99f75cba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499f75cba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99f75cba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499f75cba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99f75cba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499f75cba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499f75cba3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499f75cba3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499f75cba3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499f75cba3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99f75cba3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499f75cba3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499f75cba3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499f75cba3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499f75cba3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499f75cba3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499f75cba3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499f75cba3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499f75cba3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499f75cba3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499f75cba3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499f75cba3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499f75cba3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499f75cba3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99f75cba3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499f75cba3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499f75cba3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499f75cba3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499f75cba3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499f75cba3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499f75cba3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499f75cba3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49a5d4a8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49a5d4a8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49a5d4a8e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49a5d4a8e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499f75cba3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499f75cba3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49a5d4a8e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49a5d4a8e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49a5d4a8e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49a5d4a8e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49a5d4a8e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49a5d4a8e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49a5d4a8e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49a5d4a8e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49a5d4a8e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49a5d4a8e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49a5d4a8e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49a5d4a8e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49a5d4a8e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49a5d4a8e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49a5d4a8e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49a5d4a8e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d407ffd03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d407ffd03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51f037643ed1a0e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51f037643ed1a0e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d407ffd0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d407ffd0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3" name="Google Shape;13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sz="42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729625" y="3172900"/>
            <a:ext cx="7688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18" name="Google Shape;18;p2"/>
          <p:cNvSpPr txBox="1"/>
          <p:nvPr/>
        </p:nvSpPr>
        <p:spPr>
          <a:xfrm>
            <a:off x="6590950" y="3866975"/>
            <a:ext cx="194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Google Shape;19;p2"/>
          <p:cNvSpPr txBox="1"/>
          <p:nvPr>
            <p:ph idx="2" type="subTitle"/>
          </p:nvPr>
        </p:nvSpPr>
        <p:spPr>
          <a:xfrm>
            <a:off x="6057025" y="3821800"/>
            <a:ext cx="2360700" cy="1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50">
          <p15:clr>
            <a:srgbClr val="E46962"/>
          </p15:clr>
        </p15:guide>
        <p15:guide id="2" pos="5302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  <p:grpSp>
        <p:nvGrpSpPr>
          <p:cNvPr id="28" name="Google Shape;28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9" name="Google Shape;29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" name="Google Shape;31;p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ύριο μέρος - Εκτός ύλης">
  <p:cSld name="TITLE_AND_BODY_1">
    <p:bg>
      <p:bgPr>
        <a:solidFill>
          <a:schemeClr val="l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chemeClr val="lt1"/>
                </a:solidFill>
              </a:rPr>
              <a:t>Not relevant for the assessment of the module!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36" name="Google Shape;36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7" name="Google Shape;37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ύριο μέρος - Προσοχή!">
  <p:cSld name="TITLE_AND_BODY_1_1">
    <p:bg>
      <p:bgPr>
        <a:solidFill>
          <a:schemeClr val="lt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chemeClr val="lt1"/>
                </a:solidFill>
              </a:rPr>
              <a:t>Heads up!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44" name="Google Shape;44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ύριο μέρος - Προσοχή! 1">
  <p:cSld name="TITLE_AND_BODY_1_1_1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chemeClr val="lt1"/>
                </a:solidFill>
              </a:rPr>
              <a:t>Quick Revision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52" name="Google Shape;52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3" name="Google Shape;53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" name="Google Shape;55;p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6" name="Google Shape;56;p7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" name="Google Shape;60;p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1" name="Google Shape;61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8"/>
          <p:cNvSpPr txBox="1"/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729325" y="1474150"/>
            <a:ext cx="3774300" cy="28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2" type="body"/>
          </p:nvPr>
        </p:nvSpPr>
        <p:spPr>
          <a:xfrm>
            <a:off x="4643600" y="1474075"/>
            <a:ext cx="3774300" cy="28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67" name="Google Shape;67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9"/>
          <p:cNvSpPr txBox="1"/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1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0"/>
          <p:cNvSpPr txBox="1"/>
          <p:nvPr>
            <p:ph type="title"/>
          </p:nvPr>
        </p:nvSpPr>
        <p:spPr>
          <a:xfrm>
            <a:off x="721225" y="523413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2" name="Google Shape;82;p10"/>
          <p:cNvSpPr txBox="1"/>
          <p:nvPr>
            <p:ph idx="1" type="body"/>
          </p:nvPr>
        </p:nvSpPr>
        <p:spPr>
          <a:xfrm>
            <a:off x="721225" y="1452775"/>
            <a:ext cx="3300900" cy="29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84" name="Google Shape;84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7" name="Google Shape;87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" name="Google Shape;93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4" name="Google Shape;94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7" name="Google Shape;97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8" name="Google Shape;98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2" name="Google Shape;102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5" name="Google Shape;105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4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ato"/>
              <a:buNone/>
              <a:defRPr sz="8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14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157325" y="41050"/>
            <a:ext cx="892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Lato"/>
              <a:buNone/>
              <a:defRPr b="0" sz="1000">
                <a:solidFill>
                  <a:srgbClr val="CCCCCC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python.org/3/howto/regex.html" TargetMode="External"/><Relationship Id="rId4" Type="http://schemas.openxmlformats.org/officeDocument/2006/relationships/hyperlink" Target="https://realpython.com/regex-python/" TargetMode="External"/><Relationship Id="rId5" Type="http://schemas.openxmlformats.org/officeDocument/2006/relationships/hyperlink" Target="https://regex101.co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Relationship Id="rId4" Type="http://schemas.openxmlformats.org/officeDocument/2006/relationships/hyperlink" Target="https://forms.gle/YU1mjxjBjBf8hyvH7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Functional Programming</a:t>
            </a:r>
            <a:br>
              <a:rPr lang="el"/>
            </a:br>
            <a:r>
              <a:rPr b="0" lang="el" sz="2200">
                <a:solidFill>
                  <a:schemeClr val="accent1"/>
                </a:solidFill>
              </a:rPr>
              <a:t>Looping Without Loops</a:t>
            </a:r>
            <a:endParaRPr b="0" sz="2200">
              <a:solidFill>
                <a:schemeClr val="accent1"/>
              </a:solidFill>
            </a:endParaRPr>
          </a:p>
        </p:txBody>
      </p:sp>
      <p:sp>
        <p:nvSpPr>
          <p:cNvPr id="117" name="Google Shape;117;p16"/>
          <p:cNvSpPr txBox="1"/>
          <p:nvPr>
            <p:ph idx="1" type="subTitle"/>
          </p:nvPr>
        </p:nvSpPr>
        <p:spPr>
          <a:xfrm>
            <a:off x="729625" y="3172900"/>
            <a:ext cx="7688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Markos Vassilis, Mediterranean College, 2024 - 2025, Spring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029600" y="4001275"/>
            <a:ext cx="23880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6"/>
          <p:cNvSpPr txBox="1"/>
          <p:nvPr>
            <p:ph idx="2" type="subTitle"/>
          </p:nvPr>
        </p:nvSpPr>
        <p:spPr>
          <a:xfrm>
            <a:off x="6057025" y="3821800"/>
            <a:ext cx="2360700" cy="1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l"/>
              <a:t>Week 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Scanning</a:t>
            </a:r>
            <a:endParaRPr/>
          </a:p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Scanning / Lexxing</a:t>
            </a:r>
            <a:endParaRPr/>
          </a:p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729450" y="1378000"/>
            <a:ext cx="7688700" cy="22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You are given a Python script, say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foo.py</a:t>
            </a:r>
            <a:r>
              <a:rPr lang="el"/>
              <a:t>, which you are asked to execute.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is the first thing you should do?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Read it!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process of reading, i.e., making sense of the actual contents of the source code is often called scanning or lexing (&lt; lex &lt; λέξη).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output of a scanner / lexer is, typically, a list of tokens, so you can also silently read “scanning” as “tokenisation”.</a:t>
            </a:r>
            <a:endParaRPr/>
          </a:p>
        </p:txBody>
      </p:sp>
      <p:sp>
        <p:nvSpPr>
          <p:cNvPr id="132" name="Google Shape;132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grpSp>
        <p:nvGrpSpPr>
          <p:cNvPr id="133" name="Google Shape;133;p18"/>
          <p:cNvGrpSpPr/>
          <p:nvPr/>
        </p:nvGrpSpPr>
        <p:grpSpPr>
          <a:xfrm>
            <a:off x="1264175" y="3712188"/>
            <a:ext cx="6619242" cy="1037664"/>
            <a:chOff x="1282900" y="3589213"/>
            <a:chExt cx="6619242" cy="1037664"/>
          </a:xfrm>
        </p:grpSpPr>
        <p:sp>
          <p:nvSpPr>
            <p:cNvPr id="134" name="Google Shape;134;p18"/>
            <p:cNvSpPr/>
            <p:nvPr/>
          </p:nvSpPr>
          <p:spPr>
            <a:xfrm>
              <a:off x="3780425" y="3684900"/>
              <a:ext cx="1624200" cy="846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l" sz="2100" u="none" cap="none" strike="noStrike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Lexxer</a:t>
              </a:r>
              <a:endParaRPr b="0" i="0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1282900" y="3589213"/>
              <a:ext cx="1487592" cy="1037664"/>
            </a:xfrm>
            <a:prstGeom prst="flowChartDocumen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l" sz="12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x = (y + z) / 2</a:t>
              </a:r>
              <a:endParaRPr b="0" i="0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6414550" y="3589213"/>
              <a:ext cx="1487592" cy="1037664"/>
            </a:xfrm>
            <a:prstGeom prst="flowChartDocumen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l" sz="12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(VAR, ‘x’),</a:t>
              </a:r>
              <a:br>
                <a:rPr b="0" i="0" lang="el" sz="12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b="0" i="0" lang="el" sz="12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(ASGN, ‘=’),</a:t>
              </a:r>
              <a:br>
                <a:rPr b="0" i="0" lang="el" sz="12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b="0" i="0" lang="el" sz="12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(LPAR, ‘(’),</a:t>
              </a:r>
              <a:br>
                <a:rPr b="0" i="0" lang="el" sz="12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b="0" i="0" lang="el" sz="12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b="0" i="0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37" name="Google Shape;137;p18"/>
            <p:cNvCxnSpPr>
              <a:stCxn id="135" idx="3"/>
              <a:endCxn id="134" idx="1"/>
            </p:cNvCxnSpPr>
            <p:nvPr/>
          </p:nvCxnSpPr>
          <p:spPr>
            <a:xfrm>
              <a:off x="2770492" y="4108045"/>
              <a:ext cx="1009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8" name="Google Shape;138;p18"/>
            <p:cNvCxnSpPr>
              <a:stCxn id="134" idx="3"/>
              <a:endCxn id="136" idx="1"/>
            </p:cNvCxnSpPr>
            <p:nvPr/>
          </p:nvCxnSpPr>
          <p:spPr>
            <a:xfrm>
              <a:off x="5404625" y="4108050"/>
              <a:ext cx="1009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Parsing</a:t>
            </a:r>
            <a:endParaRPr/>
          </a:p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Assume that you have now lexed your source code, which means that you have a list of tokens that might make more sense to you. What’s next?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You have to actually make sense of those, by capturing the subtle structure of the source code.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This process is called </a:t>
            </a:r>
            <a:r>
              <a:rPr b="1" lang="el"/>
              <a:t>Parsing.</a:t>
            </a:r>
            <a:endParaRPr b="1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Put more formally, parsing is the process of creating a data structure (typically an </a:t>
            </a:r>
            <a:r>
              <a:rPr b="1" lang="el"/>
              <a:t>Abstract Syntax Tree</a:t>
            </a:r>
            <a:r>
              <a:rPr lang="el"/>
              <a:t>, AST) that captures the syntactic structure of the underlying code.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Often, ASTs are called simply Syntax Trees or, even, Trees.</a:t>
            </a:r>
            <a:endParaRPr/>
          </a:p>
        </p:txBody>
      </p:sp>
      <p:sp>
        <p:nvSpPr>
          <p:cNvPr id="145" name="Google Shape;145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Parsing Example</a:t>
            </a:r>
            <a:endParaRPr/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729450" y="13780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Consider this piece of code:</a:t>
            </a:r>
            <a:endParaRPr/>
          </a:p>
        </p:txBody>
      </p:sp>
      <p:sp>
        <p:nvSpPr>
          <p:cNvPr id="152" name="Google Shape;152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153" name="Google Shape;1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913200"/>
            <a:ext cx="8839201" cy="42968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0"/>
          <p:cNvSpPr txBox="1"/>
          <p:nvPr>
            <p:ph idx="1" type="body"/>
          </p:nvPr>
        </p:nvSpPr>
        <p:spPr>
          <a:xfrm>
            <a:off x="847600" y="2431150"/>
            <a:ext cx="76887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would you expect the lexxed version of this to look like?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Most probably, something like that:</a:t>
            </a:r>
            <a:endParaRPr/>
          </a:p>
        </p:txBody>
      </p:sp>
      <p:pic>
        <p:nvPicPr>
          <p:cNvPr id="155" name="Google Shape;15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3293150"/>
            <a:ext cx="8839201" cy="50641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0"/>
          <p:cNvSpPr txBox="1"/>
          <p:nvPr>
            <p:ph idx="1" type="body"/>
          </p:nvPr>
        </p:nvSpPr>
        <p:spPr>
          <a:xfrm>
            <a:off x="847600" y="3799575"/>
            <a:ext cx="76887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about the corresponding AST?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Parsing Example</a:t>
            </a:r>
            <a:endParaRPr/>
          </a:p>
        </p:txBody>
      </p:sp>
      <p:sp>
        <p:nvSpPr>
          <p:cNvPr id="162" name="Google Shape;162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163" name="Google Shape;1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89563"/>
            <a:ext cx="8839201" cy="2677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Regular Expressions</a:t>
            </a:r>
            <a:endParaRPr/>
          </a:p>
        </p:txBody>
      </p:sp>
      <p:sp>
        <p:nvSpPr>
          <p:cNvPr id="169" name="Google Shape;169;p22"/>
          <p:cNvSpPr txBox="1"/>
          <p:nvPr>
            <p:ph idx="1" type="body"/>
          </p:nvPr>
        </p:nvSpPr>
        <p:spPr>
          <a:xfrm>
            <a:off x="729450" y="1378000"/>
            <a:ext cx="76887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is a regular expression?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Roughly speaking, a simple enough expression that can be understood by a silly machine that can only parse one character at a time and make a decision based on the value of that character.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Such machines are called DFA (Deterministic Finite Automata).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Not all expressions are regular.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Even more roughly speaking, regular expressions correspond to things that can be expressed and evaluated using finite memory</a:t>
            </a:r>
            <a:r>
              <a:rPr b="1" lang="el"/>
              <a:t>.</a:t>
            </a:r>
            <a:endParaRPr b="1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For instance, the expressions of the form “n 0s followed by n 1s” are not regular.</a:t>
            </a:r>
            <a:endParaRPr/>
          </a:p>
        </p:txBody>
      </p:sp>
      <p:sp>
        <p:nvSpPr>
          <p:cNvPr id="170" name="Google Shape;170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Regular Expressions + Python</a:t>
            </a:r>
            <a:endParaRPr/>
          </a:p>
        </p:txBody>
      </p:sp>
      <p:sp>
        <p:nvSpPr>
          <p:cNvPr id="176" name="Google Shape;176;p23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RegEx are a powerful pattern matching tool in some cases.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instance, we can match all sequences of the form “two lowercase letters followed by a digit” just by writing:</a:t>
            </a:r>
            <a:endParaRPr/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"[a-z][a-z]\d"gm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However, with RegEx we cannot perform all scanning / parsing tasks we need to.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feel free to use them but do not expect to solve everything.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Further reading:</a:t>
            </a:r>
            <a:endParaRPr/>
          </a:p>
          <a:p>
            <a:pPr indent="-3302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u="sng">
                <a:solidFill>
                  <a:schemeClr val="hlink"/>
                </a:solidFill>
                <a:hlinkClick r:id="rId3"/>
              </a:rPr>
              <a:t>https://docs.python.org/3/howto/regex.html</a:t>
            </a:r>
            <a:endParaRPr/>
          </a:p>
          <a:p>
            <a:pPr indent="-3302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u="sng">
                <a:solidFill>
                  <a:schemeClr val="hlink"/>
                </a:solidFill>
                <a:hlinkClick r:id="rId4"/>
              </a:rPr>
              <a:t>https://realpython.com/regex-python/</a:t>
            </a:r>
            <a:endParaRPr/>
          </a:p>
          <a:p>
            <a:pPr indent="-3302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u="sng">
                <a:solidFill>
                  <a:schemeClr val="hlink"/>
                </a:solidFill>
                <a:hlinkClick r:id="rId5"/>
              </a:rPr>
              <a:t>https://regex101.com/</a:t>
            </a:r>
            <a:r>
              <a:rPr lang="el"/>
              <a:t> </a:t>
            </a:r>
            <a:endParaRPr/>
          </a:p>
        </p:txBody>
      </p:sp>
      <p:sp>
        <p:nvSpPr>
          <p:cNvPr id="177" name="Google Shape;177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Useful Tools: Buffering</a:t>
            </a:r>
            <a:endParaRPr/>
          </a:p>
        </p:txBody>
      </p:sp>
      <p:sp>
        <p:nvSpPr>
          <p:cNvPr id="183" name="Google Shape;183;p24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Assume that you are scanning a ppython file character by character.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Imagine, also, that you want to scan for the </a:t>
            </a:r>
            <a:r>
              <a:rPr b="1" lang="el"/>
              <a:t>def </a:t>
            </a:r>
            <a:r>
              <a:rPr lang="el"/>
              <a:t>ppython keyword: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How can you spot that, since it comprises of three characters?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Evidently, you need some sort of short–term–memory.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Such things are, typically, called buffers, and can be as simple as an array or a linked list, a cyclic array implementing a queue, or whatever works best for you.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Keep that in mind for today’s lab…</a:t>
            </a:r>
            <a:endParaRPr/>
          </a:p>
        </p:txBody>
      </p:sp>
      <p:sp>
        <p:nvSpPr>
          <p:cNvPr id="184" name="Google Shape;184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Useful Tools: Peeking</a:t>
            </a:r>
            <a:endParaRPr/>
          </a:p>
        </p:txBody>
      </p:sp>
      <p:sp>
        <p:nvSpPr>
          <p:cNvPr id="190" name="Google Shape;190;p25"/>
          <p:cNvSpPr txBox="1"/>
          <p:nvPr>
            <p:ph idx="1" type="body"/>
          </p:nvPr>
        </p:nvSpPr>
        <p:spPr>
          <a:xfrm>
            <a:off x="729450" y="1378000"/>
            <a:ext cx="7688700" cy="3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Suppose you need to parse the keyword </a:t>
            </a:r>
            <a:r>
              <a:rPr b="1" lang="el"/>
              <a:t>def</a:t>
            </a:r>
            <a:r>
              <a:rPr lang="el"/>
              <a:t> again.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you have a buffer that looks like: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[‘d’, ‘e’, ‘f’]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Are you done?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about, e.g., deficit? defence? definite? defghij?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There are many identifiers that may (or may not) match a certain pattern.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Thus, aside a </a:t>
            </a:r>
            <a:r>
              <a:rPr b="1" lang="el"/>
              <a:t>lookbehind </a:t>
            </a:r>
            <a:r>
              <a:rPr lang="el"/>
              <a:t>mechanism such as a buffer, we also need a </a:t>
            </a:r>
            <a:r>
              <a:rPr b="1" lang="el"/>
              <a:t>lookahead </a:t>
            </a:r>
            <a:r>
              <a:rPr lang="el"/>
              <a:t>one.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We often refer to this process as </a:t>
            </a:r>
            <a:r>
              <a:rPr b="1" lang="el"/>
              <a:t>peeking</a:t>
            </a:r>
            <a:r>
              <a:rPr lang="el"/>
              <a:t>.</a:t>
            </a:r>
            <a:endParaRPr/>
          </a:p>
        </p:txBody>
      </p:sp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Maximal Munches</a:t>
            </a:r>
            <a:endParaRPr/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 the previous case, we have to make sure what we are reading is just </a:t>
            </a:r>
            <a:r>
              <a:rPr b="1" lang="el"/>
              <a:t>def</a:t>
            </a:r>
            <a:r>
              <a:rPr lang="el"/>
              <a:t> and not any longer identifier prefixed with </a:t>
            </a:r>
            <a:r>
              <a:rPr i="1" lang="el"/>
              <a:t>def</a:t>
            </a:r>
            <a:r>
              <a:rPr lang="el"/>
              <a:t>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is a common pattern in scanning, where, in any case we have a dilemma (or tri-lemma?) between two literals such that one is a prefix of the other, the longest one wins.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is also called the </a:t>
            </a:r>
            <a:r>
              <a:rPr b="1" lang="el"/>
              <a:t>maximal munch principle</a:t>
            </a:r>
            <a:r>
              <a:rPr lang="el"/>
              <a:t>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 the same spirit, we interpret </a:t>
            </a:r>
            <a:r>
              <a:rPr b="1" lang="el"/>
              <a:t>&gt;=</a:t>
            </a:r>
            <a:r>
              <a:rPr lang="el"/>
              <a:t> as such and not as two separate operators, &gt; and =.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You will find this idea useful when scanning for reserved words of ppython.</a:t>
            </a:r>
            <a:endParaRPr/>
          </a:p>
        </p:txBody>
      </p:sp>
      <p:sp>
        <p:nvSpPr>
          <p:cNvPr id="198" name="Google Shape;198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Have Fun Scanning!</a:t>
            </a:r>
            <a:endParaRPr/>
          </a:p>
        </p:txBody>
      </p:sp>
      <p:sp>
        <p:nvSpPr>
          <p:cNvPr id="204" name="Google Shape;204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205" name="Google Shape;20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59525"/>
            <a:ext cx="8839201" cy="313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l"/>
              <a:t>ASTs</a:t>
            </a:r>
            <a:endParaRPr/>
          </a:p>
        </p:txBody>
      </p:sp>
      <p:sp>
        <p:nvSpPr>
          <p:cNvPr id="211" name="Google Shape;211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Beyond Tokens…</a:t>
            </a:r>
            <a:endParaRPr/>
          </a:p>
        </p:txBody>
      </p:sp>
      <p:sp>
        <p:nvSpPr>
          <p:cNvPr id="217" name="Google Shape;217;p29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We have generated a list of tokens from a source file so far.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However, this is just the first step in the process of meaning extraction from a source file.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However, a tokens list does not unveil any underlying structure.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For instance, you cannot spot syntax errors just by inspecting such a list.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Moreover, you cannot make sense of what the code does just by inspection.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we have to find a way to uncover the hidden structure of our code files.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One way to do so is to construct an </a:t>
            </a:r>
            <a:r>
              <a:rPr b="1" lang="el"/>
              <a:t>Abstract Syntax Tree (AST).</a:t>
            </a:r>
            <a:endParaRPr b="1"/>
          </a:p>
        </p:txBody>
      </p:sp>
      <p:sp>
        <p:nvSpPr>
          <p:cNvPr id="218" name="Google Shape;218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ASTs</a:t>
            </a:r>
            <a:endParaRPr/>
          </a:p>
        </p:txBody>
      </p:sp>
      <p:sp>
        <p:nvSpPr>
          <p:cNvPr id="224" name="Google Shape;224;p30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Consider this math expression: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1 + 2 * 3 - 4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would you evaluate it?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Start by multiplication, so 2 * 3 == 6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Then add 1 + 6 == 7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Finally, 7 - 4 == 3.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Silently, while making the above computations, we are also unwrapping the tree–structure implied by the provided expression.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i="1" lang="el"/>
              <a:t>See next slide for a nice tree–based computation of the above.</a:t>
            </a:r>
            <a:endParaRPr i="1"/>
          </a:p>
        </p:txBody>
      </p:sp>
      <p:sp>
        <p:nvSpPr>
          <p:cNvPr id="225" name="Google Shape;225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1 + 2 * 3 – 4</a:t>
            </a:r>
            <a:endParaRPr/>
          </a:p>
        </p:txBody>
      </p:sp>
      <p:sp>
        <p:nvSpPr>
          <p:cNvPr id="231" name="Google Shape;231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232" name="Google Shape;23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" y="1723100"/>
            <a:ext cx="628650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Making Sense Of Stuff</a:t>
            </a:r>
            <a:endParaRPr/>
          </a:p>
        </p:txBody>
      </p:sp>
      <p:sp>
        <p:nvSpPr>
          <p:cNvPr id="238" name="Google Shape;238;p32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of sense you how sentence make this do?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???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What does the above mean?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Well, nothing, most probably.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do you make sense of this sentence?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You use the English language’s grammar to understand how the words used relate with each other in terms of meaning.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But, what are grammars?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Sets of rules that tell us how the building blocks of a language can relate with each other to form meaningful sentences.</a:t>
            </a:r>
            <a:endParaRPr/>
          </a:p>
        </p:txBody>
      </p:sp>
      <p:sp>
        <p:nvSpPr>
          <p:cNvPr id="239" name="Google Shape;239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Context–Free Grammars</a:t>
            </a:r>
            <a:endParaRPr/>
          </a:p>
        </p:txBody>
      </p:sp>
      <p:sp>
        <p:nvSpPr>
          <p:cNvPr id="245" name="Google Shape;245;p33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There are various categories of grammars, depending on how their constructs relate with one another.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 </a:t>
            </a:r>
            <a:r>
              <a:rPr b="1" lang="el"/>
              <a:t>CFG</a:t>
            </a:r>
            <a:r>
              <a:rPr lang="el"/>
              <a:t> is a </a:t>
            </a:r>
            <a:r>
              <a:rPr b="1" lang="el"/>
              <a:t>formal grammar</a:t>
            </a:r>
            <a:r>
              <a:rPr lang="el"/>
              <a:t> used to describe the syntax of a language.  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Think of it as a set of rules that define how sentences or strings can be formed in that language.  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It's called "context-free" because the application of a rule doesn't depend on the surrounding context.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You can roughly think of CFGs as a simplified version of natural languages grammars.</a:t>
            </a:r>
            <a:endParaRPr/>
          </a:p>
        </p:txBody>
      </p:sp>
      <p:sp>
        <p:nvSpPr>
          <p:cNvPr id="246" name="Google Shape;246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CFG Main Components</a:t>
            </a:r>
            <a:endParaRPr/>
          </a:p>
        </p:txBody>
      </p:sp>
      <p:sp>
        <p:nvSpPr>
          <p:cNvPr id="252" name="Google Shape;252;p34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Terminals:</a:t>
            </a:r>
            <a:r>
              <a:rPr lang="el"/>
              <a:t> 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These are the basic symbols or "letters" of the language.  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They are the symbols that actually appear in the strings generated by the grammar.  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Think of them as the words or punctuation marks in a sentence. 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Terminals are usually represented by lowercase letters, digits, or symbols like +, -, *, /, etc.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Start Symbol: </a:t>
            </a:r>
            <a:endParaRPr b="1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This is a special non-terminal that represents the top-level structure of the language.  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It's the non-terminal from which all derivations begin.  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It's usually designated as the first non-terminal defined in the grammar.</a:t>
            </a:r>
            <a:endParaRPr/>
          </a:p>
        </p:txBody>
      </p:sp>
      <p:sp>
        <p:nvSpPr>
          <p:cNvPr id="253" name="Google Shape;253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CFG Main Components</a:t>
            </a:r>
            <a:endParaRPr/>
          </a:p>
        </p:txBody>
      </p:sp>
      <p:sp>
        <p:nvSpPr>
          <p:cNvPr id="259" name="Google Shape;259;p35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Non-terminals:</a:t>
            </a:r>
            <a:endParaRPr b="1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These are symbols that represent grammatical categories or syntactic variables.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They are placeholders for more complex structures. 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They don't appear in the final strings generated by the grammar, but they are used in the rules to define the structure of the language.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Non-terminals are usually represented by uppercase letters or descriptive names enclosed in angle brackets (e.g., &lt;Sentence&gt;, &lt;NounPhrase&gt;, &lt;Verb&gt;).</a:t>
            </a:r>
            <a:endParaRPr/>
          </a:p>
        </p:txBody>
      </p:sp>
      <p:sp>
        <p:nvSpPr>
          <p:cNvPr id="260" name="Google Shape;260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CFG Main Components</a:t>
            </a:r>
            <a:endParaRPr/>
          </a:p>
        </p:txBody>
      </p:sp>
      <p:sp>
        <p:nvSpPr>
          <p:cNvPr id="266" name="Google Shape;266;p36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Production Rules</a:t>
            </a:r>
            <a:r>
              <a:rPr lang="el"/>
              <a:t> (or simply "</a:t>
            </a:r>
            <a:r>
              <a:rPr b="1" lang="el"/>
              <a:t>rules</a:t>
            </a:r>
            <a:r>
              <a:rPr lang="el"/>
              <a:t>"):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These are the heart of the grammar.  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They </a:t>
            </a:r>
            <a:r>
              <a:rPr b="1" lang="el"/>
              <a:t>specify how non-terminals can be replaced</a:t>
            </a:r>
            <a:r>
              <a:rPr lang="el"/>
              <a:t> by other non-terminals, terminals, or a combination of both.  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 rule has a left-hand side (LHS) consisting of a single non-terminal and a right-hand side (RHS) consisting of a sequence of terminals and/or non-terminals.  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 LHS is connected to the RHS by an arrow, often represented as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el"/>
              <a:t> or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::=</a:t>
            </a:r>
            <a:r>
              <a:rPr lang="el"/>
              <a:t>.  For example, the rule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&lt;Sentence&gt; -&gt; &lt;NounPhrase&gt; &lt;VerbPhrase&gt;</a:t>
            </a:r>
            <a:r>
              <a:rPr lang="el"/>
              <a:t> means that a sentence can be formed by combining a noun phrase and a verb phrase.</a:t>
            </a:r>
            <a:endParaRPr/>
          </a:p>
        </p:txBody>
      </p:sp>
      <p:sp>
        <p:nvSpPr>
          <p:cNvPr id="267" name="Google Shape;267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A Simple Example (English)</a:t>
            </a:r>
            <a:endParaRPr/>
          </a:p>
        </p:txBody>
      </p:sp>
      <p:sp>
        <p:nvSpPr>
          <p:cNvPr id="273" name="Google Shape;273;p37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&lt;Sentence&gt; -&gt; &lt;NounPhrase&gt; &lt;VerbPhrase&gt;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&lt;NounPhrase&gt; -&gt; &lt;Article&gt; &lt;Noun&gt;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&lt;NounPhrase&gt; -&gt; &lt;Noun&gt;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&lt;VerbPhrase&gt; -&gt; &lt;Verb&gt; &lt;NounPhrase&gt;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&lt;VerbPhrase&gt; -&gt; &lt;Verb&gt;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&lt;Article&gt; -&gt; "the"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&lt;Noun&gt; -&gt; "cat"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&lt;Noun&gt; -&gt; "dog"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&lt;Verb&gt; -&gt; "chases"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&lt;Verb&gt; -&gt; "sleeps"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4" name="Google Shape;274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A Simple Example (English)</a:t>
            </a:r>
            <a:endParaRPr/>
          </a:p>
        </p:txBody>
      </p:sp>
      <p:sp>
        <p:nvSpPr>
          <p:cNvPr id="280" name="Google Shape;280;p38"/>
          <p:cNvSpPr txBox="1"/>
          <p:nvPr>
            <p:ph idx="1" type="body"/>
          </p:nvPr>
        </p:nvSpPr>
        <p:spPr>
          <a:xfrm>
            <a:off x="729450" y="1378000"/>
            <a:ext cx="3842700" cy="2961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280">
                <a:latin typeface="Consolas"/>
                <a:ea typeface="Consolas"/>
                <a:cs typeface="Consolas"/>
                <a:sym typeface="Consolas"/>
              </a:rPr>
              <a:t>&lt;Sentence&gt; -&gt; &lt;NounPhrase&gt; &lt;VerbPhrase&gt;</a:t>
            </a:r>
            <a:endParaRPr sz="12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280">
                <a:latin typeface="Consolas"/>
                <a:ea typeface="Consolas"/>
                <a:cs typeface="Consolas"/>
                <a:sym typeface="Consolas"/>
              </a:rPr>
              <a:t>&lt;NounPhrase&gt; -&gt; &lt;Article&gt; &lt;Noun&gt;</a:t>
            </a:r>
            <a:endParaRPr sz="12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280">
                <a:latin typeface="Consolas"/>
                <a:ea typeface="Consolas"/>
                <a:cs typeface="Consolas"/>
                <a:sym typeface="Consolas"/>
              </a:rPr>
              <a:t>&lt;NounPhrase&gt; -&gt; &lt;Noun&gt;</a:t>
            </a:r>
            <a:endParaRPr sz="12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280">
                <a:latin typeface="Consolas"/>
                <a:ea typeface="Consolas"/>
                <a:cs typeface="Consolas"/>
                <a:sym typeface="Consolas"/>
              </a:rPr>
              <a:t>&lt;VerbPhrase&gt; -&gt; &lt;Verb&gt; &lt;NounPhrase&gt;</a:t>
            </a:r>
            <a:endParaRPr sz="12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280">
                <a:latin typeface="Consolas"/>
                <a:ea typeface="Consolas"/>
                <a:cs typeface="Consolas"/>
                <a:sym typeface="Consolas"/>
              </a:rPr>
              <a:t>&lt;VerbPhrase&gt; -&gt; &lt;Verb&gt;</a:t>
            </a:r>
            <a:endParaRPr sz="12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280">
                <a:latin typeface="Consolas"/>
                <a:ea typeface="Consolas"/>
                <a:cs typeface="Consolas"/>
                <a:sym typeface="Consolas"/>
              </a:rPr>
              <a:t>&lt;Article&gt; -&gt; "the"</a:t>
            </a:r>
            <a:endParaRPr sz="12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280">
                <a:latin typeface="Consolas"/>
                <a:ea typeface="Consolas"/>
                <a:cs typeface="Consolas"/>
                <a:sym typeface="Consolas"/>
              </a:rPr>
              <a:t>&lt;Noun&gt; -&gt; "cat"</a:t>
            </a:r>
            <a:endParaRPr sz="12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280">
                <a:latin typeface="Consolas"/>
                <a:ea typeface="Consolas"/>
                <a:cs typeface="Consolas"/>
                <a:sym typeface="Consolas"/>
              </a:rPr>
              <a:t>&lt;Noun&gt; -&gt; "dog"</a:t>
            </a:r>
            <a:endParaRPr sz="12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280">
                <a:latin typeface="Consolas"/>
                <a:ea typeface="Consolas"/>
                <a:cs typeface="Consolas"/>
                <a:sym typeface="Consolas"/>
              </a:rPr>
              <a:t>&lt;Verb&gt; -&gt; "chases"</a:t>
            </a:r>
            <a:endParaRPr sz="12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280">
                <a:latin typeface="Consolas"/>
                <a:ea typeface="Consolas"/>
                <a:cs typeface="Consolas"/>
                <a:sym typeface="Consolas"/>
              </a:rPr>
              <a:t>&lt;Verb&gt; -&gt; "sleeps"</a:t>
            </a:r>
            <a:endParaRPr sz="128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" name="Google Shape;281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282" name="Google Shape;282;p38"/>
          <p:cNvSpPr txBox="1"/>
          <p:nvPr>
            <p:ph idx="1" type="body"/>
          </p:nvPr>
        </p:nvSpPr>
        <p:spPr>
          <a:xfrm>
            <a:off x="4728650" y="1378000"/>
            <a:ext cx="3842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Terminals?</a:t>
            </a:r>
            <a:endParaRPr b="1"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"the", "cat", "dog", "chases", "sleeps"</a:t>
            </a:r>
            <a:endParaRPr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Non–terminals?</a:t>
            </a:r>
            <a:endParaRPr b="1"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&lt;Sentence&gt;, &lt;NounPhrase&gt;, &lt;VerbPhrase&gt;, &lt;Article&gt;, &lt;Noun&gt;, &lt;Verb&gt;</a:t>
            </a:r>
            <a:endParaRPr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Start–symbol?</a:t>
            </a:r>
            <a:endParaRPr b="1"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&lt;Sentence&gt;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“the cat chases the dog”</a:t>
            </a:r>
            <a:endParaRPr/>
          </a:p>
        </p:txBody>
      </p:sp>
      <p:sp>
        <p:nvSpPr>
          <p:cNvPr id="288" name="Google Shape;288;p39"/>
          <p:cNvSpPr txBox="1"/>
          <p:nvPr>
            <p:ph idx="1" type="body"/>
          </p:nvPr>
        </p:nvSpPr>
        <p:spPr>
          <a:xfrm>
            <a:off x="729450" y="1378000"/>
            <a:ext cx="2879700" cy="2961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080">
                <a:latin typeface="Consolas"/>
                <a:ea typeface="Consolas"/>
                <a:cs typeface="Consolas"/>
                <a:sym typeface="Consolas"/>
              </a:rPr>
              <a:t>&lt;Sentence&gt; -&gt; &lt;NounPhrase&gt; &lt;VerbPhrase&gt;</a:t>
            </a:r>
            <a:endParaRPr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080">
                <a:latin typeface="Consolas"/>
                <a:ea typeface="Consolas"/>
                <a:cs typeface="Consolas"/>
                <a:sym typeface="Consolas"/>
              </a:rPr>
              <a:t>&lt;NounPhrase&gt; -&gt; &lt;Article&gt; &lt;Noun&gt;</a:t>
            </a:r>
            <a:endParaRPr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080">
                <a:latin typeface="Consolas"/>
                <a:ea typeface="Consolas"/>
                <a:cs typeface="Consolas"/>
                <a:sym typeface="Consolas"/>
              </a:rPr>
              <a:t>&lt;NounPhrase&gt; -&gt; &lt;Noun&gt;</a:t>
            </a:r>
            <a:endParaRPr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080">
                <a:latin typeface="Consolas"/>
                <a:ea typeface="Consolas"/>
                <a:cs typeface="Consolas"/>
                <a:sym typeface="Consolas"/>
              </a:rPr>
              <a:t>&lt;VerbPhrase&gt; -&gt; &lt;Verb&gt; &lt;NounPhrase&gt;</a:t>
            </a:r>
            <a:endParaRPr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080">
                <a:latin typeface="Consolas"/>
                <a:ea typeface="Consolas"/>
                <a:cs typeface="Consolas"/>
                <a:sym typeface="Consolas"/>
              </a:rPr>
              <a:t>&lt;VerbPhrase&gt; -&gt; &lt;Verb&gt;</a:t>
            </a:r>
            <a:endParaRPr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080">
                <a:latin typeface="Consolas"/>
                <a:ea typeface="Consolas"/>
                <a:cs typeface="Consolas"/>
                <a:sym typeface="Consolas"/>
              </a:rPr>
              <a:t>&lt;Article&gt; -&gt; "the"</a:t>
            </a:r>
            <a:endParaRPr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080">
                <a:latin typeface="Consolas"/>
                <a:ea typeface="Consolas"/>
                <a:cs typeface="Consolas"/>
                <a:sym typeface="Consolas"/>
              </a:rPr>
              <a:t>&lt;Noun&gt; -&gt; "cat"</a:t>
            </a:r>
            <a:endParaRPr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080">
                <a:latin typeface="Consolas"/>
                <a:ea typeface="Consolas"/>
                <a:cs typeface="Consolas"/>
                <a:sym typeface="Consolas"/>
              </a:rPr>
              <a:t>&lt;Noun&gt; -&gt; "dog"</a:t>
            </a:r>
            <a:endParaRPr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080">
                <a:latin typeface="Consolas"/>
                <a:ea typeface="Consolas"/>
                <a:cs typeface="Consolas"/>
                <a:sym typeface="Consolas"/>
              </a:rPr>
              <a:t>&lt;Verb&gt; -&gt; "chases"</a:t>
            </a:r>
            <a:endParaRPr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080">
                <a:latin typeface="Consolas"/>
                <a:ea typeface="Consolas"/>
                <a:cs typeface="Consolas"/>
                <a:sym typeface="Consolas"/>
              </a:rPr>
              <a:t>&lt;Verb&gt; -&gt; "sleeps"</a:t>
            </a:r>
            <a:endParaRPr sz="108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9" name="Google Shape;289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290" name="Google Shape;290;p39"/>
          <p:cNvSpPr txBox="1"/>
          <p:nvPr>
            <p:ph idx="1" type="body"/>
          </p:nvPr>
        </p:nvSpPr>
        <p:spPr>
          <a:xfrm>
            <a:off x="3609150" y="1378000"/>
            <a:ext cx="4962300" cy="3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l" sz="1200"/>
              <a:t>&lt;Sentence&gt;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l" sz="1200"/>
              <a:t>&lt;NounPhrase&gt; &lt;VerbPhrase&gt; (using &lt;Sentence&gt; -&gt; &lt;NounPhrase&gt; &lt;VerbPhrase&gt;)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l" sz="1200"/>
              <a:t>&lt;Article&gt; &lt;Noun&gt; &lt;VerbPhrase&gt; (using &lt;NounPhrase&gt; -&gt; &lt;Article&gt; &lt;Noun&gt;)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l" sz="1200"/>
              <a:t>"the" &lt;Noun&gt; &lt;VerbPhrase&gt; (using &lt;Article&gt; -&gt; "the")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l" sz="1200"/>
              <a:t>"the" "cat" &lt;VerbPhrase&gt; (using &lt;Noun&gt; -&gt; "cat")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l" sz="1200"/>
              <a:t>"the" "cat" &lt;Verb&gt; &lt;NounPhrase&gt; (using &lt;VerbPhrase&gt; -&gt; &lt;Verb&gt; &lt;NounPhrase&gt;)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l" sz="1200"/>
              <a:t>"the" "cat" "chases" &lt;NounPhrase&gt; (using &lt;Verb&gt; -&gt; "chases")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l" sz="1200"/>
              <a:t>"the" "cat" "chases" &lt;Article&gt; &lt;Noun&gt; (using &lt;NounPhrase&gt; -&gt; &lt;Article&gt; &lt;Noun&gt;)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l" sz="1200"/>
              <a:t>"the" "cat" "chases" "the" &lt;Noun&gt; (using &lt;Article&gt; -&gt; "the")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l" sz="1200"/>
              <a:t>"the" "cat" "chases" "the" "dog" (using &lt;Noun&gt; -&gt; "dog")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Dataclasses</a:t>
            </a:r>
            <a:endParaRPr/>
          </a:p>
        </p:txBody>
      </p:sp>
      <p:sp>
        <p:nvSpPr>
          <p:cNvPr id="296" name="Google Shape;296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Making A Point?</a:t>
            </a:r>
            <a:endParaRPr/>
          </a:p>
        </p:txBody>
      </p:sp>
      <p:sp>
        <p:nvSpPr>
          <p:cNvPr id="302" name="Google Shape;302;p41"/>
          <p:cNvSpPr txBox="1"/>
          <p:nvPr>
            <p:ph idx="1" type="body"/>
          </p:nvPr>
        </p:nvSpPr>
        <p:spPr>
          <a:xfrm>
            <a:off x="729450" y="1378000"/>
            <a:ext cx="7688700" cy="3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would you represent a 2D point in Python?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.x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x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.y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y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__repr__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"Point(x=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{self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.x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y=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{self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.y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)"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__eq__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isinstance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(other, Point):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NotImplemented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.x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other.x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.y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other.y</a:t>
            </a:r>
            <a:endParaRPr/>
          </a:p>
        </p:txBody>
      </p:sp>
      <p:sp>
        <p:nvSpPr>
          <p:cNvPr id="303" name="Google Shape;303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Too Much For Too Little…</a:t>
            </a:r>
            <a:endParaRPr/>
          </a:p>
        </p:txBody>
      </p:sp>
      <p:sp>
        <p:nvSpPr>
          <p:cNvPr id="309" name="Google Shape;309;p42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We have written so many lines of code just to define a simple 2D point.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But, there is a better way in Python…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Dataclasses!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dataclasses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dataclass</a:t>
            </a:r>
            <a:endParaRPr sz="1050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@dataclass</a:t>
            </a:r>
            <a:endParaRPr sz="1050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sz="1050">
              <a:solidFill>
                <a:srgbClr val="267F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sz="1050">
              <a:solidFill>
                <a:srgbClr val="267F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Where are the rest declarations we made?</a:t>
            </a:r>
            <a:endParaRPr/>
          </a:p>
        </p:txBody>
      </p:sp>
      <p:sp>
        <p:nvSpPr>
          <p:cNvPr id="310" name="Google Shape;310;p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Haskell Has ADTs; Python Has Dataclasses</a:t>
            </a:r>
            <a:endParaRPr/>
          </a:p>
        </p:txBody>
      </p:sp>
      <p:sp>
        <p:nvSpPr>
          <p:cNvPr id="316" name="Google Shape;316;p43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Dataclasses, introduced in Python 3.7, are classes decorated with @dataclass from the dataclasses module. This decorator automatically generates several "boilerplate" methods that are commonly needed in classes that represent data. These methods include: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el"/>
              <a:t>: Initializes the object with the specified attributes.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__repr__</a:t>
            </a:r>
            <a:r>
              <a:rPr lang="el"/>
              <a:t>: Provides a readable string representation of the object.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__eq__</a:t>
            </a:r>
            <a:r>
              <a:rPr lang="el"/>
              <a:t>: Enables comparison for equality between instances.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__ne__</a:t>
            </a:r>
            <a:r>
              <a:rPr lang="el"/>
              <a:t>: Enables comparison for inequality between instances.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__lt__</a:t>
            </a:r>
            <a:r>
              <a:rPr lang="el"/>
              <a:t>,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__le__</a:t>
            </a:r>
            <a:r>
              <a:rPr lang="el"/>
              <a:t>,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__gt__</a:t>
            </a:r>
            <a:r>
              <a:rPr lang="el"/>
              <a:t>,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__ge__</a:t>
            </a:r>
            <a:r>
              <a:rPr lang="el"/>
              <a:t>: (Optional, generated if order=True is specified) Enable comparison operators.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__hash__</a:t>
            </a:r>
            <a:r>
              <a:rPr lang="el"/>
              <a:t>: (Generated if the class is immutable or if unsafe_hash=True is specified) Allows instances to be used in sets and as dictionary keys.</a:t>
            </a:r>
            <a:endParaRPr/>
          </a:p>
        </p:txBody>
      </p:sp>
      <p:sp>
        <p:nvSpPr>
          <p:cNvPr id="317" name="Google Shape;317;p4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Key Features</a:t>
            </a:r>
            <a:endParaRPr/>
          </a:p>
        </p:txBody>
      </p:sp>
      <p:sp>
        <p:nvSpPr>
          <p:cNvPr id="323" name="Google Shape;323;p44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Decorator:</a:t>
            </a:r>
            <a:r>
              <a:rPr lang="el"/>
              <a:t> You use the @dataclass decorator directly above your class definition.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Type Hints:</a:t>
            </a:r>
            <a:r>
              <a:rPr lang="el"/>
              <a:t> You define the attributes of your dataclass with type hints. While not strictly enforced at runtime, these type hints are crucial for the dataclass to generate the correct __init__ method and for static analysis tools.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Generated Methods:</a:t>
            </a:r>
            <a:r>
              <a:rPr lang="el"/>
              <a:t> As mentioned earlier, the decorator automatically generates several useful methods.</a:t>
            </a:r>
            <a:endParaRPr/>
          </a:p>
        </p:txBody>
      </p:sp>
      <p:sp>
        <p:nvSpPr>
          <p:cNvPr id="324" name="Google Shape;324;p4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Key Features</a:t>
            </a:r>
            <a:endParaRPr/>
          </a:p>
        </p:txBody>
      </p:sp>
      <p:sp>
        <p:nvSpPr>
          <p:cNvPr id="330" name="Google Shape;330;p45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Default Values:</a:t>
            </a:r>
            <a:r>
              <a:rPr lang="el"/>
              <a:t> You can provide default values for attributes: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dataclasses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dataclass</a:t>
            </a:r>
            <a:endParaRPr sz="1050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@dataclass</a:t>
            </a:r>
            <a:endParaRPr sz="1050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endParaRPr sz="1050">
              <a:solidFill>
                <a:srgbClr val="267F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05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city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"Unknown"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person1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person2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person1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Output: Person(name='Alice', age=30, city='Unknown')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person2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Output: Person(name='Bob', age=0, city='Unknown')</a:t>
            </a:r>
            <a:endParaRPr/>
          </a:p>
        </p:txBody>
      </p:sp>
      <p:sp>
        <p:nvSpPr>
          <p:cNvPr id="331" name="Google Shape;331;p4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Key Features</a:t>
            </a:r>
            <a:endParaRPr/>
          </a:p>
        </p:txBody>
      </p:sp>
      <p:sp>
        <p:nvSpPr>
          <p:cNvPr id="337" name="Google Shape;337;p46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Mutability:</a:t>
            </a:r>
            <a:r>
              <a:rPr lang="el"/>
              <a:t> By default, dataclass instances are mutable (their attributes can be changed after creation). You can make them immutable by setting frozen=True in the @dataclass decorator: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dataclasses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dataclass</a:t>
            </a:r>
            <a:endParaRPr sz="1050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@dataclass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frozen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ImmutablePoint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sz="1050">
              <a:solidFill>
                <a:srgbClr val="267F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sz="1050">
              <a:solidFill>
                <a:srgbClr val="267F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ImmutablePoint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point.x = 5  # This will raise an AttributeError</a:t>
            </a:r>
            <a:endParaRPr/>
          </a:p>
        </p:txBody>
      </p:sp>
      <p:sp>
        <p:nvSpPr>
          <p:cNvPr id="338" name="Google Shape;338;p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Key Features</a:t>
            </a:r>
            <a:endParaRPr/>
          </a:p>
        </p:txBody>
      </p:sp>
      <p:sp>
        <p:nvSpPr>
          <p:cNvPr id="344" name="Google Shape;344;p47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Ordering:</a:t>
            </a:r>
            <a:r>
              <a:rPr lang="el"/>
              <a:t> If you need comparison operators (&lt;, &lt;=, &gt;, &gt;=) to be generated, you can set order=True in the decorator. This will generate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__lt__</a:t>
            </a:r>
            <a:r>
              <a:rPr lang="el"/>
              <a:t>,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__le__</a:t>
            </a:r>
            <a:r>
              <a:rPr lang="el"/>
              <a:t>,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__gt__</a:t>
            </a:r>
            <a:r>
              <a:rPr lang="el"/>
              <a:t>, and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__ge__</a:t>
            </a:r>
            <a:r>
              <a:rPr lang="el"/>
              <a:t> methods that compare instances lexicographically based on their attributes.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dataclasses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dataclass</a:t>
            </a:r>
            <a:endParaRPr sz="1050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@dataclass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order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DataItem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priority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sz="1050">
              <a:solidFill>
                <a:srgbClr val="267F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endParaRPr sz="1050">
              <a:solidFill>
                <a:srgbClr val="267F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item1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DataItem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"B"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item2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DataItem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item1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item2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Output: True (because 2 &gt; 1)</a:t>
            </a:r>
            <a:endParaRPr/>
          </a:p>
        </p:txBody>
      </p:sp>
      <p:sp>
        <p:nvSpPr>
          <p:cNvPr id="345" name="Google Shape;345;p4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Key Features</a:t>
            </a:r>
            <a:endParaRPr/>
          </a:p>
        </p:txBody>
      </p:sp>
      <p:sp>
        <p:nvSpPr>
          <p:cNvPr id="351" name="Google Shape;351;p48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>
                <a:latin typeface="Consolas"/>
                <a:ea typeface="Consolas"/>
                <a:cs typeface="Consolas"/>
                <a:sym typeface="Consolas"/>
              </a:rPr>
              <a:t>__post_init__</a:t>
            </a:r>
            <a:r>
              <a:rPr b="1" lang="el"/>
              <a:t>:</a:t>
            </a:r>
            <a:r>
              <a:rPr lang="el"/>
              <a:t> You can define a special method called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__post_init__</a:t>
            </a:r>
            <a:r>
              <a:rPr lang="el"/>
              <a:t> that will be executed after the automatically generated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el"/>
              <a:t> method. 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dataclasses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dataclass</a:t>
            </a:r>
            <a:endParaRPr sz="1050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@dataclass</a:t>
            </a:r>
            <a:endParaRPr sz="1050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endParaRPr sz="1050">
              <a:solidFill>
                <a:srgbClr val="267F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endParaRPr sz="1050">
              <a:solidFill>
                <a:srgbClr val="267F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__post_init__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raise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ValueError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"Width and height must be positive"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area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endParaRPr sz="1050">
              <a:solidFill>
                <a:srgbClr val="001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rect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rect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area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Output: 15.0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rect_invalid = Rectangle(-1, 2)  # This will raise a ValueError</a:t>
            </a:r>
            <a:endParaRPr/>
          </a:p>
        </p:txBody>
      </p:sp>
      <p:sp>
        <p:nvSpPr>
          <p:cNvPr id="352" name="Google Shape;352;p4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Key Features</a:t>
            </a:r>
            <a:endParaRPr/>
          </a:p>
        </p:txBody>
      </p:sp>
      <p:sp>
        <p:nvSpPr>
          <p:cNvPr id="358" name="Google Shape;358;p49"/>
          <p:cNvSpPr txBox="1"/>
          <p:nvPr>
            <p:ph idx="1" type="body"/>
          </p:nvPr>
        </p:nvSpPr>
        <p:spPr>
          <a:xfrm>
            <a:off x="729450" y="1378000"/>
            <a:ext cx="7688700" cy="3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Inheritance:</a:t>
            </a:r>
            <a:r>
              <a:rPr lang="el"/>
              <a:t> Dataclasses can inherit from other dataclasses or regular classes. The attributes of the parent class will be included in the child dataclass.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dataclasses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dataclass</a:t>
            </a:r>
            <a:endParaRPr sz="1050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@dataclass</a:t>
            </a:r>
            <a:endParaRPr sz="1050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endParaRPr sz="1050">
              <a:solidFill>
                <a:srgbClr val="267F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@dataclass</a:t>
            </a:r>
            <a:endParaRPr sz="1050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Circle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radius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endParaRPr sz="1050">
              <a:solidFill>
                <a:srgbClr val="267F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circle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Circle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"red"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5.0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circle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Output: Circle(color='red', radius=5.0)</a:t>
            </a:r>
            <a:endParaRPr/>
          </a:p>
        </p:txBody>
      </p:sp>
      <p:sp>
        <p:nvSpPr>
          <p:cNvPr id="359" name="Google Shape;359;p4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Key Features</a:t>
            </a:r>
            <a:endParaRPr/>
          </a:p>
        </p:txBody>
      </p:sp>
      <p:sp>
        <p:nvSpPr>
          <p:cNvPr id="365" name="Google Shape;365;p50"/>
          <p:cNvSpPr txBox="1"/>
          <p:nvPr>
            <p:ph idx="1" type="body"/>
          </p:nvPr>
        </p:nvSpPr>
        <p:spPr>
          <a:xfrm>
            <a:off x="729450" y="1378000"/>
            <a:ext cx="30090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Field Customization:</a:t>
            </a:r>
            <a:r>
              <a:rPr lang="el"/>
              <a:t> You can customize individual fields using the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field()</a:t>
            </a:r>
            <a:r>
              <a:rPr lang="el"/>
              <a:t> function from the dataclasses module. This allows you to control aspects like whether a field is included in the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__repr__</a:t>
            </a:r>
            <a:r>
              <a:rPr lang="el"/>
              <a:t>,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__eq__</a:t>
            </a:r>
            <a:r>
              <a:rPr lang="el"/>
              <a:t>, or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el"/>
              <a:t> methods, or to specify a default factory function.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367" name="Google Shape;367;p50"/>
          <p:cNvSpPr txBox="1"/>
          <p:nvPr>
            <p:ph idx="1" type="body"/>
          </p:nvPr>
        </p:nvSpPr>
        <p:spPr>
          <a:xfrm>
            <a:off x="3900600" y="1378000"/>
            <a:ext cx="48924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dataclasses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dataclass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endParaRPr sz="1050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typing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endParaRPr sz="1050">
              <a:solidFill>
                <a:srgbClr val="267F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create_id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uuid</a:t>
            </a:r>
            <a:endParaRPr sz="1050">
              <a:solidFill>
                <a:srgbClr val="267F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uuid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uuid4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@dataclass</a:t>
            </a:r>
            <a:endParaRPr sz="1050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Task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endParaRPr sz="1050">
              <a:solidFill>
                <a:srgbClr val="267F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priority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05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completed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default_factory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create_id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init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repr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compare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tags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default_factory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task1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Task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"Buy groceries"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task2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Task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"Write report"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priority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tags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"urgent"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task1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Output: Task(description='Buy groceries', priority=1, completed=False)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task2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Output: Task(description='Write report', priority=2, completed=False, tags=['urgent'])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task1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Output: A unique UUID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Okay, But Why Not Classes?</a:t>
            </a:r>
            <a:endParaRPr/>
          </a:p>
        </p:txBody>
      </p:sp>
      <p:sp>
        <p:nvSpPr>
          <p:cNvPr id="373" name="Google Shape;373;p51"/>
          <p:cNvSpPr txBox="1"/>
          <p:nvPr>
            <p:ph idx="1" type="body"/>
          </p:nvPr>
        </p:nvSpPr>
        <p:spPr>
          <a:xfrm>
            <a:off x="729450" y="1378000"/>
            <a:ext cx="3842400" cy="3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Use Dataclasses: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When you need to create classes primarily for holding data.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When you want to avoid writing repetitive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el"/>
              <a:t>,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__repr__</a:t>
            </a:r>
            <a:r>
              <a:rPr lang="el"/>
              <a:t>,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__eq__</a:t>
            </a:r>
            <a:r>
              <a:rPr lang="el"/>
              <a:t>, etc., methods.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When you need a clear and concise way to define data structures.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When you want the benefits of type hints for your data classes.</a:t>
            </a:r>
            <a:endParaRPr/>
          </a:p>
        </p:txBody>
      </p:sp>
      <p:sp>
        <p:nvSpPr>
          <p:cNvPr id="374" name="Google Shape;374;p5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375" name="Google Shape;375;p51"/>
          <p:cNvSpPr txBox="1"/>
          <p:nvPr>
            <p:ph idx="1" type="body"/>
          </p:nvPr>
        </p:nvSpPr>
        <p:spPr>
          <a:xfrm>
            <a:off x="4572000" y="1378000"/>
            <a:ext cx="38424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Don’t use Dataclasses: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When your class has significant behavior and logic beyond just storing data. In such cases, a regular class might be more appropriate.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When you need very fine-grained control over the generated methods. While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field()</a:t>
            </a:r>
            <a:r>
              <a:rPr lang="el"/>
              <a:t> provides some customization, for complex scenarios, manual implementation might be necessary.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Fun Time!</a:t>
            </a:r>
            <a:endParaRPr/>
          </a:p>
        </p:txBody>
      </p:sp>
      <p:sp>
        <p:nvSpPr>
          <p:cNvPr id="381" name="Google Shape;381;p5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Do You Read Books?</a:t>
            </a:r>
            <a:endParaRPr/>
          </a:p>
        </p:txBody>
      </p:sp>
      <p:sp>
        <p:nvSpPr>
          <p:cNvPr id="387" name="Google Shape;387;p53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In case you have not fully implemented last week’s lab, you can find the instructions here: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./labs/fp_css_parser_lab_01.pdf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l"/>
              <a:t>As this is relevant to your assignment, take care to work on all tasks, especially the ones related to the actual Goodreads dataset.</a:t>
            </a:r>
            <a:endParaRPr/>
          </a:p>
        </p:txBody>
      </p:sp>
      <p:sp>
        <p:nvSpPr>
          <p:cNvPr id="388" name="Google Shape;388;p5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Any Questions</a:t>
            </a:r>
            <a:endParaRPr/>
          </a:p>
        </p:txBody>
      </p:sp>
      <p:sp>
        <p:nvSpPr>
          <p:cNvPr id="394" name="Google Shape;394;p54"/>
          <p:cNvSpPr txBox="1"/>
          <p:nvPr>
            <p:ph idx="1" type="body"/>
          </p:nvPr>
        </p:nvSpPr>
        <p:spPr>
          <a:xfrm>
            <a:off x="729450" y="1378000"/>
            <a:ext cx="3842400" cy="296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l"/>
              <a:t>Don’t forget to fill in the questionnaire shown right!</a:t>
            </a:r>
            <a:endParaRPr/>
          </a:p>
        </p:txBody>
      </p:sp>
      <p:sp>
        <p:nvSpPr>
          <p:cNvPr id="395" name="Google Shape;395;p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396" name="Google Shape;39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250" y="802325"/>
            <a:ext cx="3337925" cy="33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54"/>
          <p:cNvSpPr txBox="1"/>
          <p:nvPr/>
        </p:nvSpPr>
        <p:spPr>
          <a:xfrm>
            <a:off x="4724252" y="4105025"/>
            <a:ext cx="3584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https://forms.gle/YU1mjxjBjBf8hyvH7</a:t>
            </a:r>
            <a:endParaRPr sz="130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