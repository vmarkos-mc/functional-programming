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6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5.xml"/><Relationship Id="rId32" Type="http://schemas.openxmlformats.org/officeDocument/2006/relationships/font" Target="fonts/Raleway-italic.fntdata"/><Relationship Id="rId13" Type="http://schemas.openxmlformats.org/officeDocument/2006/relationships/slide" Target="slides/slide8.xml"/><Relationship Id="rId35" Type="http://schemas.openxmlformats.org/officeDocument/2006/relationships/font" Target="fonts/Lato-bold.fntdata"/><Relationship Id="rId12" Type="http://schemas.openxmlformats.org/officeDocument/2006/relationships/slide" Target="slides/slide7.xml"/><Relationship Id="rId34" Type="http://schemas.openxmlformats.org/officeDocument/2006/relationships/font" Target="fonts/Lato-regular.fntdata"/><Relationship Id="rId15" Type="http://schemas.openxmlformats.org/officeDocument/2006/relationships/slide" Target="slides/slide10.xml"/><Relationship Id="rId37" Type="http://schemas.openxmlformats.org/officeDocument/2006/relationships/font" Target="fonts/Lato-boldItalic.fntdata"/><Relationship Id="rId14" Type="http://schemas.openxmlformats.org/officeDocument/2006/relationships/slide" Target="slides/slide9.xml"/><Relationship Id="rId36" Type="http://schemas.openxmlformats.org/officeDocument/2006/relationships/font" Target="fonts/Lat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21ab727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21ab727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21ab727b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21ab727b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23aaf66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23aaf66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23aaf667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23aaf667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23aaf667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23aaf667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2ad7df1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2ad7df1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2ad7df1d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2ad7df1d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2ad7df1d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42ad7df1d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2ad7df1d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2ad7df1d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2ad7df1d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2ad7df1d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2ad7df1d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2ad7df1d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2ad7df1d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42ad7df1d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2ad7df1d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2ad7df1d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2ad7df1d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2ad7df1d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42ad7df1d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42ad7df1d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69642d9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469642d9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469642d98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469642d98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69642d98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469642d98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69642d98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469642d98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469642d98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469642d98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d407ffd03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d407ffd03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51f037643ed1a0e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51f037643ed1a0e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d407ffd0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d407ffd0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sz="42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729625" y="3172900"/>
            <a:ext cx="7688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6590950" y="3866975"/>
            <a:ext cx="194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19;p2"/>
          <p:cNvSpPr txBox="1"/>
          <p:nvPr>
            <p:ph idx="2" type="subTitle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50">
          <p15:clr>
            <a:srgbClr val="E46962"/>
          </p15:clr>
        </p15:guide>
        <p15:guide id="2" pos="530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  <p:grpSp>
        <p:nvGrpSpPr>
          <p:cNvPr id="28" name="Google Shape;28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9" name="Google Shape;29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" name="Google Shape;31;p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Εκτός ύλης">
  <p:cSld name="TITLE_AND_BODY_1">
    <p:bg>
      <p:bgPr>
        <a:solidFill>
          <a:schemeClr val="l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lt1"/>
                </a:solidFill>
              </a:rPr>
              <a:t>Not relevant for the assessment of the module!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36" name="Google Shape;36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7" name="Google Shape;3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Προσοχή!">
  <p:cSld name="TITLE_AND_BODY_1_1">
    <p:bg>
      <p:bgPr>
        <a:solidFill>
          <a:schemeClr val="lt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lt1"/>
                </a:solidFill>
              </a:rPr>
              <a:t>Heads up!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44" name="Google Shape;44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Προσοχή! 1">
  <p:cSld name="TITLE_AND_BODY_1_1_1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lt1"/>
                </a:solidFill>
              </a:rPr>
              <a:t>Quick Revision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52" name="Google Shape;52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3" name="Google Shape;53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" name="Google Shape;60;p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1" name="Google Shape;61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8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729325" y="1474150"/>
            <a:ext cx="3774300" cy="28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2" type="body"/>
          </p:nvPr>
        </p:nvSpPr>
        <p:spPr>
          <a:xfrm>
            <a:off x="4643600" y="1474075"/>
            <a:ext cx="3774300" cy="28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9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0"/>
          <p:cNvSpPr txBox="1"/>
          <p:nvPr>
            <p:ph type="title"/>
          </p:nvPr>
        </p:nvSpPr>
        <p:spPr>
          <a:xfrm>
            <a:off x="721225" y="523413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2" name="Google Shape;82;p10"/>
          <p:cNvSpPr txBox="1"/>
          <p:nvPr>
            <p:ph idx="1" type="body"/>
          </p:nvPr>
        </p:nvSpPr>
        <p:spPr>
          <a:xfrm>
            <a:off x="721225" y="1452775"/>
            <a:ext cx="3300900" cy="29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84" name="Google Shape;84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7" name="Google Shape;87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4" name="Google Shape;94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7" name="Google Shape;97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8" name="Google Shape;98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5" name="Google Shape;105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4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ato"/>
              <a:buNone/>
              <a:defRPr sz="8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157325" y="41050"/>
            <a:ext cx="892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Lato"/>
              <a:buNone/>
              <a:defRPr b="0" sz="100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python.org/3/library/itertools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realpython.com/python-itertools/#dealing-a-deck-of-card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hyperlink" Target="https://forms.gle/YU1mjxjBjBf8hyvH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Functional Programming</a:t>
            </a:r>
            <a:br>
              <a:rPr lang="el"/>
            </a:br>
            <a:r>
              <a:rPr b="0" lang="el" sz="2200">
                <a:solidFill>
                  <a:schemeClr val="accent1"/>
                </a:solidFill>
              </a:rPr>
              <a:t>Looping Without Loops</a:t>
            </a:r>
            <a:endParaRPr b="0" sz="2200">
              <a:solidFill>
                <a:schemeClr val="accent1"/>
              </a:solidFill>
            </a:endParaRPr>
          </a:p>
        </p:txBody>
      </p:sp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729625" y="3172900"/>
            <a:ext cx="7688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Markos Vassilis, Mediterranean College, 2024 - 2025, Spring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029600" y="4001275"/>
            <a:ext cx="23880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6"/>
          <p:cNvSpPr txBox="1"/>
          <p:nvPr>
            <p:ph idx="2" type="subTitle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Week 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Loops XOR Functional == 1</a:t>
            </a:r>
            <a:endParaRPr/>
          </a:p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Grouping</a:t>
            </a:r>
            <a:endParaRPr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Consider the following problem: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You are given a sequence of </a:t>
            </a:r>
            <a:r>
              <a:rPr i="1" lang="el"/>
              <a:t>n</a:t>
            </a:r>
            <a:r>
              <a:rPr lang="el"/>
              <a:t> numbers and you are asked to group them into groups (tuples) of consecutive numbers of size </a:t>
            </a:r>
            <a:r>
              <a:rPr i="1" lang="el"/>
              <a:t>m</a:t>
            </a:r>
            <a:r>
              <a:rPr lang="el"/>
              <a:t> (each). Assume that n is divided by </a:t>
            </a:r>
            <a:r>
              <a:rPr i="1" lang="el"/>
              <a:t>m</a:t>
            </a:r>
            <a:r>
              <a:rPr lang="el"/>
              <a:t> for your convenience.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would you address it?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Assume that numbers are provided as a list (or a generator?) and that your function should return a list of tuples of size </a:t>
            </a:r>
            <a:r>
              <a:rPr i="1" lang="el"/>
              <a:t>m</a:t>
            </a:r>
            <a:r>
              <a:rPr lang="el"/>
              <a:t>.</a:t>
            </a:r>
            <a:endParaRPr/>
          </a:p>
        </p:txBody>
      </p:sp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Grouping: Attempt 1</a:t>
            </a:r>
            <a:endParaRPr/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group_by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""" Gets a list / generator of numbers and returns a list of tuples of groups of those numbers of size m. """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n_groups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Assuming n % m == 0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tuple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]])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n_groups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Any comments on that?</a:t>
            </a:r>
            <a:endParaRPr/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about resources?</a:t>
            </a:r>
            <a:endParaRPr/>
          </a:p>
          <a:p>
            <a:pPr indent="-3302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Time?</a:t>
            </a:r>
            <a:endParaRPr/>
          </a:p>
          <a:p>
            <a:pPr indent="-3302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Memory?</a:t>
            </a:r>
            <a:endParaRPr/>
          </a:p>
        </p:txBody>
      </p:sp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Grouping: Attempt 1</a:t>
            </a:r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psutil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Maybe `pip install psutil` as this is not part of stdlib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To access our own pid (Process ID)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To time things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group_by() defined here...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**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Adjust this to run in a reasonable amount of time.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process_time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process_time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execution_time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b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mem_consumption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getpid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()).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memory_info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rss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1024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**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Memory in MB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"Memory required: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mem_consumption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MB."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"Execution time :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execution_time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seconds."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__name__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"__main__"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group_by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6" name="Google Shape;146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Grouping: Attempt 1</a:t>
            </a:r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Typical output should look like this: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Memory required: 662.75390625 MB.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Execution time : 1.462404078 seconds.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Aren’t 600+ MBs a bit too much for such a simple task?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could we do better?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Maybe generators?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Maybe </a:t>
            </a:r>
            <a:r>
              <a:rPr lang="el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itertools</a:t>
            </a:r>
            <a:r>
              <a:rPr lang="el"/>
              <a:t>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Experiment on your own for a bit!</a:t>
            </a:r>
            <a:endParaRPr/>
          </a:p>
        </p:txBody>
      </p:sp>
      <p:sp>
        <p:nvSpPr>
          <p:cNvPr id="153" name="Google Shape;153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Grouping: Attempt 2</a:t>
            </a:r>
            <a:endParaRPr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igroup_by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inumbers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inumbers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about (space / time) complexity?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Memory required: 11.515625 MB.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Execution time : 1.9659999999990796e-06 seconds.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l"/>
              <a:t>On Windows time might be 0.0 (because they’re really bad at reporting CPU clock values)</a:t>
            </a:r>
            <a:endParaRPr i="1"/>
          </a:p>
        </p:txBody>
      </p:sp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Grouping: Attempt 2</a:t>
            </a:r>
            <a:endParaRPr/>
          </a:p>
        </p:txBody>
      </p:sp>
      <p:sp>
        <p:nvSpPr>
          <p:cNvPr id="166" name="Google Shape;166;p23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does this thing work?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igroup_by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inumbers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Create an iterator over those numbers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inumbers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Create a list of `m` copies of the same iteraror (?)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Functional sorcery takes place here…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Okay, sooooo…?</a:t>
            </a:r>
            <a:endParaRPr/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Take pen and paper and keep track of what happens in the background!</a:t>
            </a:r>
            <a:endParaRPr/>
          </a:p>
        </p:txBody>
      </p:sp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Iterators: Behind The Scenes</a:t>
            </a:r>
            <a:endParaRPr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729450" y="1378000"/>
            <a:ext cx="7688700" cy="3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what we do </a:t>
            </a:r>
            <a:r>
              <a:rPr lang="el"/>
              <a:t>above is to create a list of </a:t>
            </a:r>
            <a:r>
              <a:rPr i="1" lang="el"/>
              <a:t>m</a:t>
            </a:r>
            <a:r>
              <a:rPr lang="el"/>
              <a:t> iterators. Assume for a moment that </a:t>
            </a:r>
            <a:r>
              <a:rPr i="1" lang="el"/>
              <a:t>m = 3</a:t>
            </a:r>
            <a:r>
              <a:rPr lang="el"/>
              <a:t> and that we have 12 numbers: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numbers = [2, 1, 5, 8, 3, 0, 9, 11, 10, 4, 6, 7]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iters = [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&lt;iteratorObject (2, 1, 5, 8, 3, 0, 9, 11, 10, 4, 6, 7)&gt;,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&lt;iteratorObject (2, 1, 5, 8, 3, 0, 9, 11, 10, 4, 6, 7)&gt;,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&lt;iteratorObject (2, 1, 5, 8, 3, 0, 9, 11, 10, 4, 6, 7)&gt;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Actually, this is a bit wrong…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Can you see why?</a:t>
            </a:r>
            <a:endParaRPr/>
          </a:p>
        </p:txBody>
      </p:sp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Iterators: Behind The Scenes</a:t>
            </a:r>
            <a:endParaRPr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729450" y="1378000"/>
            <a:ext cx="7688700" cy="3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We actually create the iterator just once and then create a list of </a:t>
            </a:r>
            <a:r>
              <a:rPr b="1" lang="el"/>
              <a:t>references</a:t>
            </a:r>
            <a:r>
              <a:rPr lang="el"/>
              <a:t> to that one instance.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more appropriately: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numbers = [2, 1, 5, 8, 3, 0, 9, 11, 10, 4, 6, 7]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iter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 = &lt;iteratorObject (2, 1, 5, 8, 3, 0, 9, 11, 10, 4, 6, 7)&gt;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iters = [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&lt;iteratorObject at 0x000456789123&gt;,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&lt;iteratorObject at 0x000456789123&gt;,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&lt;iteratorObject at 0x000456789123&gt;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Assuming, of course, that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iter</a:t>
            </a:r>
            <a:r>
              <a:rPr lang="el"/>
              <a:t> is kept at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0x000456789123</a:t>
            </a:r>
            <a:r>
              <a:rPr lang="el"/>
              <a:t>.</a:t>
            </a:r>
            <a:endParaRPr/>
          </a:p>
        </p:txBody>
      </p:sp>
      <p:sp>
        <p:nvSpPr>
          <p:cNvPr id="181" name="Google Shape;181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Iterators: Behind The Scenes</a:t>
            </a:r>
            <a:endParaRPr/>
          </a:p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729450" y="1378000"/>
            <a:ext cx="7688700" cy="3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what is the effect of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zip</a:t>
            </a:r>
            <a:r>
              <a:rPr lang="el"/>
              <a:t> in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iters</a:t>
            </a:r>
            <a:r>
              <a:rPr lang="el"/>
              <a:t>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zip</a:t>
            </a:r>
            <a:r>
              <a:rPr lang="el"/>
              <a:t> starts by asking the first iterator to provide its next element (2), so: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iter = &lt;iteratorObject (</a:t>
            </a: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, 1, 5, 8, 3, 0, 9, 11, 10, 4, 6, 7)&gt;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iters = [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&lt;iteratorObject at 0x000456789123&gt;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&lt;iteratorObject at 0x000456789123&gt;,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&lt;iteratorObject at 0x000456789123&gt;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the first zipped tuple is (so far): [ (</a:t>
            </a:r>
            <a:r>
              <a:rPr b="1" lang="el">
                <a:solidFill>
                  <a:schemeClr val="dk1"/>
                </a:solidFill>
              </a:rPr>
              <a:t>2</a:t>
            </a:r>
            <a:r>
              <a:rPr lang="el"/>
              <a:t>, ), ]</a:t>
            </a:r>
            <a:endParaRPr/>
          </a:p>
        </p:txBody>
      </p:sp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Iterators: Behind The Scenes</a:t>
            </a:r>
            <a:endParaRPr/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729450" y="1378000"/>
            <a:ext cx="7688700" cy="3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Then,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zip</a:t>
            </a:r>
            <a:r>
              <a:rPr lang="el"/>
              <a:t> asks the second iterator to provide its next element (1), so: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iter = &lt;iteratorObject (</a:t>
            </a: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, 5, 8, 3, 0, 9, 11, 10, 4, 6, 7)&gt;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iters = [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&lt;iteratorObject at 0x000456789123&gt;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&lt;iteratorObject at 0x000456789123&gt;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&lt;iteratorObject at 0x000456789123&gt;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the first zipped tuple is (so far): [ (</a:t>
            </a:r>
            <a:r>
              <a:rPr lang="el"/>
              <a:t>2</a:t>
            </a:r>
            <a:r>
              <a:rPr lang="el"/>
              <a:t>, </a:t>
            </a:r>
            <a:r>
              <a:rPr b="1" lang="el">
                <a:solidFill>
                  <a:schemeClr val="dk1"/>
                </a:solidFill>
              </a:rPr>
              <a:t>1</a:t>
            </a:r>
            <a:r>
              <a:rPr lang="el"/>
              <a:t>, ), ]</a:t>
            </a:r>
            <a:endParaRPr/>
          </a:p>
        </p:txBody>
      </p:sp>
      <p:sp>
        <p:nvSpPr>
          <p:cNvPr id="195" name="Google Shape;195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Iterators: Behind The Scenes</a:t>
            </a:r>
            <a:endParaRPr/>
          </a:p>
        </p:txBody>
      </p:sp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729450" y="1378000"/>
            <a:ext cx="7688700" cy="3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Then,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zip</a:t>
            </a:r>
            <a:r>
              <a:rPr lang="el"/>
              <a:t> asks the third iterator to provide its next element (5), so: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iter = &lt;iteratorObject (</a:t>
            </a: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 8, 3, 0, 9, 11, 10, 4, 6, 7)&gt;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iters = [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&lt;iteratorObject at 0x000456789123&gt;,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&lt;iteratorObject at 0x000456789123&gt;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&lt;iteratorObject at 0x000456789123&gt;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the first zipped tuple is (so far): [ (2, </a:t>
            </a:r>
            <a:r>
              <a:rPr lang="el"/>
              <a:t>1</a:t>
            </a:r>
            <a:r>
              <a:rPr lang="el"/>
              <a:t>, </a:t>
            </a:r>
            <a:r>
              <a:rPr b="1" lang="el">
                <a:solidFill>
                  <a:schemeClr val="dk1"/>
                </a:solidFill>
              </a:rPr>
              <a:t>5</a:t>
            </a:r>
            <a:r>
              <a:rPr lang="el"/>
              <a:t>), ]</a:t>
            </a:r>
            <a:endParaRPr/>
          </a:p>
        </p:txBody>
      </p:sp>
      <p:sp>
        <p:nvSpPr>
          <p:cNvPr id="202" name="Google Shape;202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Iterators: Behind The Scenes</a:t>
            </a:r>
            <a:endParaRPr/>
          </a:p>
        </p:txBody>
      </p:sp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729450" y="1378000"/>
            <a:ext cx="7688700" cy="3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Then,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zip</a:t>
            </a:r>
            <a:r>
              <a:rPr lang="el"/>
              <a:t> asks the first iterator to provide its next element (8), so: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iter = &lt;iteratorObject (</a:t>
            </a: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, 3, 0, 9, 11, 10, 4, 6, 7)&gt;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iters = [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&lt;iteratorObject at 0x000456789123&gt;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&lt;iteratorObject at 0x000456789123&gt;,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&lt;iteratorObject at 0x000456789123&gt;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the second zipped tuple is (so far): [ (2, 1, </a:t>
            </a:r>
            <a:r>
              <a:rPr lang="el"/>
              <a:t>5</a:t>
            </a:r>
            <a:r>
              <a:rPr lang="el"/>
              <a:t>), (</a:t>
            </a:r>
            <a:r>
              <a:rPr b="1" lang="el">
                <a:solidFill>
                  <a:schemeClr val="dk1"/>
                </a:solidFill>
              </a:rPr>
              <a:t>8</a:t>
            </a:r>
            <a:r>
              <a:rPr lang="el"/>
              <a:t>, ), ]</a:t>
            </a:r>
            <a:endParaRPr/>
          </a:p>
        </p:txBody>
      </p:sp>
      <p:sp>
        <p:nvSpPr>
          <p:cNvPr id="209" name="Google Shape;209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Iterators: Behind The Scenes</a:t>
            </a:r>
            <a:endParaRPr/>
          </a:p>
        </p:txBody>
      </p:sp>
      <p:sp>
        <p:nvSpPr>
          <p:cNvPr id="215" name="Google Shape;215;p30"/>
          <p:cNvSpPr txBox="1"/>
          <p:nvPr>
            <p:ph idx="1" type="body"/>
          </p:nvPr>
        </p:nvSpPr>
        <p:spPr>
          <a:xfrm>
            <a:off x="729450" y="1378000"/>
            <a:ext cx="7688700" cy="3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Then,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zip</a:t>
            </a:r>
            <a:r>
              <a:rPr lang="el"/>
              <a:t> asks the second iterator to provide its next element (3), so: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iter = &lt;iteratorObject (</a:t>
            </a: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, 0, 9, 11, 10, 4, 6, 7)&gt;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iters = [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&lt;iteratorObject at 0x000456789123&gt;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&lt;iteratorObject at 0x000456789123&gt;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&lt;iteratorObject at 0x000456789123&gt;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the second zipped tuple is (so far): [ (2, 1, 5), (</a:t>
            </a:r>
            <a:r>
              <a:rPr lang="el"/>
              <a:t>8</a:t>
            </a:r>
            <a:r>
              <a:rPr lang="el"/>
              <a:t>, </a:t>
            </a:r>
            <a:r>
              <a:rPr b="1" lang="el">
                <a:solidFill>
                  <a:schemeClr val="dk1"/>
                </a:solidFill>
              </a:rPr>
              <a:t>3</a:t>
            </a:r>
            <a:r>
              <a:rPr lang="el"/>
              <a:t>, ), ]</a:t>
            </a:r>
            <a:endParaRPr/>
          </a:p>
        </p:txBody>
      </p:sp>
      <p:sp>
        <p:nvSpPr>
          <p:cNvPr id="216" name="Google Shape;216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Iterators: Behind The Scenes</a:t>
            </a:r>
            <a:endParaRPr/>
          </a:p>
        </p:txBody>
      </p:sp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729450" y="1378000"/>
            <a:ext cx="7688700" cy="3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Then,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zip</a:t>
            </a:r>
            <a:r>
              <a:rPr lang="el"/>
              <a:t> asks the second iterator to provide its next element (0), so: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iter = &lt;iteratorObject (</a:t>
            </a: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, 9, 11, 10, 4, 6, 7)&gt;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iters = [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&lt;iteratorObject at 0x000456789123&gt;,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&lt;iteratorObject at 0x000456789123&gt;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&lt;iteratorObject at 0x000456789123&gt;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the second zipped tuple is (so far): [ (2, 1, 5), (8, </a:t>
            </a:r>
            <a:r>
              <a:rPr lang="el"/>
              <a:t>3</a:t>
            </a:r>
            <a:r>
              <a:rPr lang="el"/>
              <a:t>, </a:t>
            </a:r>
            <a:r>
              <a:rPr b="1" lang="el">
                <a:solidFill>
                  <a:schemeClr val="dk1"/>
                </a:solidFill>
              </a:rPr>
              <a:t>0</a:t>
            </a:r>
            <a:r>
              <a:rPr lang="el"/>
              <a:t>), ]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And things proceed in a similar fashion…</a:t>
            </a:r>
            <a:endParaRPr/>
          </a:p>
        </p:txBody>
      </p:sp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Dealing Hands</a:t>
            </a:r>
            <a:endParaRPr/>
          </a:p>
        </p:txBody>
      </p:sp>
      <p:sp>
        <p:nvSpPr>
          <p:cNvPr id="229" name="Google Shape;229;p32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Imagine you are write a card–playing application, say for a Poker game.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that end, you will need to: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represent your deck, e.g., as a list or tuple or iterator;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shuffle your deck;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cut your deck at some arbitrary card;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deal your deck.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Implement all of the above functionalities in a Python script.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Feel free to (and ashamed of) using loops, if needed.</a:t>
            </a:r>
            <a:endParaRPr/>
          </a:p>
        </p:txBody>
      </p:sp>
      <p:sp>
        <p:nvSpPr>
          <p:cNvPr id="230" name="Google Shape;230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Dealing Hands: The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itertools</a:t>
            </a:r>
            <a:r>
              <a:rPr lang="el"/>
              <a:t> Way</a:t>
            </a:r>
            <a:endParaRPr/>
          </a:p>
        </p:txBody>
      </p:sp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begin with, one can easily create a deck using the it.product() function, which computes the Cartesian product of all provided arguments: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itertools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random</a:t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ranks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'K'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'Q'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'J'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'10'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'9'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'8'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'7'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'6'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'5'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'4'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'3'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'2'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suits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'H'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'D'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'C'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'S'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cards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ranks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suits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l"/>
              <a:t>Adapted from: </a:t>
            </a:r>
            <a:r>
              <a:rPr i="1" lang="el" u="sng">
                <a:solidFill>
                  <a:schemeClr val="hlink"/>
                </a:solidFill>
                <a:hlinkClick r:id="rId3"/>
              </a:rPr>
              <a:t>https://realpython.com/python-itertools/#dealing-a-deck-of-cards</a:t>
            </a:r>
            <a:r>
              <a:rPr i="1" lang="el"/>
              <a:t> </a:t>
            </a:r>
            <a:endParaRPr i="1"/>
          </a:p>
        </p:txBody>
      </p:sp>
      <p:sp>
        <p:nvSpPr>
          <p:cNvPr id="237" name="Google Shape;237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Dealing Hands: The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itertools</a:t>
            </a:r>
            <a:r>
              <a:rPr lang="el"/>
              <a:t> Way</a:t>
            </a:r>
            <a:endParaRPr/>
          </a:p>
        </p:txBody>
      </p:sp>
      <p:sp>
        <p:nvSpPr>
          <p:cNvPr id="243" name="Google Shape;243;p3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Regarding shuffling, one can just use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random.shuffle()</a:t>
            </a:r>
            <a:r>
              <a:rPr lang="el"/>
              <a:t>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To that end, we have to turn our iterator into a list, since in order to </a:t>
            </a:r>
            <a:r>
              <a:rPr lang="el"/>
              <a:t>shuffle</a:t>
            </a:r>
            <a:r>
              <a:rPr lang="el"/>
              <a:t> uniformly randomly, we have to know the entire collection of the items to be shuffled.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shuffle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deck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deck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deck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random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shuffle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deck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Well, to shuffle randomly you need to know what you have to shuffle...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tuple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deck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Dealing Hands: The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itertools</a:t>
            </a:r>
            <a:r>
              <a:rPr lang="el"/>
              <a:t> Way</a:t>
            </a:r>
            <a:endParaRPr/>
          </a:p>
        </p:txBody>
      </p:sp>
      <p:sp>
        <p:nvSpPr>
          <p:cNvPr id="250" name="Google Shape;250;p35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Then, what about cutting?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We essentially need a way to slice and chain iterators…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…which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islice()</a:t>
            </a:r>
            <a:r>
              <a:rPr lang="el"/>
              <a:t> and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chain()</a:t>
            </a:r>
            <a:r>
              <a:rPr lang="el"/>
              <a:t> offer to us for free.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cut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deck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first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second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deck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top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islice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first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bottom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islice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second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chain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bottom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top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Dealing Hands: The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itertools</a:t>
            </a:r>
            <a:r>
              <a:rPr lang="el"/>
              <a:t> Way</a:t>
            </a:r>
            <a:endParaRPr/>
          </a:p>
        </p:txBody>
      </p:sp>
      <p:sp>
        <p:nvSpPr>
          <p:cNvPr id="257" name="Google Shape;257;p36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Using some of the tools presented above, can you think about a purely iterator–based way to deal our shuffled and cut deck?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deal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deck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num_hands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hand_size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deck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)]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hand_size</a:t>
            </a:r>
            <a:endParaRPr sz="1050">
              <a:solidFill>
                <a:srgbClr val="001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tuple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tuple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islice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num_hands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hands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deal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cut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shuffle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cards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num_hands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l" sz="1050">
                <a:solidFill>
                  <a:srgbClr val="EE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l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l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hands</a:t>
            </a:r>
            <a:r>
              <a:rPr lang="el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Fun Time!</a:t>
            </a:r>
            <a:endParaRPr/>
          </a:p>
        </p:txBody>
      </p:sp>
      <p:sp>
        <p:nvSpPr>
          <p:cNvPr id="264" name="Google Shape;264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Do You Read Books?</a:t>
            </a:r>
            <a:endParaRPr/>
          </a:p>
        </p:txBody>
      </p:sp>
      <p:sp>
        <p:nvSpPr>
          <p:cNvPr id="270" name="Google Shape;270;p38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In case you have not fully implemented last week’s lab, you can find the instructions here: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./labs/books_lab_01.pdf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/>
              <a:t>As this is relevant to your assignment, take care to work on all tasks, especially the ones related to the actual Goodreads dataset.</a:t>
            </a:r>
            <a:endParaRPr/>
          </a:p>
        </p:txBody>
      </p:sp>
      <p:sp>
        <p:nvSpPr>
          <p:cNvPr id="271" name="Google Shape;271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Any Questions</a:t>
            </a:r>
            <a:endParaRPr/>
          </a:p>
        </p:txBody>
      </p:sp>
      <p:sp>
        <p:nvSpPr>
          <p:cNvPr id="277" name="Google Shape;277;p39"/>
          <p:cNvSpPr txBox="1"/>
          <p:nvPr>
            <p:ph idx="1" type="body"/>
          </p:nvPr>
        </p:nvSpPr>
        <p:spPr>
          <a:xfrm>
            <a:off x="729450" y="1378000"/>
            <a:ext cx="3842400" cy="296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Don’t forget to fill in the questionnaire shown right!</a:t>
            </a:r>
            <a:endParaRPr/>
          </a:p>
        </p:txBody>
      </p:sp>
      <p:sp>
        <p:nvSpPr>
          <p:cNvPr id="278" name="Google Shape;278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279" name="Google Shape;2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250" y="802325"/>
            <a:ext cx="3337925" cy="33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9"/>
          <p:cNvSpPr txBox="1"/>
          <p:nvPr/>
        </p:nvSpPr>
        <p:spPr>
          <a:xfrm>
            <a:off x="4724252" y="4105025"/>
            <a:ext cx="3584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https://forms.gle/YU1mjxjBjBf8hyvH7</a:t>
            </a:r>
            <a:endParaRPr sz="130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