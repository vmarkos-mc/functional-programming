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Lst>
  <p:notesMasterIdLst>
    <p:notesMasterId r:id="rId36"/>
  </p:notesMasterIdLst>
  <p:handoutMasterIdLst>
    <p:handoutMasterId r:id="rId37"/>
  </p:handoutMasterIdLst>
  <p:sldIdLst>
    <p:sldId id="922" r:id="rId2"/>
    <p:sldId id="584" r:id="rId3"/>
    <p:sldId id="1604" r:id="rId4"/>
    <p:sldId id="1691" r:id="rId5"/>
    <p:sldId id="1690" r:id="rId6"/>
    <p:sldId id="1759" r:id="rId7"/>
    <p:sldId id="1505" r:id="rId8"/>
    <p:sldId id="1506" r:id="rId9"/>
    <p:sldId id="1685" r:id="rId10"/>
    <p:sldId id="1686" r:id="rId11"/>
    <p:sldId id="1689" r:id="rId12"/>
    <p:sldId id="1688" r:id="rId13"/>
    <p:sldId id="1700" r:id="rId14"/>
    <p:sldId id="1696" r:id="rId15"/>
    <p:sldId id="1702" r:id="rId16"/>
    <p:sldId id="1501" r:id="rId17"/>
    <p:sldId id="1706" r:id="rId18"/>
    <p:sldId id="1206" r:id="rId19"/>
    <p:sldId id="1196" r:id="rId20"/>
    <p:sldId id="1703" r:id="rId21"/>
    <p:sldId id="1704" r:id="rId22"/>
    <p:sldId id="1492" r:id="rId23"/>
    <p:sldId id="1370" r:id="rId24"/>
    <p:sldId id="1705" r:id="rId25"/>
    <p:sldId id="1707" r:id="rId26"/>
    <p:sldId id="1708" r:id="rId27"/>
    <p:sldId id="1752" r:id="rId28"/>
    <p:sldId id="1661" r:id="rId29"/>
    <p:sldId id="1287" r:id="rId30"/>
    <p:sldId id="1288" r:id="rId31"/>
    <p:sldId id="1289" r:id="rId32"/>
    <p:sldId id="1742" r:id="rId33"/>
    <p:sldId id="1758" r:id="rId34"/>
    <p:sldId id="929" r:id="rId35"/>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00080"/>
    <a:srgbClr val="BFE1EB"/>
    <a:srgbClr val="DDDFE5"/>
    <a:srgbClr val="CC0066"/>
    <a:srgbClr val="D4D4D6"/>
    <a:srgbClr val="F0A7B1"/>
    <a:srgbClr val="CBEA46"/>
    <a:srgbClr val="F0AD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87" autoAdjust="0"/>
    <p:restoredTop sz="80702" autoAdjust="0"/>
  </p:normalViewPr>
  <p:slideViewPr>
    <p:cSldViewPr>
      <p:cViewPr varScale="1">
        <p:scale>
          <a:sx n="85" d="100"/>
          <a:sy n="85" d="100"/>
        </p:scale>
        <p:origin x="1396" y="48"/>
      </p:cViewPr>
      <p:guideLst>
        <p:guide orient="horz" pos="2160"/>
        <p:guide pos="2880"/>
      </p:guideLst>
    </p:cSldViewPr>
  </p:slideViewPr>
  <p:notesTextViewPr>
    <p:cViewPr>
      <p:scale>
        <a:sx n="100" d="100"/>
        <a:sy n="100" d="100"/>
      </p:scale>
      <p:origin x="0" y="0"/>
    </p:cViewPr>
  </p:notesTextViewPr>
  <p:sorterViewPr>
    <p:cViewPr>
      <p:scale>
        <a:sx n="51" d="100"/>
        <a:sy n="51" d="100"/>
      </p:scale>
      <p:origin x="0" y="-2506"/>
    </p:cViewPr>
  </p:sorterViewPr>
  <p:notesViewPr>
    <p:cSldViewPr>
      <p:cViewPr varScale="1">
        <p:scale>
          <a:sx n="62" d="100"/>
          <a:sy n="62" d="100"/>
        </p:scale>
        <p:origin x="3139" y="67"/>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2/5/2026</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2/5/2026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tackoverflow.com/questions/24436871/very-confused-by-java-8-comparator-type-inference/24442897#24442897"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extLst>
      <p:ext uri="{BB962C8B-B14F-4D97-AF65-F5344CB8AC3E}">
        <p14:creationId xmlns:p14="http://schemas.microsoft.com/office/powerpoint/2010/main" val="1369287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JUnit</a:t>
            </a:r>
            <a:r>
              <a:rPr lang="zh-CN" altLang="en-US" dirty="0"/>
              <a:t>单元测试</a:t>
            </a:r>
            <a:r>
              <a:rPr lang="en-US" altLang="zh-CN" dirty="0"/>
              <a:t>(</a:t>
            </a:r>
            <a:r>
              <a:rPr lang="zh-CN" altLang="en-US" dirty="0"/>
              <a:t>了解）</a:t>
            </a:r>
            <a:endParaRPr lang="en-US" altLang="zh-CN" dirty="0"/>
          </a:p>
          <a:p>
            <a:r>
              <a:rPr lang="zh-CN" altLang="en-US" dirty="0"/>
              <a:t>多个源文件的组织（掌握）</a:t>
            </a:r>
            <a:endParaRPr lang="en-US" altLang="zh-CN" dirty="0"/>
          </a:p>
          <a:p>
            <a:pPr lvl="1"/>
            <a:r>
              <a:rPr lang="en-US" altLang="zh-CN" dirty="0"/>
              <a:t>package/import</a:t>
            </a:r>
          </a:p>
          <a:p>
            <a:pPr lvl="1"/>
            <a:r>
              <a:rPr lang="zh-CN" altLang="en-US" dirty="0"/>
              <a:t>测试类</a:t>
            </a:r>
            <a:endParaRPr lang="en-US" altLang="zh-CN" dirty="0"/>
          </a:p>
          <a:p>
            <a:pPr lvl="1"/>
            <a:r>
              <a:rPr lang="en-US" altLang="zh-CN" dirty="0"/>
              <a:t>package</a:t>
            </a:r>
          </a:p>
          <a:p>
            <a:pPr lvl="1"/>
            <a:r>
              <a:rPr lang="en-US" altLang="zh-CN" dirty="0" err="1"/>
              <a:t>classpath</a:t>
            </a:r>
            <a:r>
              <a:rPr lang="zh-CN" altLang="en-US" dirty="0"/>
              <a:t>和</a:t>
            </a:r>
            <a:r>
              <a:rPr lang="en-US" altLang="zh-CN" dirty="0"/>
              <a:t>jar</a:t>
            </a:r>
            <a:r>
              <a:rPr lang="zh-CN" altLang="en-US" dirty="0"/>
              <a:t>包</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15577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computer science, </a:t>
            </a:r>
            <a:r>
              <a:rPr lang="en-US" altLang="zh-CN" b="1" dirty="0"/>
              <a:t>currying</a:t>
            </a:r>
            <a:r>
              <a:rPr lang="en-US" altLang="zh-CN" dirty="0"/>
              <a:t> is a technique for transforming a function that takes multiple arguments into a sequence of functions, each taking a single argument (starting with the first argument of the original function). Each function returns a new function that accepts the remaining arguments and eventually produces the result.</a:t>
            </a:r>
          </a:p>
          <a:p>
            <a:r>
              <a:rPr lang="en-US" altLang="zh-CN" dirty="0"/>
              <a:t>The technique was named by </a:t>
            </a:r>
            <a:r>
              <a:rPr lang="en-US" altLang="zh-CN" b="1" dirty="0"/>
              <a:t>Christopher Strachey</a:t>
            </a:r>
            <a:r>
              <a:rPr lang="en-US" altLang="zh-CN" dirty="0"/>
              <a:t> after the logician </a:t>
            </a:r>
            <a:r>
              <a:rPr lang="en-US" altLang="zh-CN" b="1" dirty="0"/>
              <a:t>Haskell Curry</a:t>
            </a:r>
            <a:r>
              <a:rPr lang="en-US" altLang="zh-CN" dirty="0"/>
              <a:t>, although it was originally developed by </a:t>
            </a:r>
            <a:r>
              <a:rPr lang="en-US" altLang="zh-CN" b="1" dirty="0"/>
              <a:t>Moses </a:t>
            </a:r>
            <a:r>
              <a:rPr lang="en-US" altLang="zh-CN" b="1" dirty="0" err="1"/>
              <a:t>Schönfinkel</a:t>
            </a:r>
            <a:r>
              <a:rPr lang="en-US" altLang="zh-CN" dirty="0"/>
              <a:t> and </a:t>
            </a:r>
            <a:r>
              <a:rPr lang="en-US" altLang="zh-CN" b="1" dirty="0"/>
              <a:t>Gottlob Frege</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256538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https://stackoverflow.com/questions/24436871/very-confused-by-java-8-comparator-type-inference/24442897#24442897</a:t>
            </a:r>
            <a:endParaRPr lang="en-US" altLang="zh-CN" dirty="0"/>
          </a:p>
          <a:p>
            <a:pPr fontAlgn="base"/>
            <a:r>
              <a:rPr lang="en-US" altLang="zh-CN" sz="1200" b="0" i="0" kern="1200" dirty="0">
                <a:solidFill>
                  <a:schemeClr val="tx1"/>
                </a:solidFill>
                <a:effectLst/>
                <a:latin typeface="+mn-lt"/>
                <a:ea typeface="+mn-ea"/>
                <a:cs typeface="+mn-cs"/>
              </a:rPr>
              <a:t>But when you start chaining:</a:t>
            </a:r>
          </a:p>
          <a:p>
            <a:pPr fontAlgn="base"/>
            <a:r>
              <a:rPr lang="en-US" altLang="zh-CN" dirty="0" err="1"/>
              <a:t>Collections.sort</a:t>
            </a:r>
            <a:r>
              <a:rPr lang="en-US" altLang="zh-CN" dirty="0"/>
              <a:t>(playlist1, comparing(p1 -&gt; p1.getTitle()) .</a:t>
            </a:r>
            <a:r>
              <a:rPr lang="en-US" altLang="zh-CN" dirty="0" err="1"/>
              <a:t>thenComparing</a:t>
            </a:r>
            <a:r>
              <a:rPr lang="en-US" altLang="zh-CN" dirty="0"/>
              <a:t>(p1 -&gt; p1.getDuration()) .</a:t>
            </a:r>
            <a:r>
              <a:rPr lang="en-US" altLang="zh-CN" dirty="0" err="1"/>
              <a:t>thenComparing</a:t>
            </a:r>
            <a:r>
              <a:rPr lang="en-US" altLang="zh-CN" dirty="0"/>
              <a:t>(p1 -&gt; p1.getArtist())); </a:t>
            </a:r>
            <a:r>
              <a:rPr lang="en-US" altLang="zh-CN" sz="1200" b="0" i="0" kern="1200" dirty="0">
                <a:solidFill>
                  <a:schemeClr val="tx1"/>
                </a:solidFill>
                <a:effectLst/>
                <a:latin typeface="+mn-lt"/>
                <a:ea typeface="+mn-ea"/>
                <a:cs typeface="+mn-cs"/>
              </a:rPr>
              <a:t>now we've got a problem. We know that the compound expression comparing(...).</a:t>
            </a:r>
            <a:r>
              <a:rPr lang="en-US" altLang="zh-CN" sz="1200" b="0" i="0" kern="1200" dirty="0" err="1">
                <a:solidFill>
                  <a:schemeClr val="tx1"/>
                </a:solidFill>
                <a:effectLst/>
                <a:latin typeface="+mn-lt"/>
                <a:ea typeface="+mn-ea"/>
                <a:cs typeface="+mn-cs"/>
              </a:rPr>
              <a:t>thenComparing</a:t>
            </a:r>
            <a:r>
              <a:rPr lang="en-US" altLang="zh-CN" sz="1200" b="0" i="0" kern="1200" dirty="0">
                <a:solidFill>
                  <a:schemeClr val="tx1"/>
                </a:solidFill>
                <a:effectLst/>
                <a:latin typeface="+mn-lt"/>
                <a:ea typeface="+mn-ea"/>
                <a:cs typeface="+mn-cs"/>
              </a:rPr>
              <a:t>(...) has a target type of Comparator&lt;Song&gt;, but because the receiver expression for the chain, comparing(p -&gt; </a:t>
            </a:r>
            <a:r>
              <a:rPr lang="en-US" altLang="zh-CN" sz="1200" b="0" i="0" kern="1200" dirty="0" err="1">
                <a:solidFill>
                  <a:schemeClr val="tx1"/>
                </a:solidFill>
                <a:effectLst/>
                <a:latin typeface="+mn-lt"/>
                <a:ea typeface="+mn-ea"/>
                <a:cs typeface="+mn-cs"/>
              </a:rPr>
              <a:t>p.getTitle</a:t>
            </a:r>
            <a:r>
              <a:rPr lang="en-US" altLang="zh-CN" sz="1200" b="0" i="0" kern="1200" dirty="0">
                <a:solidFill>
                  <a:schemeClr val="tx1"/>
                </a:solidFill>
                <a:effectLst/>
                <a:latin typeface="+mn-lt"/>
                <a:ea typeface="+mn-ea"/>
                <a:cs typeface="+mn-cs"/>
              </a:rPr>
              <a:t>()), is a generic method call, and we can't infer its type parameters from its other arguments, we're kind of out of luck. Since we don't know the type of this expression, we don't know that it has a </a:t>
            </a:r>
            <a:r>
              <a:rPr lang="en-US" altLang="zh-CN" sz="1200" b="0" i="0" kern="1200" dirty="0" err="1">
                <a:solidFill>
                  <a:schemeClr val="tx1"/>
                </a:solidFill>
                <a:effectLst/>
                <a:latin typeface="+mn-lt"/>
                <a:ea typeface="+mn-ea"/>
                <a:cs typeface="+mn-cs"/>
              </a:rPr>
              <a:t>thenComparing</a:t>
            </a:r>
            <a:r>
              <a:rPr lang="en-US" altLang="zh-CN" sz="1200" b="0" i="0" kern="1200" dirty="0">
                <a:solidFill>
                  <a:schemeClr val="tx1"/>
                </a:solidFill>
                <a:effectLst/>
                <a:latin typeface="+mn-lt"/>
                <a:ea typeface="+mn-ea"/>
                <a:cs typeface="+mn-cs"/>
              </a:rPr>
              <a:t> method, etc.</a:t>
            </a:r>
          </a:p>
          <a:p>
            <a:pPr fontAlgn="base"/>
            <a:r>
              <a:rPr lang="en-US" altLang="zh-CN" sz="1200" b="0" i="0" kern="1200" dirty="0">
                <a:solidFill>
                  <a:schemeClr val="tx1"/>
                </a:solidFill>
                <a:effectLst/>
                <a:latin typeface="+mn-lt"/>
                <a:ea typeface="+mn-ea"/>
                <a:cs typeface="+mn-cs"/>
              </a:rPr>
              <a:t>There are several ways to fix this, all of which involve injecting more type information so that the initial object in the chain can be properly typed. Here they are, in rough order of decreasing desirability and increasing intrusiveness:</a:t>
            </a:r>
          </a:p>
          <a:p>
            <a:pPr fontAlgn="base"/>
            <a:r>
              <a:rPr lang="en-US" altLang="zh-CN" sz="1200" b="0" i="0" kern="1200" dirty="0">
                <a:solidFill>
                  <a:schemeClr val="tx1"/>
                </a:solidFill>
                <a:effectLst/>
                <a:latin typeface="+mn-lt"/>
                <a:ea typeface="+mn-ea"/>
                <a:cs typeface="+mn-cs"/>
              </a:rPr>
              <a:t>Use an exact method reference (one with no overloads), like Song::</a:t>
            </a:r>
            <a:r>
              <a:rPr lang="en-US" altLang="zh-CN" sz="1200" b="0" i="0" kern="1200" dirty="0" err="1">
                <a:solidFill>
                  <a:schemeClr val="tx1"/>
                </a:solidFill>
                <a:effectLst/>
                <a:latin typeface="+mn-lt"/>
                <a:ea typeface="+mn-ea"/>
                <a:cs typeface="+mn-cs"/>
              </a:rPr>
              <a:t>getTitle</a:t>
            </a:r>
            <a:r>
              <a:rPr lang="en-US" altLang="zh-CN" sz="1200" b="0" i="0" kern="1200" dirty="0">
                <a:solidFill>
                  <a:schemeClr val="tx1"/>
                </a:solidFill>
                <a:effectLst/>
                <a:latin typeface="+mn-lt"/>
                <a:ea typeface="+mn-ea"/>
                <a:cs typeface="+mn-cs"/>
              </a:rPr>
              <a:t>. This then gives enough type information to infer the type variables for the comparing() call, and therefore give it a type, and therefore continue down the chain.</a:t>
            </a:r>
          </a:p>
          <a:p>
            <a:pPr fontAlgn="base"/>
            <a:r>
              <a:rPr lang="en-US" altLang="zh-CN" sz="1200" b="0" i="0" kern="1200" dirty="0">
                <a:solidFill>
                  <a:schemeClr val="tx1"/>
                </a:solidFill>
                <a:effectLst/>
                <a:latin typeface="+mn-lt"/>
                <a:ea typeface="+mn-ea"/>
                <a:cs typeface="+mn-cs"/>
              </a:rPr>
              <a:t>Use an explicit lambda (as you did in your example).</a:t>
            </a:r>
          </a:p>
          <a:p>
            <a:pPr fontAlgn="base"/>
            <a:r>
              <a:rPr lang="en-US" altLang="zh-CN" sz="1200" b="0" i="0" kern="1200" dirty="0">
                <a:solidFill>
                  <a:schemeClr val="tx1"/>
                </a:solidFill>
                <a:effectLst/>
                <a:latin typeface="+mn-lt"/>
                <a:ea typeface="+mn-ea"/>
                <a:cs typeface="+mn-cs"/>
              </a:rPr>
              <a:t>Provide a type witness for the comparing() call: Comparator.&lt;Song, String&gt;comparing(...).</a:t>
            </a:r>
          </a:p>
          <a:p>
            <a:pPr fontAlgn="base"/>
            <a:r>
              <a:rPr lang="en-US" altLang="zh-CN" sz="1200" b="0" i="0" kern="1200" dirty="0">
                <a:solidFill>
                  <a:schemeClr val="tx1"/>
                </a:solidFill>
                <a:effectLst/>
                <a:latin typeface="+mn-lt"/>
                <a:ea typeface="+mn-ea"/>
                <a:cs typeface="+mn-cs"/>
              </a:rPr>
              <a:t>Provide an explicit target type with a cast, by casting the receiver expression to Comparator&lt;Song&gt;.</a:t>
            </a:r>
          </a:p>
          <a:p>
            <a:endParaRPr lang="zh-CN" altLang="en-US" dirty="0"/>
          </a:p>
        </p:txBody>
      </p:sp>
      <p:sp>
        <p:nvSpPr>
          <p:cNvPr id="4" name="灯片编号占位符 3"/>
          <p:cNvSpPr>
            <a:spLocks noGrp="1"/>
          </p:cNvSpPr>
          <p:nvPr>
            <p:ph type="sldNum" sz="quarter" idx="5"/>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19450409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Ref idx="1002">
        <a:schemeClr val="bg2"/>
      </p:bgRef>
    </p:bg>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9AEA5317-B78D-4B41-B9D2-6C2E4E2046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203"/>
            <a:ext cx="9144000" cy="6084509"/>
          </a:xfrm>
          <a:prstGeom prst="rect">
            <a:avLst/>
          </a:prstGeom>
        </p:spPr>
      </p:pic>
      <p:sp>
        <p:nvSpPr>
          <p:cNvPr id="2" name="Title 1"/>
          <p:cNvSpPr>
            <a:spLocks noGrp="1"/>
          </p:cNvSpPr>
          <p:nvPr>
            <p:ph type="ctrTitle"/>
          </p:nvPr>
        </p:nvSpPr>
        <p:spPr>
          <a:xfrm>
            <a:off x="304800" y="5046955"/>
            <a:ext cx="8077200" cy="106251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zh-CN" altLang="en-US"/>
              <a:t>单击此处编辑母版标题样式</a:t>
            </a:r>
            <a:endParaRPr kumimoji="0" lang="en-US" dirty="0"/>
          </a:p>
        </p:txBody>
      </p:sp>
      <p:sp>
        <p:nvSpPr>
          <p:cNvPr id="3" name="Subtitle 2"/>
          <p:cNvSpPr>
            <a:spLocks noGrp="1"/>
          </p:cNvSpPr>
          <p:nvPr>
            <p:ph type="subTitle" idx="1"/>
          </p:nvPr>
        </p:nvSpPr>
        <p:spPr>
          <a:xfrm>
            <a:off x="304800" y="6096000"/>
            <a:ext cx="8077200" cy="533400"/>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zh-CN" altLang="en-US" dirty="0"/>
              <a:t>单击此处编辑母版副标题样式</a:t>
            </a:r>
            <a:endParaRPr kumimoji="0" lang="en-US" dirty="0"/>
          </a:p>
        </p:txBody>
      </p:sp>
      <p:sp>
        <p:nvSpPr>
          <p:cNvPr id="6" name="Title 1">
            <a:extLst>
              <a:ext uri="{FF2B5EF4-FFF2-40B4-BE49-F238E27FC236}">
                <a16:creationId xmlns:a16="http://schemas.microsoft.com/office/drawing/2014/main" id="{C9376F91-2B6B-4AC9-85D7-F205A7689783}"/>
              </a:ext>
            </a:extLst>
          </p:cNvPr>
          <p:cNvSpPr txBox="1">
            <a:spLocks/>
          </p:cNvSpPr>
          <p:nvPr userDrawn="1"/>
        </p:nvSpPr>
        <p:spPr>
          <a:xfrm>
            <a:off x="304800" y="2743200"/>
            <a:ext cx="4038600" cy="1524000"/>
          </a:xfrm>
          <a:prstGeom prst="rect">
            <a:avLst/>
          </a:prstGeo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4700" b="1" kern="1200">
                <a:solidFill>
                  <a:schemeClr val="tx1"/>
                </a:solidFill>
                <a:effectLst/>
                <a:latin typeface="+mj-lt"/>
                <a:ea typeface="+mj-ea"/>
                <a:cs typeface="+mj-cs"/>
              </a:defRPr>
            </a:lvl1pPr>
            <a:extLst/>
          </a:lstStyle>
          <a:p>
            <a:r>
              <a:rPr lang="zh-CN" altLang="en-US"/>
              <a:t>单击此处编辑母版标题样式</a:t>
            </a:r>
            <a:endParaRPr lang="en-US" dirty="0"/>
          </a:p>
        </p:txBody>
      </p:sp>
    </p:spTree>
    <p:extLst>
      <p:ext uri="{BB962C8B-B14F-4D97-AF65-F5344CB8AC3E}">
        <p14:creationId xmlns:p14="http://schemas.microsoft.com/office/powerpoint/2010/main" val="359137218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2"/>
      </p:bgRef>
    </p:bg>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CB467E10-2BE5-4128-9929-2DC99C110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33400"/>
            <a:ext cx="9144000" cy="5715000"/>
          </a:xfrm>
          <a:prstGeom prst="rect">
            <a:avLst/>
          </a:prstGeom>
        </p:spPr>
      </p:pic>
      <p:sp>
        <p:nvSpPr>
          <p:cNvPr id="2" name="Title 1"/>
          <p:cNvSpPr>
            <a:spLocks noGrp="1"/>
          </p:cNvSpPr>
          <p:nvPr>
            <p:ph type="title"/>
          </p:nvPr>
        </p:nvSpPr>
        <p:spPr>
          <a:xfrm>
            <a:off x="749808" y="38100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r">
              <a:defRPr sz="4700" b="1" cap="none" baseline="0">
                <a:effectLst>
                  <a:outerShdw blurRad="38100" dist="38100" dir="2700000" algn="tl">
                    <a:srgbClr val="000000">
                      <a:alpha val="43137"/>
                    </a:srgbClr>
                  </a:outerShdw>
                </a:effectLst>
              </a:defRPr>
            </a:lvl1pPr>
            <a:extLst/>
          </a:lstStyle>
          <a:p>
            <a:r>
              <a:rPr kumimoji="0" lang="zh-CN" altLang="en-US"/>
              <a:t>单击此处编辑母版标题样式</a:t>
            </a:r>
            <a:endParaRPr kumimoji="0" lang="en-US" dirty="0"/>
          </a:p>
        </p:txBody>
      </p:sp>
      <p:sp>
        <p:nvSpPr>
          <p:cNvPr id="3" name="Text Placeholder 2"/>
          <p:cNvSpPr>
            <a:spLocks noGrp="1"/>
          </p:cNvSpPr>
          <p:nvPr>
            <p:ph type="body" idx="1"/>
          </p:nvPr>
        </p:nvSpPr>
        <p:spPr>
          <a:xfrm>
            <a:off x="4100146" y="5662950"/>
            <a:ext cx="4662854" cy="685800"/>
          </a:xfrm>
        </p:spPr>
        <p:txBody>
          <a:bodyPr lIns="146304" tIns="0" rIns="45720" bIns="0" anchor="t">
            <a:normAutofit/>
          </a:bodyPr>
          <a:lstStyle>
            <a:lvl1pPr marL="0" indent="0" algn="r">
              <a:buNone/>
              <a:defRPr sz="4000" b="0">
                <a:solidFill>
                  <a:srgbClr val="FFFFFF"/>
                </a:solidFill>
                <a:effectLst>
                  <a:outerShdw blurRad="38100" dist="38100" dir="2700000" algn="tl">
                    <a:srgbClr val="000000">
                      <a:alpha val="43137"/>
                    </a:srgbClr>
                  </a:outerShd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408136657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2">
        <a:schemeClr val="bg2"/>
      </p:bgRef>
    </p:bg>
    <p:spTree>
      <p:nvGrpSpPr>
        <p:cNvPr id="1" name=""/>
        <p:cNvGrpSpPr/>
        <p:nvPr/>
      </p:nvGrpSpPr>
      <p:grpSpPr>
        <a:xfrm>
          <a:off x="0" y="0"/>
          <a:ext cx="0" cy="0"/>
          <a:chOff x="0" y="0"/>
          <a:chExt cx="0" cy="0"/>
        </a:xfrm>
      </p:grpSpPr>
      <p:pic>
        <p:nvPicPr>
          <p:cNvPr id="5" name="图片 4" descr="桌子上的杯子里有咖啡&#10;&#10;描述已自动生成">
            <a:extLst>
              <a:ext uri="{FF2B5EF4-FFF2-40B4-BE49-F238E27FC236}">
                <a16:creationId xmlns:a16="http://schemas.microsoft.com/office/drawing/2014/main" id="{95F9ED83-5EF0-4B7C-907D-1705980E7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4056"/>
            <a:ext cx="9144000" cy="6843944"/>
          </a:xfrm>
          <a:prstGeom prst="rect">
            <a:avLst/>
          </a:prstGeom>
        </p:spPr>
      </p:pic>
      <p:sp>
        <p:nvSpPr>
          <p:cNvPr id="2" name="Title 1"/>
          <p:cNvSpPr>
            <a:spLocks noGrp="1"/>
          </p:cNvSpPr>
          <p:nvPr>
            <p:ph type="title"/>
          </p:nvPr>
        </p:nvSpPr>
        <p:spPr>
          <a:xfrm>
            <a:off x="749808" y="38100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r">
              <a:defRPr sz="4700" b="1" cap="none" baseline="0">
                <a:effectLst>
                  <a:outerShdw blurRad="38100" dist="38100" dir="2700000" algn="tl">
                    <a:srgbClr val="000000">
                      <a:alpha val="43137"/>
                    </a:srgbClr>
                  </a:outerShdw>
                </a:effectLst>
              </a:defRPr>
            </a:lvl1pPr>
            <a:extLst/>
          </a:lstStyle>
          <a:p>
            <a:r>
              <a:rPr kumimoji="0" lang="zh-CN" altLang="en-US"/>
              <a:t>单击此处编辑母版标题样式</a:t>
            </a:r>
            <a:endParaRPr kumimoji="0" lang="en-US" dirty="0"/>
          </a:p>
        </p:txBody>
      </p:sp>
      <p:sp>
        <p:nvSpPr>
          <p:cNvPr id="3" name="Text Placeholder 2"/>
          <p:cNvSpPr>
            <a:spLocks noGrp="1"/>
          </p:cNvSpPr>
          <p:nvPr>
            <p:ph type="body" idx="1"/>
          </p:nvPr>
        </p:nvSpPr>
        <p:spPr>
          <a:xfrm>
            <a:off x="4100146" y="5662950"/>
            <a:ext cx="4662854" cy="685800"/>
          </a:xfrm>
        </p:spPr>
        <p:txBody>
          <a:bodyPr lIns="146304" tIns="0" rIns="45720" bIns="0" anchor="t">
            <a:normAutofit/>
          </a:bodyPr>
          <a:lstStyle>
            <a:lvl1pPr marL="0" indent="0" algn="r">
              <a:buNone/>
              <a:defRPr sz="4000" b="0">
                <a:solidFill>
                  <a:srgbClr val="FFFFFF"/>
                </a:solidFill>
                <a:effectLst>
                  <a:outerShdw blurRad="38100" dist="38100" dir="2700000" algn="tl">
                    <a:srgbClr val="000000">
                      <a:alpha val="43137"/>
                    </a:srgbClr>
                  </a:outerShd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33198616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ubsection">
    <p:bg>
      <p:bgRef idx="1002">
        <a:schemeClr val="bg2"/>
      </p:bgRef>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C3639CE-9C7E-4D24-BA21-2E860A142D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737"/>
            <a:ext cx="9147652" cy="6855263"/>
          </a:xfrm>
          <a:prstGeom prst="rect">
            <a:avLst/>
          </a:prstGeom>
        </p:spPr>
      </p:pic>
      <p:sp>
        <p:nvSpPr>
          <p:cNvPr id="2" name="Title 1"/>
          <p:cNvSpPr>
            <a:spLocks noGrp="1"/>
          </p:cNvSpPr>
          <p:nvPr>
            <p:ph type="title"/>
          </p:nvPr>
        </p:nvSpPr>
        <p:spPr>
          <a:xfrm>
            <a:off x="749808" y="38100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r">
              <a:defRPr sz="4700" b="1" cap="none" baseline="0">
                <a:solidFill>
                  <a:schemeClr val="bg1"/>
                </a:solidFill>
                <a:effectLst>
                  <a:outerShdw blurRad="38100" dist="38100" dir="2700000" algn="tl">
                    <a:srgbClr val="000000">
                      <a:alpha val="43137"/>
                    </a:srgbClr>
                  </a:outerShdw>
                </a:effectLst>
              </a:defRPr>
            </a:lvl1pPr>
            <a:extLst/>
          </a:lstStyle>
          <a:p>
            <a:r>
              <a:rPr kumimoji="0" lang="zh-CN" altLang="en-US"/>
              <a:t>单击此处编辑母版标题样式</a:t>
            </a:r>
            <a:endParaRPr kumimoji="0" lang="en-US" dirty="0"/>
          </a:p>
        </p:txBody>
      </p:sp>
      <p:sp>
        <p:nvSpPr>
          <p:cNvPr id="3" name="Text Placeholder 2"/>
          <p:cNvSpPr>
            <a:spLocks noGrp="1"/>
          </p:cNvSpPr>
          <p:nvPr>
            <p:ph type="body" idx="1"/>
          </p:nvPr>
        </p:nvSpPr>
        <p:spPr>
          <a:xfrm>
            <a:off x="4100146" y="5662950"/>
            <a:ext cx="4662854" cy="685800"/>
          </a:xfrm>
        </p:spPr>
        <p:txBody>
          <a:bodyPr lIns="146304" tIns="0" rIns="45720" bIns="0" anchor="t">
            <a:normAutofit/>
          </a:bodyPr>
          <a:lstStyle>
            <a:lvl1pPr marL="0" indent="0" algn="r">
              <a:buNone/>
              <a:defRPr sz="4000" b="0">
                <a:solidFill>
                  <a:schemeClr val="bg1"/>
                </a:solidFill>
                <a:effectLst>
                  <a:outerShdw blurRad="38100" dist="38100" dir="2700000" algn="tl">
                    <a:srgbClr val="000000">
                      <a:alpha val="43137"/>
                    </a:srgbClr>
                  </a:outerShdw>
                </a:effectLs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11932233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Experiment Header">
    <p:bg>
      <p:bgRef idx="1002">
        <a:schemeClr val="bg2"/>
      </p:bgRef>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A1BEBFC3-54A1-41C5-9F24-4E20D68423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23" y="762000"/>
            <a:ext cx="9144000" cy="5140990"/>
          </a:xfrm>
          <a:prstGeom prst="rect">
            <a:avLst/>
          </a:prstGeom>
        </p:spPr>
      </p:pic>
      <p:pic>
        <p:nvPicPr>
          <p:cNvPr id="5" name="图片 4">
            <a:extLst>
              <a:ext uri="{FF2B5EF4-FFF2-40B4-BE49-F238E27FC236}">
                <a16:creationId xmlns:a16="http://schemas.microsoft.com/office/drawing/2014/main" id="{5A1897A1-E20E-4AC9-83E1-1C466E30C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342852"/>
            <a:ext cx="10503877" cy="5905548"/>
          </a:xfrm>
          <a:prstGeom prst="rect">
            <a:avLst/>
          </a:prstGeom>
        </p:spPr>
      </p:pic>
      <p:sp>
        <p:nvSpPr>
          <p:cNvPr id="2" name="Title 1"/>
          <p:cNvSpPr>
            <a:spLocks noGrp="1"/>
          </p:cNvSpPr>
          <p:nvPr>
            <p:ph type="title"/>
          </p:nvPr>
        </p:nvSpPr>
        <p:spPr>
          <a:xfrm>
            <a:off x="4724400" y="1575699"/>
            <a:ext cx="4191000"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r">
              <a:defRPr sz="4700" b="1" cap="none" baseline="0"/>
            </a:lvl1pPr>
            <a:extLst/>
          </a:lstStyle>
          <a:p>
            <a:r>
              <a:rPr kumimoji="0" lang="zh-CN" altLang="en-US" dirty="0"/>
              <a:t>单击此处编辑母版标题样式</a:t>
            </a:r>
            <a:endParaRPr kumimoji="0" lang="en-US" dirty="0"/>
          </a:p>
        </p:txBody>
      </p:sp>
      <p:sp>
        <p:nvSpPr>
          <p:cNvPr id="3" name="Text Placeholder 2"/>
          <p:cNvSpPr>
            <a:spLocks noGrp="1"/>
          </p:cNvSpPr>
          <p:nvPr>
            <p:ph type="body" idx="1"/>
          </p:nvPr>
        </p:nvSpPr>
        <p:spPr>
          <a:xfrm>
            <a:off x="4724400" y="3581400"/>
            <a:ext cx="4191000" cy="685800"/>
          </a:xfrm>
        </p:spPr>
        <p:txBody>
          <a:bodyPr lIns="146304" tIns="0" rIns="45720" bIns="0" anchor="t">
            <a:normAutofit/>
          </a:bodyPr>
          <a:lstStyle>
            <a:lvl1pPr marL="0" indent="0" algn="r">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zh-CN" altLang="en-US" dirty="0"/>
              <a:t>单击此处编辑母版文本样式</a:t>
            </a:r>
          </a:p>
        </p:txBody>
      </p:sp>
    </p:spTree>
    <p:extLst>
      <p:ext uri="{BB962C8B-B14F-4D97-AF65-F5344CB8AC3E}">
        <p14:creationId xmlns:p14="http://schemas.microsoft.com/office/powerpoint/2010/main" val="170621221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5943601"/>
          </a:xfrm>
        </p:spPr>
        <p:txBody>
          <a:bodyPr/>
          <a:lstStyle>
            <a:lvl1pPr indent="-180000">
              <a:defRPr/>
            </a:lvl1pPr>
            <a:lvl2pPr indent="-144000">
              <a:defRPr/>
            </a:lvl2pPr>
            <a:lvl3pPr indent="-144000">
              <a:defRPr/>
            </a:lvl3pPr>
            <a:lvl4pPr indent="-108000">
              <a:defRPr/>
            </a:lvl4pPr>
            <a:lvl5pPr indent="-108000">
              <a:defRPr/>
            </a:lvl5p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a:xfrm>
            <a:off x="152400" y="121920"/>
            <a:ext cx="8839200" cy="487680"/>
          </a:xfrm>
        </p:spPr>
        <p:txBody>
          <a:bodyPr/>
          <a:lstStyle/>
          <a:p>
            <a:r>
              <a:rPr lang="zh-CN" altLang="en-US" dirty="0"/>
              <a:t>单击此处编辑母版标题样式</a:t>
            </a:r>
          </a:p>
        </p:txBody>
      </p:sp>
      <p:sp>
        <p:nvSpPr>
          <p:cNvPr id="10" name="Date Placeholder 3">
            <a:extLst>
              <a:ext uri="{FF2B5EF4-FFF2-40B4-BE49-F238E27FC236}">
                <a16:creationId xmlns:a16="http://schemas.microsoft.com/office/drawing/2014/main" id="{B13D028F-9B3A-46C5-87AD-424C1ADFC516}"/>
              </a:ext>
            </a:extLst>
          </p:cNvPr>
          <p:cNvSpPr>
            <a:spLocks noGrp="1"/>
          </p:cNvSpPr>
          <p:nvPr>
            <p:ph type="dt" sz="half" idx="2"/>
          </p:nvPr>
        </p:nvSpPr>
        <p:spPr>
          <a:xfrm>
            <a:off x="0" y="6705601"/>
            <a:ext cx="1086919" cy="152398"/>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55FF4013-57FE-4D48-9822-890FE3B9D03E}" type="datetime1">
              <a:rPr lang="zh-CN" altLang="en-US" smtClean="0"/>
              <a:t>2026/2/5</a:t>
            </a:fld>
            <a:endParaRPr lang="en-US" dirty="0"/>
          </a:p>
        </p:txBody>
      </p:sp>
      <p:sp>
        <p:nvSpPr>
          <p:cNvPr id="12" name="Footer Placeholder 4">
            <a:extLst>
              <a:ext uri="{FF2B5EF4-FFF2-40B4-BE49-F238E27FC236}">
                <a16:creationId xmlns:a16="http://schemas.microsoft.com/office/drawing/2014/main" id="{0F91FAFF-1E91-4F56-8C64-FAF062DD0D3D}"/>
              </a:ext>
            </a:extLst>
          </p:cNvPr>
          <p:cNvSpPr>
            <a:spLocks noGrp="1"/>
          </p:cNvSpPr>
          <p:nvPr>
            <p:ph type="ftr" sz="quarter" idx="3"/>
          </p:nvPr>
        </p:nvSpPr>
        <p:spPr>
          <a:xfrm>
            <a:off x="1163119" y="6705601"/>
            <a:ext cx="6985197" cy="152398"/>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en-US" altLang="zh-CN" dirty="0"/>
              <a:t>Dr Youbing Zhao - Functional Programming in Java</a:t>
            </a:r>
            <a:endParaRPr lang="en-US" dirty="0"/>
          </a:p>
        </p:txBody>
      </p:sp>
      <p:sp>
        <p:nvSpPr>
          <p:cNvPr id="13" name="Slide Number Placeholder 5">
            <a:extLst>
              <a:ext uri="{FF2B5EF4-FFF2-40B4-BE49-F238E27FC236}">
                <a16:creationId xmlns:a16="http://schemas.microsoft.com/office/drawing/2014/main" id="{D5C35377-5920-4386-8AF7-36BBD3CF490B}"/>
              </a:ext>
            </a:extLst>
          </p:cNvPr>
          <p:cNvSpPr>
            <a:spLocks noGrp="1"/>
          </p:cNvSpPr>
          <p:nvPr>
            <p:ph type="sldNum" sz="quarter" idx="4"/>
          </p:nvPr>
        </p:nvSpPr>
        <p:spPr>
          <a:xfrm>
            <a:off x="8204396" y="6705601"/>
            <a:ext cx="634804" cy="152398"/>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3093098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graph">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2385644"/>
          </a:xfrm>
          <a:ln>
            <a:solidFill>
              <a:schemeClr val="tx2">
                <a:lumMod val="60000"/>
                <a:lumOff val="40000"/>
              </a:schemeClr>
            </a:solidFill>
          </a:ln>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p:txBody>
          <a:bodyPr/>
          <a:lstStyle/>
          <a:p>
            <a:r>
              <a:rPr lang="zh-CN" altLang="en-US" dirty="0"/>
              <a:t>单击此处编辑母版标题样式</a:t>
            </a:r>
          </a:p>
        </p:txBody>
      </p:sp>
      <p:sp>
        <p:nvSpPr>
          <p:cNvPr id="10" name="Date Placeholder 3">
            <a:extLst>
              <a:ext uri="{FF2B5EF4-FFF2-40B4-BE49-F238E27FC236}">
                <a16:creationId xmlns:a16="http://schemas.microsoft.com/office/drawing/2014/main" id="{B13D028F-9B3A-46C5-87AD-424C1ADFC516}"/>
              </a:ext>
            </a:extLst>
          </p:cNvPr>
          <p:cNvSpPr>
            <a:spLocks noGrp="1"/>
          </p:cNvSpPr>
          <p:nvPr>
            <p:ph type="dt" sz="half" idx="2"/>
          </p:nvPr>
        </p:nvSpPr>
        <p:spPr>
          <a:xfrm>
            <a:off x="0" y="6682155"/>
            <a:ext cx="1086919" cy="175844"/>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7BD3D982-8036-427F-B021-393BD6965CE0}" type="datetime1">
              <a:rPr lang="zh-CN" altLang="en-US" smtClean="0"/>
              <a:t>2026/2/5</a:t>
            </a:fld>
            <a:endParaRPr lang="en-US" dirty="0"/>
          </a:p>
        </p:txBody>
      </p:sp>
      <p:sp>
        <p:nvSpPr>
          <p:cNvPr id="12" name="Footer Placeholder 4">
            <a:extLst>
              <a:ext uri="{FF2B5EF4-FFF2-40B4-BE49-F238E27FC236}">
                <a16:creationId xmlns:a16="http://schemas.microsoft.com/office/drawing/2014/main" id="{0F91FAFF-1E91-4F56-8C64-FAF062DD0D3D}"/>
              </a:ext>
            </a:extLst>
          </p:cNvPr>
          <p:cNvSpPr>
            <a:spLocks noGrp="1"/>
          </p:cNvSpPr>
          <p:nvPr>
            <p:ph type="ftr" sz="quarter" idx="3"/>
          </p:nvPr>
        </p:nvSpPr>
        <p:spPr>
          <a:xfrm>
            <a:off x="1163119" y="6682153"/>
            <a:ext cx="6985197" cy="175845"/>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3" name="Slide Number Placeholder 5">
            <a:extLst>
              <a:ext uri="{FF2B5EF4-FFF2-40B4-BE49-F238E27FC236}">
                <a16:creationId xmlns:a16="http://schemas.microsoft.com/office/drawing/2014/main" id="{D5C35377-5920-4386-8AF7-36BBD3CF490B}"/>
              </a:ext>
            </a:extLst>
          </p:cNvPr>
          <p:cNvSpPr>
            <a:spLocks noGrp="1"/>
          </p:cNvSpPr>
          <p:nvPr>
            <p:ph type="sldNum" sz="quarter" idx="4"/>
          </p:nvPr>
        </p:nvSpPr>
        <p:spPr>
          <a:xfrm>
            <a:off x="8204396" y="6682153"/>
            <a:ext cx="634804" cy="175846"/>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7" name="Content Placeholder 2">
            <a:extLst>
              <a:ext uri="{FF2B5EF4-FFF2-40B4-BE49-F238E27FC236}">
                <a16:creationId xmlns:a16="http://schemas.microsoft.com/office/drawing/2014/main" id="{0B4B53AB-2230-44F4-B6E6-14EB609DF47D}"/>
              </a:ext>
            </a:extLst>
          </p:cNvPr>
          <p:cNvSpPr>
            <a:spLocks noGrp="1"/>
          </p:cNvSpPr>
          <p:nvPr>
            <p:ph idx="10"/>
          </p:nvPr>
        </p:nvSpPr>
        <p:spPr>
          <a:xfrm>
            <a:off x="152400" y="3200399"/>
            <a:ext cx="4419600" cy="3429001"/>
          </a:xfrm>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8" name="Content Placeholder 2">
            <a:extLst>
              <a:ext uri="{FF2B5EF4-FFF2-40B4-BE49-F238E27FC236}">
                <a16:creationId xmlns:a16="http://schemas.microsoft.com/office/drawing/2014/main" id="{9E404993-9869-4C75-8ADC-5CC7BCC8836D}"/>
              </a:ext>
            </a:extLst>
          </p:cNvPr>
          <p:cNvSpPr>
            <a:spLocks noGrp="1"/>
          </p:cNvSpPr>
          <p:nvPr>
            <p:ph idx="11"/>
          </p:nvPr>
        </p:nvSpPr>
        <p:spPr>
          <a:xfrm>
            <a:off x="4655717" y="3200399"/>
            <a:ext cx="4335883" cy="3429001"/>
          </a:xfrm>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2404129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1447801"/>
          </a:xfrm>
          <a:ln>
            <a:solidFill>
              <a:schemeClr val="tx2">
                <a:lumMod val="60000"/>
                <a:lumOff val="40000"/>
              </a:schemeClr>
            </a:solidFill>
          </a:ln>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p:txBody>
          <a:bodyPr/>
          <a:lstStyle/>
          <a:p>
            <a:r>
              <a:rPr lang="zh-CN" altLang="en-US" dirty="0"/>
              <a:t>单击此处编辑母版标题样式</a:t>
            </a:r>
          </a:p>
        </p:txBody>
      </p:sp>
      <p:sp>
        <p:nvSpPr>
          <p:cNvPr id="10" name="Date Placeholder 3">
            <a:extLst>
              <a:ext uri="{FF2B5EF4-FFF2-40B4-BE49-F238E27FC236}">
                <a16:creationId xmlns:a16="http://schemas.microsoft.com/office/drawing/2014/main" id="{B13D028F-9B3A-46C5-87AD-424C1ADFC516}"/>
              </a:ext>
            </a:extLst>
          </p:cNvPr>
          <p:cNvSpPr>
            <a:spLocks noGrp="1"/>
          </p:cNvSpPr>
          <p:nvPr>
            <p:ph type="dt" sz="half" idx="2"/>
          </p:nvPr>
        </p:nvSpPr>
        <p:spPr>
          <a:xfrm>
            <a:off x="0" y="6682155"/>
            <a:ext cx="1086919" cy="175844"/>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7BD3D982-8036-427F-B021-393BD6965CE0}" type="datetime1">
              <a:rPr lang="zh-CN" altLang="en-US" smtClean="0"/>
              <a:t>2026/2/5</a:t>
            </a:fld>
            <a:endParaRPr lang="en-US" dirty="0"/>
          </a:p>
        </p:txBody>
      </p:sp>
      <p:sp>
        <p:nvSpPr>
          <p:cNvPr id="12" name="Footer Placeholder 4">
            <a:extLst>
              <a:ext uri="{FF2B5EF4-FFF2-40B4-BE49-F238E27FC236}">
                <a16:creationId xmlns:a16="http://schemas.microsoft.com/office/drawing/2014/main" id="{0F91FAFF-1E91-4F56-8C64-FAF062DD0D3D}"/>
              </a:ext>
            </a:extLst>
          </p:cNvPr>
          <p:cNvSpPr>
            <a:spLocks noGrp="1"/>
          </p:cNvSpPr>
          <p:nvPr>
            <p:ph type="ftr" sz="quarter" idx="3"/>
          </p:nvPr>
        </p:nvSpPr>
        <p:spPr>
          <a:xfrm>
            <a:off x="1163119" y="6682153"/>
            <a:ext cx="6985197" cy="175845"/>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3" name="Slide Number Placeholder 5">
            <a:extLst>
              <a:ext uri="{FF2B5EF4-FFF2-40B4-BE49-F238E27FC236}">
                <a16:creationId xmlns:a16="http://schemas.microsoft.com/office/drawing/2014/main" id="{D5C35377-5920-4386-8AF7-36BBD3CF490B}"/>
              </a:ext>
            </a:extLst>
          </p:cNvPr>
          <p:cNvSpPr>
            <a:spLocks noGrp="1"/>
          </p:cNvSpPr>
          <p:nvPr>
            <p:ph type="sldNum" sz="quarter" idx="4"/>
          </p:nvPr>
        </p:nvSpPr>
        <p:spPr>
          <a:xfrm>
            <a:off x="8204396" y="6682153"/>
            <a:ext cx="634804" cy="175846"/>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7" name="Content Placeholder 2">
            <a:extLst>
              <a:ext uri="{FF2B5EF4-FFF2-40B4-BE49-F238E27FC236}">
                <a16:creationId xmlns:a16="http://schemas.microsoft.com/office/drawing/2014/main" id="{0B4B53AB-2230-44F4-B6E6-14EB609DF47D}"/>
              </a:ext>
            </a:extLst>
          </p:cNvPr>
          <p:cNvSpPr>
            <a:spLocks noGrp="1"/>
          </p:cNvSpPr>
          <p:nvPr>
            <p:ph idx="10"/>
          </p:nvPr>
        </p:nvSpPr>
        <p:spPr>
          <a:xfrm>
            <a:off x="152400" y="2301243"/>
            <a:ext cx="8839200" cy="4328158"/>
          </a:xfrm>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330491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de">
    <p:spTree>
      <p:nvGrpSpPr>
        <p:cNvPr id="1" name=""/>
        <p:cNvGrpSpPr/>
        <p:nvPr/>
      </p:nvGrpSpPr>
      <p:grpSpPr>
        <a:xfrm>
          <a:off x="0" y="0"/>
          <a:ext cx="0" cy="0"/>
          <a:chOff x="0" y="0"/>
          <a:chExt cx="0" cy="0"/>
        </a:xfrm>
      </p:grpSpPr>
      <p:graphicFrame>
        <p:nvGraphicFramePr>
          <p:cNvPr id="8" name="表格 9">
            <a:extLst>
              <a:ext uri="{FF2B5EF4-FFF2-40B4-BE49-F238E27FC236}">
                <a16:creationId xmlns:a16="http://schemas.microsoft.com/office/drawing/2014/main" id="{26E72A9B-772A-499F-BCE2-39DCB157ACA3}"/>
              </a:ext>
            </a:extLst>
          </p:cNvPr>
          <p:cNvGraphicFramePr>
            <a:graphicFrameLocks noGrp="1"/>
          </p:cNvGraphicFramePr>
          <p:nvPr userDrawn="1">
            <p:extLst>
              <p:ext uri="{D42A27DB-BD31-4B8C-83A1-F6EECF244321}">
                <p14:modId xmlns:p14="http://schemas.microsoft.com/office/powerpoint/2010/main" val="349249835"/>
              </p:ext>
            </p:extLst>
          </p:nvPr>
        </p:nvGraphicFramePr>
        <p:xfrm>
          <a:off x="152400" y="868680"/>
          <a:ext cx="8839200" cy="5760720"/>
        </p:xfrm>
        <a:graphic>
          <a:graphicData uri="http://schemas.openxmlformats.org/drawingml/2006/table">
            <a:tbl>
              <a:tblPr bandRow="1">
                <a:tableStyleId>{0E3FDE45-AF77-4B5C-9715-49D594BDF05E}</a:tableStyleId>
              </a:tblPr>
              <a:tblGrid>
                <a:gridCol w="8839200">
                  <a:extLst>
                    <a:ext uri="{9D8B030D-6E8A-4147-A177-3AD203B41FA5}">
                      <a16:colId xmlns:a16="http://schemas.microsoft.com/office/drawing/2014/main" val="2032191515"/>
                    </a:ext>
                  </a:extLst>
                </a:gridCol>
              </a:tblGrid>
              <a:tr h="192643">
                <a:tc>
                  <a:txBody>
                    <a:bodyPr/>
                    <a:lstStyle/>
                    <a:p>
                      <a:endParaRPr lang="zh-CN" altLang="en-US" sz="1400" dirty="0"/>
                    </a:p>
                  </a:txBody>
                  <a:tcPr marL="0" marR="0" marT="0" marB="0">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929118270"/>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506295358"/>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13458822"/>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647214534"/>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62906885"/>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277764238"/>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20611193"/>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035603001"/>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34523375"/>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58590172"/>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653199386"/>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930584021"/>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647931"/>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47586552"/>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9889063"/>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891371683"/>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506895616"/>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81523988"/>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84177865"/>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796763076"/>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450517067"/>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202817619"/>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53080100"/>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57284307"/>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303093207"/>
                  </a:ext>
                </a:extLst>
              </a:tr>
              <a:tr h="192643">
                <a:tc>
                  <a:txBody>
                    <a:bodyPr/>
                    <a:lstStyle/>
                    <a:p>
                      <a:endParaRPr lang="zh-CN" altLang="en-US" sz="1400" dirty="0"/>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53255499"/>
                  </a:ext>
                </a:extLst>
              </a:tr>
              <a:tr h="192643">
                <a:tc>
                  <a:txBody>
                    <a:bodyPr/>
                    <a:lstStyle/>
                    <a:p>
                      <a:endParaRPr lang="zh-CN" altLang="en-US" sz="1400" dirty="0"/>
                    </a:p>
                  </a:txBody>
                  <a:tcPr marL="0" marR="0" marT="0" marB="0">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23854422"/>
                  </a:ext>
                </a:extLst>
              </a:tr>
            </a:tbl>
          </a:graphicData>
        </a:graphic>
      </p:graphicFrame>
      <p:sp>
        <p:nvSpPr>
          <p:cNvPr id="3" name="Content Placeholder 2"/>
          <p:cNvSpPr>
            <a:spLocks noGrp="1"/>
          </p:cNvSpPr>
          <p:nvPr>
            <p:ph idx="1"/>
          </p:nvPr>
        </p:nvSpPr>
        <p:spPr>
          <a:xfrm>
            <a:off x="152400" y="762000"/>
            <a:ext cx="8839200" cy="1828800"/>
          </a:xfrm>
          <a:solidFill>
            <a:schemeClr val="bg1"/>
          </a:solidFill>
          <a:ln>
            <a:solidFill>
              <a:schemeClr val="tx2">
                <a:lumMod val="60000"/>
                <a:lumOff val="40000"/>
              </a:schemeClr>
            </a:solidFill>
          </a:ln>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p:txBody>
          <a:bodyPr/>
          <a:lstStyle/>
          <a:p>
            <a:r>
              <a:rPr lang="zh-CN" altLang="en-US" dirty="0"/>
              <a:t>单击此处编辑母版标题样式</a:t>
            </a:r>
          </a:p>
        </p:txBody>
      </p:sp>
      <p:sp>
        <p:nvSpPr>
          <p:cNvPr id="10" name="Date Placeholder 3">
            <a:extLst>
              <a:ext uri="{FF2B5EF4-FFF2-40B4-BE49-F238E27FC236}">
                <a16:creationId xmlns:a16="http://schemas.microsoft.com/office/drawing/2014/main" id="{B13D028F-9B3A-46C5-87AD-424C1ADFC516}"/>
              </a:ext>
            </a:extLst>
          </p:cNvPr>
          <p:cNvSpPr>
            <a:spLocks noGrp="1"/>
          </p:cNvSpPr>
          <p:nvPr>
            <p:ph type="dt" sz="half" idx="2"/>
          </p:nvPr>
        </p:nvSpPr>
        <p:spPr>
          <a:xfrm>
            <a:off x="0" y="6673069"/>
            <a:ext cx="1086919" cy="18493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9CBD35D0-2ABA-465D-BD3E-2C424386622A}" type="datetime1">
              <a:rPr lang="zh-CN" altLang="en-US" smtClean="0"/>
              <a:t>2026/2/5</a:t>
            </a:fld>
            <a:endParaRPr lang="en-US" dirty="0"/>
          </a:p>
        </p:txBody>
      </p:sp>
      <p:sp>
        <p:nvSpPr>
          <p:cNvPr id="12" name="Footer Placeholder 4">
            <a:extLst>
              <a:ext uri="{FF2B5EF4-FFF2-40B4-BE49-F238E27FC236}">
                <a16:creationId xmlns:a16="http://schemas.microsoft.com/office/drawing/2014/main" id="{0F91FAFF-1E91-4F56-8C64-FAF062DD0D3D}"/>
              </a:ext>
            </a:extLst>
          </p:cNvPr>
          <p:cNvSpPr>
            <a:spLocks noGrp="1"/>
          </p:cNvSpPr>
          <p:nvPr>
            <p:ph type="ftr" sz="quarter" idx="3"/>
          </p:nvPr>
        </p:nvSpPr>
        <p:spPr>
          <a:xfrm>
            <a:off x="1163119" y="6673067"/>
            <a:ext cx="6985197" cy="184931"/>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3" name="Slide Number Placeholder 5">
            <a:extLst>
              <a:ext uri="{FF2B5EF4-FFF2-40B4-BE49-F238E27FC236}">
                <a16:creationId xmlns:a16="http://schemas.microsoft.com/office/drawing/2014/main" id="{D5C35377-5920-4386-8AF7-36BBD3CF490B}"/>
              </a:ext>
            </a:extLst>
          </p:cNvPr>
          <p:cNvSpPr>
            <a:spLocks noGrp="1"/>
          </p:cNvSpPr>
          <p:nvPr>
            <p:ph type="sldNum" sz="quarter" idx="4"/>
          </p:nvPr>
        </p:nvSpPr>
        <p:spPr>
          <a:xfrm>
            <a:off x="8204396" y="6673067"/>
            <a:ext cx="634804" cy="184932"/>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2574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063EAD-A0C4-4996-8B40-6CE9049E4DAE}"/>
              </a:ext>
            </a:extLst>
          </p:cNvPr>
          <p:cNvSpPr txBox="1"/>
          <p:nvPr userDrawn="1"/>
        </p:nvSpPr>
        <p:spPr>
          <a:xfrm>
            <a:off x="0" y="0"/>
            <a:ext cx="9144000" cy="685800"/>
          </a:xfrm>
          <a:prstGeom prst="rect">
            <a:avLst/>
          </a:prstGeom>
          <a:solidFill>
            <a:srgbClr val="CBEA46">
              <a:alpha val="47843"/>
            </a:srgbClr>
          </a:solidFill>
        </p:spPr>
        <p:txBody>
          <a:bodyPr vert="horz" wrap="square" lIns="91440" tIns="0" rIns="45720" bIns="0" rtlCol="0" anchor="t">
            <a:normAutofit/>
            <a:scene3d>
              <a:camera prst="orthographicFront"/>
              <a:lightRig rig="threePt" dir="t">
                <a:rot lat="0" lon="0" rev="4800000"/>
              </a:lightRig>
            </a:scene3d>
            <a:sp3d prstMaterial="matte">
              <a:bevelT w="50800" h="10160"/>
            </a:sp3d>
          </a:bodyPr>
          <a:lstStyle/>
          <a:p>
            <a:pPr algn="l"/>
            <a:endParaRPr lang="zh-CN" altLang="en-US" dirty="0"/>
          </a:p>
        </p:txBody>
      </p:sp>
      <p:sp>
        <p:nvSpPr>
          <p:cNvPr id="3" name="Content Placeholder 2"/>
          <p:cNvSpPr>
            <a:spLocks noGrp="1"/>
          </p:cNvSpPr>
          <p:nvPr>
            <p:ph idx="1"/>
          </p:nvPr>
        </p:nvSpPr>
        <p:spPr>
          <a:xfrm>
            <a:off x="152400" y="807720"/>
            <a:ext cx="8839200" cy="5897880"/>
          </a:xfrm>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p:txBody>
          <a:bodyPr/>
          <a:lstStyle/>
          <a:p>
            <a:r>
              <a:rPr lang="zh-CN" altLang="en-US" dirty="0"/>
              <a:t>单击此处编辑母版标题样式</a:t>
            </a:r>
          </a:p>
        </p:txBody>
      </p:sp>
      <p:sp>
        <p:nvSpPr>
          <p:cNvPr id="15" name="Date Placeholder 3">
            <a:extLst>
              <a:ext uri="{FF2B5EF4-FFF2-40B4-BE49-F238E27FC236}">
                <a16:creationId xmlns:a16="http://schemas.microsoft.com/office/drawing/2014/main" id="{F542EC37-67B1-4048-9E37-5A7C12A9E81A}"/>
              </a:ext>
            </a:extLst>
          </p:cNvPr>
          <p:cNvSpPr>
            <a:spLocks noGrp="1"/>
          </p:cNvSpPr>
          <p:nvPr>
            <p:ph type="dt" sz="half" idx="2"/>
          </p:nvPr>
        </p:nvSpPr>
        <p:spPr>
          <a:xfrm>
            <a:off x="0" y="6705600"/>
            <a:ext cx="1086919" cy="152399"/>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90B9F7E4-6E9F-40F0-A944-A6977DB4498D}" type="datetime1">
              <a:rPr lang="zh-CN" altLang="en-US" smtClean="0"/>
              <a:t>2026/2/5</a:t>
            </a:fld>
            <a:endParaRPr lang="en-US" dirty="0"/>
          </a:p>
        </p:txBody>
      </p:sp>
      <p:sp>
        <p:nvSpPr>
          <p:cNvPr id="16" name="Footer Placeholder 4">
            <a:extLst>
              <a:ext uri="{FF2B5EF4-FFF2-40B4-BE49-F238E27FC236}">
                <a16:creationId xmlns:a16="http://schemas.microsoft.com/office/drawing/2014/main" id="{815438C4-0F65-4DA0-8BEF-6106E237A20B}"/>
              </a:ext>
            </a:extLst>
          </p:cNvPr>
          <p:cNvSpPr>
            <a:spLocks noGrp="1"/>
          </p:cNvSpPr>
          <p:nvPr>
            <p:ph type="ftr" sz="quarter" idx="3"/>
          </p:nvPr>
        </p:nvSpPr>
        <p:spPr>
          <a:xfrm>
            <a:off x="1163119" y="6705601"/>
            <a:ext cx="6985197" cy="152398"/>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7" name="Slide Number Placeholder 5">
            <a:extLst>
              <a:ext uri="{FF2B5EF4-FFF2-40B4-BE49-F238E27FC236}">
                <a16:creationId xmlns:a16="http://schemas.microsoft.com/office/drawing/2014/main" id="{21A2DA56-0523-4CF1-A967-9BF431ED73B0}"/>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1131692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aph_adv">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9D1D4B0E-F6F4-43E4-AACA-61748B437378}"/>
              </a:ext>
            </a:extLst>
          </p:cNvPr>
          <p:cNvSpPr txBox="1"/>
          <p:nvPr userDrawn="1"/>
        </p:nvSpPr>
        <p:spPr>
          <a:xfrm>
            <a:off x="0" y="0"/>
            <a:ext cx="9144000" cy="685800"/>
          </a:xfrm>
          <a:prstGeom prst="rect">
            <a:avLst/>
          </a:prstGeom>
          <a:solidFill>
            <a:srgbClr val="CBEA46">
              <a:alpha val="47843"/>
            </a:srgbClr>
          </a:solidFill>
        </p:spPr>
        <p:txBody>
          <a:bodyPr vert="horz" wrap="square" lIns="91440" tIns="0" rIns="45720" bIns="0" rtlCol="0" anchor="t">
            <a:normAutofit/>
            <a:scene3d>
              <a:camera prst="orthographicFront"/>
              <a:lightRig rig="threePt" dir="t">
                <a:rot lat="0" lon="0" rev="4800000"/>
              </a:lightRig>
            </a:scene3d>
            <a:sp3d prstMaterial="matte">
              <a:bevelT w="50800" h="10160"/>
            </a:sp3d>
          </a:bodyPr>
          <a:lstStyle/>
          <a:p>
            <a:pPr algn="l"/>
            <a:endParaRPr lang="zh-CN" altLang="en-US" dirty="0"/>
          </a:p>
        </p:txBody>
      </p:sp>
      <p:sp>
        <p:nvSpPr>
          <p:cNvPr id="3" name="Content Placeholder 2"/>
          <p:cNvSpPr>
            <a:spLocks noGrp="1"/>
          </p:cNvSpPr>
          <p:nvPr>
            <p:ph idx="1"/>
          </p:nvPr>
        </p:nvSpPr>
        <p:spPr>
          <a:xfrm>
            <a:off x="152400" y="799513"/>
            <a:ext cx="8839200" cy="1410288"/>
          </a:xfrm>
          <a:ln>
            <a:solidFill>
              <a:schemeClr val="tx2">
                <a:lumMod val="60000"/>
                <a:lumOff val="40000"/>
              </a:schemeClr>
            </a:solidFill>
          </a:ln>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p:txBody>
          <a:bodyPr/>
          <a:lstStyle/>
          <a:p>
            <a:r>
              <a:rPr lang="zh-CN" altLang="en-US" dirty="0"/>
              <a:t>单击此处编辑母版标题样式</a:t>
            </a:r>
          </a:p>
        </p:txBody>
      </p:sp>
      <p:sp>
        <p:nvSpPr>
          <p:cNvPr id="10" name="Date Placeholder 3">
            <a:extLst>
              <a:ext uri="{FF2B5EF4-FFF2-40B4-BE49-F238E27FC236}">
                <a16:creationId xmlns:a16="http://schemas.microsoft.com/office/drawing/2014/main" id="{B13D028F-9B3A-46C5-87AD-424C1ADFC516}"/>
              </a:ext>
            </a:extLst>
          </p:cNvPr>
          <p:cNvSpPr>
            <a:spLocks noGrp="1"/>
          </p:cNvSpPr>
          <p:nvPr>
            <p:ph type="dt" sz="half" idx="2"/>
          </p:nvPr>
        </p:nvSpPr>
        <p:spPr>
          <a:xfrm>
            <a:off x="0" y="6682155"/>
            <a:ext cx="1086919" cy="175844"/>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A19E9758-13AA-4760-B3F1-DC2A29070D6B}" type="datetime1">
              <a:rPr lang="zh-CN" altLang="en-US" smtClean="0"/>
              <a:t>2026/2/5</a:t>
            </a:fld>
            <a:endParaRPr lang="en-US" dirty="0"/>
          </a:p>
        </p:txBody>
      </p:sp>
      <p:sp>
        <p:nvSpPr>
          <p:cNvPr id="12" name="Footer Placeholder 4">
            <a:extLst>
              <a:ext uri="{FF2B5EF4-FFF2-40B4-BE49-F238E27FC236}">
                <a16:creationId xmlns:a16="http://schemas.microsoft.com/office/drawing/2014/main" id="{0F91FAFF-1E91-4F56-8C64-FAF062DD0D3D}"/>
              </a:ext>
            </a:extLst>
          </p:cNvPr>
          <p:cNvSpPr>
            <a:spLocks noGrp="1"/>
          </p:cNvSpPr>
          <p:nvPr>
            <p:ph type="ftr" sz="quarter" idx="3"/>
          </p:nvPr>
        </p:nvSpPr>
        <p:spPr>
          <a:xfrm>
            <a:off x="1163119" y="6682153"/>
            <a:ext cx="6985197" cy="175845"/>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3" name="Slide Number Placeholder 5">
            <a:extLst>
              <a:ext uri="{FF2B5EF4-FFF2-40B4-BE49-F238E27FC236}">
                <a16:creationId xmlns:a16="http://schemas.microsoft.com/office/drawing/2014/main" id="{D5C35377-5920-4386-8AF7-36BBD3CF490B}"/>
              </a:ext>
            </a:extLst>
          </p:cNvPr>
          <p:cNvSpPr>
            <a:spLocks noGrp="1"/>
          </p:cNvSpPr>
          <p:nvPr>
            <p:ph type="sldNum" sz="quarter" idx="4"/>
          </p:nvPr>
        </p:nvSpPr>
        <p:spPr>
          <a:xfrm>
            <a:off x="8204396" y="6682153"/>
            <a:ext cx="634804" cy="175846"/>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7" name="Content Placeholder 2">
            <a:extLst>
              <a:ext uri="{FF2B5EF4-FFF2-40B4-BE49-F238E27FC236}">
                <a16:creationId xmlns:a16="http://schemas.microsoft.com/office/drawing/2014/main" id="{0B4B53AB-2230-44F4-B6E6-14EB609DF47D}"/>
              </a:ext>
            </a:extLst>
          </p:cNvPr>
          <p:cNvSpPr>
            <a:spLocks noGrp="1"/>
          </p:cNvSpPr>
          <p:nvPr>
            <p:ph idx="10"/>
          </p:nvPr>
        </p:nvSpPr>
        <p:spPr>
          <a:xfrm>
            <a:off x="152400" y="2301243"/>
            <a:ext cx="8839200" cy="4328158"/>
          </a:xfrm>
        </p:spPr>
        <p:txBody>
          <a:body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39403373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2212DEF-5BBC-4835-9FB2-FE554440B881}"/>
              </a:ext>
            </a:extLst>
          </p:cNvPr>
          <p:cNvPicPr>
            <a:picLocks noChangeAspect="1"/>
          </p:cNvPicPr>
          <p:nvPr userDrawn="1"/>
        </p:nvPicPr>
        <p:blipFill>
          <a:blip r:embed="rId2"/>
          <a:stretch>
            <a:fillRect/>
          </a:stretch>
        </p:blipFill>
        <p:spPr>
          <a:xfrm>
            <a:off x="-11724" y="685800"/>
            <a:ext cx="9155723" cy="5965872"/>
          </a:xfrm>
          <a:prstGeom prst="rect">
            <a:avLst/>
          </a:prstGeom>
        </p:spPr>
      </p:pic>
      <p:sp>
        <p:nvSpPr>
          <p:cNvPr id="3" name="Content Placeholder 2"/>
          <p:cNvSpPr>
            <a:spLocks noGrp="1"/>
          </p:cNvSpPr>
          <p:nvPr>
            <p:ph idx="1"/>
          </p:nvPr>
        </p:nvSpPr>
        <p:spPr>
          <a:xfrm>
            <a:off x="152400" y="685799"/>
            <a:ext cx="8839200" cy="5965873"/>
          </a:xfrm>
        </p:spPr>
        <p:txBody>
          <a:bodyPr/>
          <a:lstStyle>
            <a:lvl1pPr>
              <a:defRPr>
                <a:solidFill>
                  <a:schemeClr val="bg1"/>
                </a:solidFill>
                <a:effectLst>
                  <a:outerShdw blurRad="38100" dist="38100" dir="2700000" algn="tl">
                    <a:srgbClr val="000000">
                      <a:alpha val="43137"/>
                    </a:srgbClr>
                  </a:outerShdw>
                </a:effectLst>
              </a:defRPr>
            </a:lvl1pPr>
            <a:lvl2pPr>
              <a:defRPr>
                <a:solidFill>
                  <a:schemeClr val="bg1"/>
                </a:solidFill>
                <a:effectLst>
                  <a:outerShdw blurRad="38100" dist="38100" dir="2700000" algn="tl">
                    <a:srgbClr val="000000">
                      <a:alpha val="43137"/>
                    </a:srgbClr>
                  </a:outerShdw>
                </a:effectLst>
              </a:defRPr>
            </a:lvl2pPr>
            <a:lvl3pPr>
              <a:defRPr>
                <a:solidFill>
                  <a:schemeClr val="bg1"/>
                </a:solidFill>
                <a:effectLst>
                  <a:outerShdw blurRad="38100" dist="38100" dir="2700000" algn="tl">
                    <a:srgbClr val="000000">
                      <a:alpha val="43137"/>
                    </a:srgbClr>
                  </a:outerShdw>
                </a:effectLst>
              </a:defRPr>
            </a:lvl3pPr>
            <a:lvl4pPr>
              <a:defRPr>
                <a:solidFill>
                  <a:schemeClr val="bg1"/>
                </a:solidFill>
                <a:effectLst>
                  <a:outerShdw blurRad="38100" dist="38100" dir="2700000" algn="tl">
                    <a:srgbClr val="000000">
                      <a:alpha val="43137"/>
                    </a:srgbClr>
                  </a:outerShdw>
                </a:effectLst>
              </a:defRPr>
            </a:lvl4pPr>
            <a:lvl5pPr>
              <a:defRPr>
                <a:solidFill>
                  <a:schemeClr val="bg1"/>
                </a:solidFill>
                <a:effectLst>
                  <a:outerShdw blurRad="38100" dist="38100" dir="2700000" algn="tl">
                    <a:srgbClr val="000000">
                      <a:alpha val="43137"/>
                    </a:srgbClr>
                  </a:outerShdw>
                </a:effectLst>
              </a:defRPr>
            </a:lvl5p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1" name="标题 10">
            <a:extLst>
              <a:ext uri="{FF2B5EF4-FFF2-40B4-BE49-F238E27FC236}">
                <a16:creationId xmlns:a16="http://schemas.microsoft.com/office/drawing/2014/main" id="{1E886E7E-5553-4E8B-AB28-169753D5470C}"/>
              </a:ext>
            </a:extLst>
          </p:cNvPr>
          <p:cNvSpPr>
            <a:spLocks noGrp="1"/>
          </p:cNvSpPr>
          <p:nvPr>
            <p:ph type="title"/>
          </p:nvPr>
        </p:nvSpPr>
        <p:spPr>
          <a:xfrm>
            <a:off x="152399" y="121920"/>
            <a:ext cx="8839199" cy="487680"/>
          </a:xfrm>
        </p:spPr>
        <p:txBody>
          <a:bodyPr/>
          <a:lstStyle/>
          <a:p>
            <a:r>
              <a:rPr lang="zh-CN" altLang="en-US" dirty="0"/>
              <a:t>单击此处编辑母版标题样式</a:t>
            </a:r>
          </a:p>
        </p:txBody>
      </p:sp>
      <p:sp>
        <p:nvSpPr>
          <p:cNvPr id="8" name="Date Placeholder 3">
            <a:extLst>
              <a:ext uri="{FF2B5EF4-FFF2-40B4-BE49-F238E27FC236}">
                <a16:creationId xmlns:a16="http://schemas.microsoft.com/office/drawing/2014/main" id="{0294E870-FCCB-4935-B60E-1DB226718D56}"/>
              </a:ext>
            </a:extLst>
          </p:cNvPr>
          <p:cNvSpPr>
            <a:spLocks noGrp="1"/>
          </p:cNvSpPr>
          <p:nvPr>
            <p:ph type="dt" sz="half" idx="2"/>
          </p:nvPr>
        </p:nvSpPr>
        <p:spPr>
          <a:xfrm>
            <a:off x="0" y="6651672"/>
            <a:ext cx="1086919" cy="206327"/>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E77F2272-8A05-4C1E-BC06-4AD3A25BD33A}" type="datetime1">
              <a:rPr lang="zh-CN" altLang="en-US" smtClean="0"/>
              <a:t>2026/2/5</a:t>
            </a:fld>
            <a:endParaRPr lang="en-US" dirty="0"/>
          </a:p>
        </p:txBody>
      </p:sp>
      <p:sp>
        <p:nvSpPr>
          <p:cNvPr id="9" name="Footer Placeholder 4">
            <a:extLst>
              <a:ext uri="{FF2B5EF4-FFF2-40B4-BE49-F238E27FC236}">
                <a16:creationId xmlns:a16="http://schemas.microsoft.com/office/drawing/2014/main" id="{D784CD23-8A3F-4F90-B33A-9FA78EB931F6}"/>
              </a:ext>
            </a:extLst>
          </p:cNvPr>
          <p:cNvSpPr>
            <a:spLocks noGrp="1"/>
          </p:cNvSpPr>
          <p:nvPr>
            <p:ph type="ftr" sz="quarter" idx="3"/>
          </p:nvPr>
        </p:nvSpPr>
        <p:spPr>
          <a:xfrm>
            <a:off x="1163119" y="6651673"/>
            <a:ext cx="6985197" cy="206326"/>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0" name="Slide Number Placeholder 5">
            <a:extLst>
              <a:ext uri="{FF2B5EF4-FFF2-40B4-BE49-F238E27FC236}">
                <a16:creationId xmlns:a16="http://schemas.microsoft.com/office/drawing/2014/main" id="{CE5A15C9-5D9E-45E2-A838-D66B4C3EAFE7}"/>
              </a:ext>
            </a:extLst>
          </p:cNvPr>
          <p:cNvSpPr>
            <a:spLocks noGrp="1"/>
          </p:cNvSpPr>
          <p:nvPr>
            <p:ph type="sldNum" sz="quarter" idx="4"/>
          </p:nvPr>
        </p:nvSpPr>
        <p:spPr>
          <a:xfrm>
            <a:off x="8204396" y="6651672"/>
            <a:ext cx="634804" cy="206328"/>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242437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685800"/>
          </a:xfrm>
        </p:spPr>
        <p:txBody>
          <a:bodyPr/>
          <a:lstStyle/>
          <a:p>
            <a:r>
              <a:rPr kumimoji="0" lang="zh-CN" altLang="en-US" dirty="0"/>
              <a:t>单击此处编辑母版标题样式</a:t>
            </a:r>
            <a:endParaRPr kumimoji="0" lang="en-US" dirty="0"/>
          </a:p>
        </p:txBody>
      </p:sp>
      <p:sp>
        <p:nvSpPr>
          <p:cNvPr id="3" name="Content Placeholder 2"/>
          <p:cNvSpPr>
            <a:spLocks noGrp="1"/>
          </p:cNvSpPr>
          <p:nvPr>
            <p:ph sz="half" idx="1"/>
          </p:nvPr>
        </p:nvSpPr>
        <p:spPr>
          <a:xfrm>
            <a:off x="152400" y="761999"/>
            <a:ext cx="4343400" cy="5867401"/>
          </a:xfrm>
        </p:spPr>
        <p:txBody>
          <a:bodyPr lIns="91440">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4" name="Content Placeholder 3"/>
          <p:cNvSpPr>
            <a:spLocks noGrp="1"/>
          </p:cNvSpPr>
          <p:nvPr>
            <p:ph sz="half" idx="2"/>
          </p:nvPr>
        </p:nvSpPr>
        <p:spPr>
          <a:xfrm>
            <a:off x="4572000" y="761999"/>
            <a:ext cx="4419600" cy="5867401"/>
          </a:xfrm>
        </p:spPr>
        <p:txBody>
          <a:bodyPr>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4" name="Date Placeholder 3">
            <a:extLst>
              <a:ext uri="{FF2B5EF4-FFF2-40B4-BE49-F238E27FC236}">
                <a16:creationId xmlns:a16="http://schemas.microsoft.com/office/drawing/2014/main" id="{9F1B35E1-6EDF-462F-A662-CDD3F60A7A14}"/>
              </a:ext>
            </a:extLst>
          </p:cNvPr>
          <p:cNvSpPr>
            <a:spLocks noGrp="1"/>
          </p:cNvSpPr>
          <p:nvPr>
            <p:ph type="dt" sz="half" idx="10"/>
          </p:nvPr>
        </p:nvSpPr>
        <p:spPr>
          <a:xfrm>
            <a:off x="0" y="6705599"/>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99463D0E-52F8-4ED9-B49B-B25C9B6D30B9}" type="datetime1">
              <a:rPr lang="zh-CN" altLang="en-US" smtClean="0"/>
              <a:t>2026/2/5</a:t>
            </a:fld>
            <a:endParaRPr lang="en-US" dirty="0"/>
          </a:p>
        </p:txBody>
      </p:sp>
      <p:sp>
        <p:nvSpPr>
          <p:cNvPr id="15" name="Footer Placeholder 4">
            <a:extLst>
              <a:ext uri="{FF2B5EF4-FFF2-40B4-BE49-F238E27FC236}">
                <a16:creationId xmlns:a16="http://schemas.microsoft.com/office/drawing/2014/main" id="{8BD7ECAF-6D52-4454-B074-B4A902F45152}"/>
              </a:ext>
            </a:extLst>
          </p:cNvPr>
          <p:cNvSpPr>
            <a:spLocks noGrp="1"/>
          </p:cNvSpPr>
          <p:nvPr>
            <p:ph type="ftr" sz="quarter" idx="3"/>
          </p:nvPr>
        </p:nvSpPr>
        <p:spPr>
          <a:xfrm>
            <a:off x="1163119" y="6705599"/>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6" name="Slide Number Placeholder 5">
            <a:extLst>
              <a:ext uri="{FF2B5EF4-FFF2-40B4-BE49-F238E27FC236}">
                <a16:creationId xmlns:a16="http://schemas.microsoft.com/office/drawing/2014/main" id="{FE93DA5B-B1C7-4CF0-9A08-29E8DD0C3907}"/>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21355282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_col_adv">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B72580AE-72C1-4884-B886-497E528232F9}"/>
              </a:ext>
            </a:extLst>
          </p:cNvPr>
          <p:cNvSpPr txBox="1"/>
          <p:nvPr userDrawn="1"/>
        </p:nvSpPr>
        <p:spPr>
          <a:xfrm>
            <a:off x="0" y="0"/>
            <a:ext cx="9144000" cy="685800"/>
          </a:xfrm>
          <a:prstGeom prst="rect">
            <a:avLst/>
          </a:prstGeom>
          <a:solidFill>
            <a:srgbClr val="CBEA46">
              <a:alpha val="47843"/>
            </a:srgbClr>
          </a:solidFill>
        </p:spPr>
        <p:txBody>
          <a:bodyPr vert="horz" wrap="square" lIns="91440" tIns="0" rIns="45720" bIns="0" rtlCol="0" anchor="t">
            <a:normAutofit/>
            <a:scene3d>
              <a:camera prst="orthographicFront"/>
              <a:lightRig rig="threePt" dir="t">
                <a:rot lat="0" lon="0" rev="4800000"/>
              </a:lightRig>
            </a:scene3d>
            <a:sp3d prstMaterial="matte">
              <a:bevelT w="50800" h="10160"/>
            </a:sp3d>
          </a:bodyPr>
          <a:lstStyle/>
          <a:p>
            <a:pPr algn="l"/>
            <a:endParaRPr lang="zh-CN" altLang="en-US" dirty="0"/>
          </a:p>
        </p:txBody>
      </p:sp>
      <p:sp>
        <p:nvSpPr>
          <p:cNvPr id="2" name="Title 1"/>
          <p:cNvSpPr>
            <a:spLocks noGrp="1"/>
          </p:cNvSpPr>
          <p:nvPr>
            <p:ph type="title"/>
          </p:nvPr>
        </p:nvSpPr>
        <p:spPr>
          <a:xfrm>
            <a:off x="76200" y="76200"/>
            <a:ext cx="8991600" cy="533400"/>
          </a:xfrm>
        </p:spPr>
        <p:txBody>
          <a:bodyPr/>
          <a:lstStyle/>
          <a:p>
            <a:r>
              <a:rPr kumimoji="0" lang="zh-CN" altLang="en-US" dirty="0"/>
              <a:t>单击此处编辑母版标题样式</a:t>
            </a:r>
            <a:endParaRPr kumimoji="0" lang="en-US" dirty="0"/>
          </a:p>
        </p:txBody>
      </p:sp>
      <p:sp>
        <p:nvSpPr>
          <p:cNvPr id="14" name="Date Placeholder 3">
            <a:extLst>
              <a:ext uri="{FF2B5EF4-FFF2-40B4-BE49-F238E27FC236}">
                <a16:creationId xmlns:a16="http://schemas.microsoft.com/office/drawing/2014/main" id="{9F1B35E1-6EDF-462F-A662-CDD3F60A7A14}"/>
              </a:ext>
            </a:extLst>
          </p:cNvPr>
          <p:cNvSpPr>
            <a:spLocks noGrp="1"/>
          </p:cNvSpPr>
          <p:nvPr>
            <p:ph type="dt" sz="half" idx="10"/>
          </p:nvPr>
        </p:nvSpPr>
        <p:spPr>
          <a:xfrm>
            <a:off x="0" y="6705599"/>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074D8467-1FB4-4B5D-B9DF-4E2E59176BDE}" type="datetime1">
              <a:rPr lang="zh-CN" altLang="en-US" smtClean="0"/>
              <a:t>2026/2/5</a:t>
            </a:fld>
            <a:endParaRPr lang="en-US" dirty="0"/>
          </a:p>
        </p:txBody>
      </p:sp>
      <p:sp>
        <p:nvSpPr>
          <p:cNvPr id="15" name="Footer Placeholder 4">
            <a:extLst>
              <a:ext uri="{FF2B5EF4-FFF2-40B4-BE49-F238E27FC236}">
                <a16:creationId xmlns:a16="http://schemas.microsoft.com/office/drawing/2014/main" id="{8BD7ECAF-6D52-4454-B074-B4A902F45152}"/>
              </a:ext>
            </a:extLst>
          </p:cNvPr>
          <p:cNvSpPr>
            <a:spLocks noGrp="1"/>
          </p:cNvSpPr>
          <p:nvPr>
            <p:ph type="ftr" sz="quarter" idx="3"/>
          </p:nvPr>
        </p:nvSpPr>
        <p:spPr>
          <a:xfrm>
            <a:off x="1163119" y="6705599"/>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6" name="Slide Number Placeholder 5">
            <a:extLst>
              <a:ext uri="{FF2B5EF4-FFF2-40B4-BE49-F238E27FC236}">
                <a16:creationId xmlns:a16="http://schemas.microsoft.com/office/drawing/2014/main" id="{FE93DA5B-B1C7-4CF0-9A08-29E8DD0C3907}"/>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9" name="Content Placeholder 2">
            <a:extLst>
              <a:ext uri="{FF2B5EF4-FFF2-40B4-BE49-F238E27FC236}">
                <a16:creationId xmlns:a16="http://schemas.microsoft.com/office/drawing/2014/main" id="{2D845F54-4329-42C1-A777-986F21402993}"/>
              </a:ext>
            </a:extLst>
          </p:cNvPr>
          <p:cNvSpPr>
            <a:spLocks noGrp="1"/>
          </p:cNvSpPr>
          <p:nvPr>
            <p:ph sz="half" idx="1"/>
          </p:nvPr>
        </p:nvSpPr>
        <p:spPr>
          <a:xfrm>
            <a:off x="152400" y="761999"/>
            <a:ext cx="4343400" cy="5867401"/>
          </a:xfrm>
        </p:spPr>
        <p:txBody>
          <a:bodyPr lIns="91440">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0" name="Content Placeholder 3">
            <a:extLst>
              <a:ext uri="{FF2B5EF4-FFF2-40B4-BE49-F238E27FC236}">
                <a16:creationId xmlns:a16="http://schemas.microsoft.com/office/drawing/2014/main" id="{95F85011-6BAD-447B-8FF9-E0C5262906CB}"/>
              </a:ext>
            </a:extLst>
          </p:cNvPr>
          <p:cNvSpPr>
            <a:spLocks noGrp="1"/>
          </p:cNvSpPr>
          <p:nvPr>
            <p:ph sz="half" idx="2"/>
          </p:nvPr>
        </p:nvSpPr>
        <p:spPr>
          <a:xfrm>
            <a:off x="4572000" y="761999"/>
            <a:ext cx="4419600" cy="5867401"/>
          </a:xfrm>
        </p:spPr>
        <p:txBody>
          <a:bodyPr>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27352850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686800" cy="685800"/>
          </a:xfrm>
        </p:spPr>
        <p:txBody>
          <a:bodyPr/>
          <a:lstStyle/>
          <a:p>
            <a:r>
              <a:rPr kumimoji="0" lang="zh-CN" altLang="en-US" dirty="0"/>
              <a:t>单击此处编辑母版标题样式</a:t>
            </a:r>
            <a:endParaRPr kumimoji="0" lang="en-US" dirty="0"/>
          </a:p>
        </p:txBody>
      </p:sp>
      <p:sp>
        <p:nvSpPr>
          <p:cNvPr id="3" name="Content Placeholder 2"/>
          <p:cNvSpPr>
            <a:spLocks noGrp="1"/>
          </p:cNvSpPr>
          <p:nvPr>
            <p:ph sz="half" idx="1"/>
          </p:nvPr>
        </p:nvSpPr>
        <p:spPr>
          <a:xfrm>
            <a:off x="228600" y="761999"/>
            <a:ext cx="4267200" cy="2590801"/>
          </a:xfrm>
          <a:ln>
            <a:solidFill>
              <a:schemeClr val="tx2">
                <a:lumMod val="60000"/>
                <a:lumOff val="40000"/>
              </a:schemeClr>
            </a:solidFill>
          </a:ln>
        </p:spPr>
        <p:txBody>
          <a:bodyPr lIns="91440">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4" name="Content Placeholder 3"/>
          <p:cNvSpPr>
            <a:spLocks noGrp="1"/>
          </p:cNvSpPr>
          <p:nvPr>
            <p:ph sz="half" idx="2"/>
          </p:nvPr>
        </p:nvSpPr>
        <p:spPr>
          <a:xfrm>
            <a:off x="4572000" y="761999"/>
            <a:ext cx="4343400" cy="2590801"/>
          </a:xfrm>
          <a:ln>
            <a:solidFill>
              <a:schemeClr val="tx2">
                <a:lumMod val="60000"/>
                <a:lumOff val="40000"/>
              </a:schemeClr>
            </a:solidFill>
          </a:ln>
        </p:spPr>
        <p:txBody>
          <a:bodyPr>
            <a:normAutofit/>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4" name="Date Placeholder 3">
            <a:extLst>
              <a:ext uri="{FF2B5EF4-FFF2-40B4-BE49-F238E27FC236}">
                <a16:creationId xmlns:a16="http://schemas.microsoft.com/office/drawing/2014/main" id="{9F1B35E1-6EDF-462F-A662-CDD3F60A7A14}"/>
              </a:ext>
            </a:extLst>
          </p:cNvPr>
          <p:cNvSpPr>
            <a:spLocks noGrp="1"/>
          </p:cNvSpPr>
          <p:nvPr>
            <p:ph type="dt" sz="half" idx="10"/>
          </p:nvPr>
        </p:nvSpPr>
        <p:spPr>
          <a:xfrm>
            <a:off x="0" y="6705599"/>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17E3DC9F-30BE-4939-9FDC-2F0D0AFC0E64}" type="datetime1">
              <a:rPr lang="zh-CN" altLang="en-US" smtClean="0"/>
              <a:t>2026/2/5</a:t>
            </a:fld>
            <a:endParaRPr lang="en-US" dirty="0"/>
          </a:p>
        </p:txBody>
      </p:sp>
      <p:sp>
        <p:nvSpPr>
          <p:cNvPr id="15" name="Footer Placeholder 4">
            <a:extLst>
              <a:ext uri="{FF2B5EF4-FFF2-40B4-BE49-F238E27FC236}">
                <a16:creationId xmlns:a16="http://schemas.microsoft.com/office/drawing/2014/main" id="{8BD7ECAF-6D52-4454-B074-B4A902F45152}"/>
              </a:ext>
            </a:extLst>
          </p:cNvPr>
          <p:cNvSpPr>
            <a:spLocks noGrp="1"/>
          </p:cNvSpPr>
          <p:nvPr>
            <p:ph type="ftr" sz="quarter" idx="3"/>
          </p:nvPr>
        </p:nvSpPr>
        <p:spPr>
          <a:xfrm>
            <a:off x="1163119" y="6705599"/>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6" name="Slide Number Placeholder 5">
            <a:extLst>
              <a:ext uri="{FF2B5EF4-FFF2-40B4-BE49-F238E27FC236}">
                <a16:creationId xmlns:a16="http://schemas.microsoft.com/office/drawing/2014/main" id="{FE93DA5B-B1C7-4CF0-9A08-29E8DD0C3907}"/>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8" name="Content Placeholder 2">
            <a:extLst>
              <a:ext uri="{FF2B5EF4-FFF2-40B4-BE49-F238E27FC236}">
                <a16:creationId xmlns:a16="http://schemas.microsoft.com/office/drawing/2014/main" id="{8A0AC04D-1B9C-4332-B6F1-A724F436801C}"/>
              </a:ext>
            </a:extLst>
          </p:cNvPr>
          <p:cNvSpPr>
            <a:spLocks noGrp="1"/>
          </p:cNvSpPr>
          <p:nvPr>
            <p:ph idx="11"/>
          </p:nvPr>
        </p:nvSpPr>
        <p:spPr>
          <a:xfrm>
            <a:off x="228600" y="3428999"/>
            <a:ext cx="8686800" cy="3276600"/>
          </a:xfrm>
        </p:spPr>
        <p:txBody>
          <a:bodyPr/>
          <a:lstStyle>
            <a:lvl1pPr>
              <a:defRPr sz="2000"/>
            </a:lvl1pPr>
            <a:lvl2pPr>
              <a:defRPr sz="1800"/>
            </a:lvl2pPr>
            <a:lvl3pPr>
              <a:defRPr sz="1600"/>
            </a:lvl3pPr>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2915353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228599" y="121920"/>
            <a:ext cx="8762999" cy="487680"/>
          </a:xfrm>
        </p:spPr>
        <p:txBody>
          <a:bodyPr/>
          <a:lstStyle>
            <a:lvl1pPr>
              <a:defRPr/>
            </a:lvl1pPr>
            <a:extLst/>
          </a:lstStyle>
          <a:p>
            <a:r>
              <a:rPr kumimoji="0" lang="zh-CN" altLang="en-US"/>
              <a:t>单击此处编辑母版标题样式</a:t>
            </a:r>
            <a:endParaRPr kumimoji="0" lang="en-US"/>
          </a:p>
        </p:txBody>
      </p:sp>
      <p:sp>
        <p:nvSpPr>
          <p:cNvPr id="3" name="Text Placeholder 2"/>
          <p:cNvSpPr>
            <a:spLocks noGrp="1"/>
          </p:cNvSpPr>
          <p:nvPr>
            <p:ph type="body" idx="1"/>
          </p:nvPr>
        </p:nvSpPr>
        <p:spPr>
          <a:xfrm>
            <a:off x="152400" y="762001"/>
            <a:ext cx="4344988" cy="487680"/>
          </a:xfrm>
        </p:spPr>
        <p:txBody>
          <a:bodyPr lIns="146304" anchor="ctr"/>
          <a:lstStyle>
            <a:lvl1pPr marL="0" indent="0">
              <a:buNone/>
              <a:defRPr sz="23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zh-CN" altLang="en-US" dirty="0"/>
              <a:t>单击此处编辑母版文本样式</a:t>
            </a:r>
          </a:p>
        </p:txBody>
      </p:sp>
      <p:sp>
        <p:nvSpPr>
          <p:cNvPr id="4" name="Content Placeholder 3"/>
          <p:cNvSpPr>
            <a:spLocks noGrp="1"/>
          </p:cNvSpPr>
          <p:nvPr>
            <p:ph sz="half" idx="2"/>
          </p:nvPr>
        </p:nvSpPr>
        <p:spPr>
          <a:xfrm>
            <a:off x="152400" y="1325882"/>
            <a:ext cx="4344988" cy="5365063"/>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5" name="Text Placeholder 4"/>
          <p:cNvSpPr>
            <a:spLocks noGrp="1"/>
          </p:cNvSpPr>
          <p:nvPr>
            <p:ph type="body" sz="quarter" idx="3"/>
          </p:nvPr>
        </p:nvSpPr>
        <p:spPr>
          <a:xfrm>
            <a:off x="4568824" y="762001"/>
            <a:ext cx="4422775" cy="487680"/>
          </a:xfrm>
        </p:spPr>
        <p:txBody>
          <a:bodyPr lIns="146304" anchor="ctr"/>
          <a:lstStyle>
            <a:lvl1pPr marL="0" indent="0">
              <a:buNone/>
              <a:defRPr sz="23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zh-CN" altLang="en-US" dirty="0"/>
              <a:t>单击此处编辑母版文本样式</a:t>
            </a:r>
          </a:p>
        </p:txBody>
      </p:sp>
      <p:sp>
        <p:nvSpPr>
          <p:cNvPr id="6" name="Content Placeholder 5"/>
          <p:cNvSpPr>
            <a:spLocks noGrp="1"/>
          </p:cNvSpPr>
          <p:nvPr>
            <p:ph sz="quarter" idx="4"/>
          </p:nvPr>
        </p:nvSpPr>
        <p:spPr>
          <a:xfrm>
            <a:off x="4568825" y="1325881"/>
            <a:ext cx="4422774" cy="5365065"/>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6" name="Date Placeholder 3">
            <a:extLst>
              <a:ext uri="{FF2B5EF4-FFF2-40B4-BE49-F238E27FC236}">
                <a16:creationId xmlns:a16="http://schemas.microsoft.com/office/drawing/2014/main" id="{B19D6002-EED5-45C3-A991-CBCEED341CFF}"/>
              </a:ext>
            </a:extLst>
          </p:cNvPr>
          <p:cNvSpPr>
            <a:spLocks noGrp="1"/>
          </p:cNvSpPr>
          <p:nvPr>
            <p:ph type="dt" sz="half" idx="10"/>
          </p:nvPr>
        </p:nvSpPr>
        <p:spPr>
          <a:xfrm>
            <a:off x="0" y="6690947"/>
            <a:ext cx="1086919" cy="167052"/>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91A8C185-2A5A-49FE-B318-03208F8DA0C2}" type="datetime1">
              <a:rPr lang="zh-CN" altLang="en-US" smtClean="0"/>
              <a:t>2026/2/5</a:t>
            </a:fld>
            <a:endParaRPr lang="en-US" dirty="0"/>
          </a:p>
        </p:txBody>
      </p:sp>
      <p:sp>
        <p:nvSpPr>
          <p:cNvPr id="17" name="Footer Placeholder 4">
            <a:extLst>
              <a:ext uri="{FF2B5EF4-FFF2-40B4-BE49-F238E27FC236}">
                <a16:creationId xmlns:a16="http://schemas.microsoft.com/office/drawing/2014/main" id="{96721612-2F29-4F4C-8E41-5BC083BD14CD}"/>
              </a:ext>
            </a:extLst>
          </p:cNvPr>
          <p:cNvSpPr>
            <a:spLocks noGrp="1"/>
          </p:cNvSpPr>
          <p:nvPr>
            <p:ph type="ftr" sz="quarter" idx="11"/>
          </p:nvPr>
        </p:nvSpPr>
        <p:spPr>
          <a:xfrm>
            <a:off x="1163119" y="6690947"/>
            <a:ext cx="6985197" cy="167052"/>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8" name="Slide Number Placeholder 5">
            <a:extLst>
              <a:ext uri="{FF2B5EF4-FFF2-40B4-BE49-F238E27FC236}">
                <a16:creationId xmlns:a16="http://schemas.microsoft.com/office/drawing/2014/main" id="{1AEAF082-FE6C-4D68-AA14-663F7D64C847}"/>
              </a:ext>
            </a:extLst>
          </p:cNvPr>
          <p:cNvSpPr>
            <a:spLocks noGrp="1"/>
          </p:cNvSpPr>
          <p:nvPr>
            <p:ph type="sldNum" sz="quarter" idx="12"/>
          </p:nvPr>
        </p:nvSpPr>
        <p:spPr>
          <a:xfrm>
            <a:off x="8204396" y="6690946"/>
            <a:ext cx="634804" cy="167053"/>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23731417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zh-CN" altLang="en-US"/>
              <a:t>单击此处编辑母版标题样式</a:t>
            </a:r>
            <a:endParaRPr kumimoji="0" lang="en-US"/>
          </a:p>
        </p:txBody>
      </p:sp>
      <p:sp>
        <p:nvSpPr>
          <p:cNvPr id="12" name="Date Placeholder 3">
            <a:extLst>
              <a:ext uri="{FF2B5EF4-FFF2-40B4-BE49-F238E27FC236}">
                <a16:creationId xmlns:a16="http://schemas.microsoft.com/office/drawing/2014/main" id="{4F77BA80-9B17-4F89-A292-FC6C3D3563A6}"/>
              </a:ext>
            </a:extLst>
          </p:cNvPr>
          <p:cNvSpPr>
            <a:spLocks noGrp="1"/>
          </p:cNvSpPr>
          <p:nvPr>
            <p:ph type="dt" sz="half" idx="2"/>
          </p:nvPr>
        </p:nvSpPr>
        <p:spPr>
          <a:xfrm>
            <a:off x="0" y="6705600"/>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8F84AF55-4BAF-40E3-A93B-EDD214E3FFEE}" type="datetime1">
              <a:rPr lang="zh-CN" altLang="en-US" smtClean="0"/>
              <a:t>2026/2/5</a:t>
            </a:fld>
            <a:endParaRPr lang="en-US" dirty="0"/>
          </a:p>
        </p:txBody>
      </p:sp>
      <p:sp>
        <p:nvSpPr>
          <p:cNvPr id="13" name="Footer Placeholder 4">
            <a:extLst>
              <a:ext uri="{FF2B5EF4-FFF2-40B4-BE49-F238E27FC236}">
                <a16:creationId xmlns:a16="http://schemas.microsoft.com/office/drawing/2014/main" id="{E0491854-03CF-48AF-ABB8-2AFE49754042}"/>
              </a:ext>
            </a:extLst>
          </p:cNvPr>
          <p:cNvSpPr>
            <a:spLocks noGrp="1"/>
          </p:cNvSpPr>
          <p:nvPr>
            <p:ph type="ftr" sz="quarter" idx="3"/>
          </p:nvPr>
        </p:nvSpPr>
        <p:spPr>
          <a:xfrm>
            <a:off x="1163119" y="6705600"/>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4" name="Slide Number Placeholder 5">
            <a:extLst>
              <a:ext uri="{FF2B5EF4-FFF2-40B4-BE49-F238E27FC236}">
                <a16:creationId xmlns:a16="http://schemas.microsoft.com/office/drawing/2014/main" id="{E10AF250-A6BF-40FC-9461-E9B6CA9E9836}"/>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3804419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1" name="Date Placeholder 3">
            <a:extLst>
              <a:ext uri="{FF2B5EF4-FFF2-40B4-BE49-F238E27FC236}">
                <a16:creationId xmlns:a16="http://schemas.microsoft.com/office/drawing/2014/main" id="{617913B2-B352-4EDD-B14D-A0C1BF700FB6}"/>
              </a:ext>
            </a:extLst>
          </p:cNvPr>
          <p:cNvSpPr>
            <a:spLocks noGrp="1"/>
          </p:cNvSpPr>
          <p:nvPr>
            <p:ph type="dt" sz="half" idx="2"/>
          </p:nvPr>
        </p:nvSpPr>
        <p:spPr>
          <a:xfrm>
            <a:off x="0" y="6705599"/>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10A2996F-7936-4FCF-AFAF-AB4E8B928A3D}" type="datetime1">
              <a:rPr lang="zh-CN" altLang="en-US" smtClean="0"/>
              <a:t>2026/2/5</a:t>
            </a:fld>
            <a:endParaRPr lang="en-US" dirty="0"/>
          </a:p>
        </p:txBody>
      </p:sp>
      <p:sp>
        <p:nvSpPr>
          <p:cNvPr id="12" name="Footer Placeholder 4">
            <a:extLst>
              <a:ext uri="{FF2B5EF4-FFF2-40B4-BE49-F238E27FC236}">
                <a16:creationId xmlns:a16="http://schemas.microsoft.com/office/drawing/2014/main" id="{C3BD3ED7-C182-48DF-9895-70881835219C}"/>
              </a:ext>
            </a:extLst>
          </p:cNvPr>
          <p:cNvSpPr>
            <a:spLocks noGrp="1"/>
          </p:cNvSpPr>
          <p:nvPr>
            <p:ph type="ftr" sz="quarter" idx="3"/>
          </p:nvPr>
        </p:nvSpPr>
        <p:spPr>
          <a:xfrm>
            <a:off x="1163119" y="6705599"/>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3" name="Slide Number Placeholder 5">
            <a:extLst>
              <a:ext uri="{FF2B5EF4-FFF2-40B4-BE49-F238E27FC236}">
                <a16:creationId xmlns:a16="http://schemas.microsoft.com/office/drawing/2014/main" id="{1D096C29-9A75-44E8-A9FA-70CA1E1CE3E4}"/>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pic>
        <p:nvPicPr>
          <p:cNvPr id="14" name="图片 13">
            <a:extLst>
              <a:ext uri="{FF2B5EF4-FFF2-40B4-BE49-F238E27FC236}">
                <a16:creationId xmlns:a16="http://schemas.microsoft.com/office/drawing/2014/main" id="{842CCBB6-6DFA-43A3-95C3-BE1465F19C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15400" y="6705600"/>
            <a:ext cx="228599" cy="152400"/>
          </a:xfrm>
          <a:prstGeom prst="rect">
            <a:avLst/>
          </a:prstGeom>
        </p:spPr>
      </p:pic>
    </p:spTree>
    <p:extLst>
      <p:ext uri="{BB962C8B-B14F-4D97-AF65-F5344CB8AC3E}">
        <p14:creationId xmlns:p14="http://schemas.microsoft.com/office/powerpoint/2010/main" val="3843617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1921" y="0"/>
            <a:ext cx="2706820" cy="609600"/>
          </a:xfrm>
        </p:spPr>
        <p:txBody>
          <a:bodyPr vert="horz" lIns="73152" rIns="45720" bIns="0" rtlCol="0" anchor="b">
            <a:normAutofit/>
            <a:sp3d prstMaterial="matte"/>
          </a:bodyPr>
          <a:lstStyle>
            <a:lvl1pPr algn="l">
              <a:defRPr sz="2000" b="0"/>
            </a:lvl1pPr>
            <a:extLst/>
          </a:lstStyle>
          <a:p>
            <a:r>
              <a:rPr kumimoji="0" lang="zh-CN" altLang="en-US"/>
              <a:t>单击此处编辑母版标题样式</a:t>
            </a:r>
            <a:endParaRPr kumimoji="0" lang="en-US"/>
          </a:p>
        </p:txBody>
      </p:sp>
      <p:sp>
        <p:nvSpPr>
          <p:cNvPr id="3" name="Content Placeholder 2"/>
          <p:cNvSpPr>
            <a:spLocks noGrp="1"/>
          </p:cNvSpPr>
          <p:nvPr>
            <p:ph idx="1"/>
          </p:nvPr>
        </p:nvSpPr>
        <p:spPr>
          <a:xfrm>
            <a:off x="2928453" y="762001"/>
            <a:ext cx="6093626" cy="5867399"/>
          </a:xfrm>
        </p:spPr>
        <p:txBody>
          <a:bodyPr>
            <a:normAutofit/>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4" name="Text Placeholder 3"/>
          <p:cNvSpPr>
            <a:spLocks noGrp="1"/>
          </p:cNvSpPr>
          <p:nvPr>
            <p:ph type="body" sz="half" idx="2"/>
          </p:nvPr>
        </p:nvSpPr>
        <p:spPr>
          <a:xfrm>
            <a:off x="121921" y="762001"/>
            <a:ext cx="2706820" cy="58674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zh-CN" altLang="en-US"/>
              <a:t>单击此处编辑母版文本样式</a:t>
            </a:r>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3" name="Date Placeholder 3">
            <a:extLst>
              <a:ext uri="{FF2B5EF4-FFF2-40B4-BE49-F238E27FC236}">
                <a16:creationId xmlns:a16="http://schemas.microsoft.com/office/drawing/2014/main" id="{A50E51A5-91BC-4E41-9192-7B5BB9EF99ED}"/>
              </a:ext>
            </a:extLst>
          </p:cNvPr>
          <p:cNvSpPr>
            <a:spLocks noGrp="1"/>
          </p:cNvSpPr>
          <p:nvPr>
            <p:ph type="dt" sz="half" idx="10"/>
          </p:nvPr>
        </p:nvSpPr>
        <p:spPr>
          <a:xfrm>
            <a:off x="0" y="6705599"/>
            <a:ext cx="1086919" cy="15240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F5B3E717-403F-4E11-BC75-E52879103B23}" type="datetime1">
              <a:rPr lang="zh-CN" altLang="en-US" smtClean="0"/>
              <a:t>2026/2/5</a:t>
            </a:fld>
            <a:endParaRPr lang="en-US" dirty="0"/>
          </a:p>
        </p:txBody>
      </p:sp>
      <p:sp>
        <p:nvSpPr>
          <p:cNvPr id="14" name="Footer Placeholder 4">
            <a:extLst>
              <a:ext uri="{FF2B5EF4-FFF2-40B4-BE49-F238E27FC236}">
                <a16:creationId xmlns:a16="http://schemas.microsoft.com/office/drawing/2014/main" id="{92DAF74D-F313-4BC8-BF98-278CF5EA94FB}"/>
              </a:ext>
            </a:extLst>
          </p:cNvPr>
          <p:cNvSpPr>
            <a:spLocks noGrp="1"/>
          </p:cNvSpPr>
          <p:nvPr>
            <p:ph type="ftr" sz="quarter" idx="3"/>
          </p:nvPr>
        </p:nvSpPr>
        <p:spPr>
          <a:xfrm>
            <a:off x="1163119" y="6705599"/>
            <a:ext cx="6985197" cy="152399"/>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5" name="Slide Number Placeholder 5">
            <a:extLst>
              <a:ext uri="{FF2B5EF4-FFF2-40B4-BE49-F238E27FC236}">
                <a16:creationId xmlns:a16="http://schemas.microsoft.com/office/drawing/2014/main" id="{59E6C1A4-EF7C-4CF2-A5BF-F40B6FA6AF5C}"/>
              </a:ext>
            </a:extLst>
          </p:cNvPr>
          <p:cNvSpPr>
            <a:spLocks noGrp="1"/>
          </p:cNvSpPr>
          <p:nvPr>
            <p:ph type="sldNum" sz="quarter" idx="4"/>
          </p:nvPr>
        </p:nvSpPr>
        <p:spPr>
          <a:xfrm>
            <a:off x="8204396" y="6705600"/>
            <a:ext cx="634804" cy="1524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3294789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与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 y="79248"/>
            <a:ext cx="2727960" cy="606552"/>
          </a:xfrm>
        </p:spPr>
        <p:txBody>
          <a:bodyPr lIns="73152" bIns="0" anchor="b">
            <a:sp3d prstMaterial="matte"/>
          </a:bodyPr>
          <a:lstStyle>
            <a:lvl1pPr algn="l">
              <a:defRPr sz="2000" b="0"/>
            </a:lvl1pPr>
            <a:extLst/>
          </a:lstStyle>
          <a:p>
            <a:r>
              <a:rPr kumimoji="0" lang="zh-CN" altLang="en-US"/>
              <a:t>单击此处编辑母版标题样式</a:t>
            </a:r>
            <a:endParaRPr kumimoji="0" lang="en-US"/>
          </a:p>
        </p:txBody>
      </p:sp>
      <p:sp>
        <p:nvSpPr>
          <p:cNvPr id="4" name="Text Placeholder 3"/>
          <p:cNvSpPr>
            <a:spLocks noGrp="1"/>
          </p:cNvSpPr>
          <p:nvPr>
            <p:ph type="body" sz="half" idx="2"/>
          </p:nvPr>
        </p:nvSpPr>
        <p:spPr>
          <a:xfrm>
            <a:off x="91440" y="762001"/>
            <a:ext cx="2727960" cy="586739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zh-CN" altLang="en-US"/>
              <a:t>单击此处编辑母版文本样式</a:t>
            </a: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3" name="Date Placeholder 3">
            <a:extLst>
              <a:ext uri="{FF2B5EF4-FFF2-40B4-BE49-F238E27FC236}">
                <a16:creationId xmlns:a16="http://schemas.microsoft.com/office/drawing/2014/main" id="{85030790-958A-4823-8094-EA878C1DBC67}"/>
              </a:ext>
            </a:extLst>
          </p:cNvPr>
          <p:cNvSpPr>
            <a:spLocks noGrp="1"/>
          </p:cNvSpPr>
          <p:nvPr>
            <p:ph type="dt" sz="half" idx="10"/>
          </p:nvPr>
        </p:nvSpPr>
        <p:spPr>
          <a:xfrm>
            <a:off x="0" y="6702551"/>
            <a:ext cx="1086919" cy="155448"/>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DA1C44A9-B056-434F-9301-D7DE911B64AF}" type="datetime1">
              <a:rPr lang="zh-CN" altLang="en-US" smtClean="0"/>
              <a:t>2026/2/5</a:t>
            </a:fld>
            <a:endParaRPr lang="en-US" dirty="0"/>
          </a:p>
        </p:txBody>
      </p:sp>
      <p:sp>
        <p:nvSpPr>
          <p:cNvPr id="14" name="Footer Placeholder 4">
            <a:extLst>
              <a:ext uri="{FF2B5EF4-FFF2-40B4-BE49-F238E27FC236}">
                <a16:creationId xmlns:a16="http://schemas.microsoft.com/office/drawing/2014/main" id="{2905BD07-2E0A-48C6-91D0-C5B0358C539D}"/>
              </a:ext>
            </a:extLst>
          </p:cNvPr>
          <p:cNvSpPr>
            <a:spLocks noGrp="1"/>
          </p:cNvSpPr>
          <p:nvPr>
            <p:ph type="ftr" sz="quarter" idx="3"/>
          </p:nvPr>
        </p:nvSpPr>
        <p:spPr>
          <a:xfrm>
            <a:off x="1163119" y="6702551"/>
            <a:ext cx="6985197" cy="155447"/>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5" name="Slide Number Placeholder 5">
            <a:extLst>
              <a:ext uri="{FF2B5EF4-FFF2-40B4-BE49-F238E27FC236}">
                <a16:creationId xmlns:a16="http://schemas.microsoft.com/office/drawing/2014/main" id="{4F8B8E25-39B4-4B9B-B63F-BA8D85402939}"/>
              </a:ext>
            </a:extLst>
          </p:cNvPr>
          <p:cNvSpPr>
            <a:spLocks noGrp="1"/>
          </p:cNvSpPr>
          <p:nvPr>
            <p:ph type="sldNum" sz="quarter" idx="4"/>
          </p:nvPr>
        </p:nvSpPr>
        <p:spPr>
          <a:xfrm>
            <a:off x="8204396" y="6702552"/>
            <a:ext cx="634804" cy="155448"/>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
        <p:nvSpPr>
          <p:cNvPr id="10" name="Content Placeholder 2">
            <a:extLst>
              <a:ext uri="{FF2B5EF4-FFF2-40B4-BE49-F238E27FC236}">
                <a16:creationId xmlns:a16="http://schemas.microsoft.com/office/drawing/2014/main" id="{AD097E31-F9A3-46C2-9200-0F34F013D891}"/>
              </a:ext>
            </a:extLst>
          </p:cNvPr>
          <p:cNvSpPr>
            <a:spLocks noGrp="1"/>
          </p:cNvSpPr>
          <p:nvPr>
            <p:ph idx="1"/>
          </p:nvPr>
        </p:nvSpPr>
        <p:spPr>
          <a:xfrm>
            <a:off x="2928453" y="762001"/>
            <a:ext cx="6093626" cy="5867399"/>
          </a:xfrm>
        </p:spPr>
        <p:txBody>
          <a:bodyPr>
            <a:normAutofit/>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extLs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Tree>
    <p:extLst>
      <p:ext uri="{BB962C8B-B14F-4D97-AF65-F5344CB8AC3E}">
        <p14:creationId xmlns:p14="http://schemas.microsoft.com/office/powerpoint/2010/main" val="35096521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152399" y="121920"/>
            <a:ext cx="8839199" cy="487680"/>
          </a:xfrm>
        </p:spPr>
        <p:txBody>
          <a:bodyPr/>
          <a:lstStyle/>
          <a:p>
            <a:r>
              <a:rPr kumimoji="0" lang="zh-CN" altLang="en-US"/>
              <a:t>单击此处编辑母版标题样式</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zh-CN" altLang="en-US" dirty="0"/>
              <a:t>单击此处编辑母版文本样式</a:t>
            </a:r>
          </a:p>
          <a:p>
            <a:pPr lvl="1" eaLnBrk="1" latinLnBrk="0" hangingPunct="1"/>
            <a:r>
              <a:rPr lang="zh-CN" altLang="en-US" dirty="0"/>
              <a:t>二级</a:t>
            </a:r>
          </a:p>
          <a:p>
            <a:pPr lvl="2" eaLnBrk="1" latinLnBrk="0" hangingPunct="1"/>
            <a:r>
              <a:rPr lang="zh-CN" altLang="en-US" dirty="0"/>
              <a:t>三级</a:t>
            </a:r>
          </a:p>
          <a:p>
            <a:pPr lvl="3" eaLnBrk="1" latinLnBrk="0" hangingPunct="1"/>
            <a:r>
              <a:rPr lang="zh-CN" altLang="en-US" dirty="0"/>
              <a:t>四级</a:t>
            </a:r>
          </a:p>
          <a:p>
            <a:pPr lvl="4" eaLnBrk="1" latinLnBrk="0" hangingPunct="1"/>
            <a:r>
              <a:rPr lang="zh-CN" altLang="en-US" dirty="0"/>
              <a:t>五级</a:t>
            </a:r>
            <a:endParaRPr kumimoji="0" lang="en-US" dirty="0"/>
          </a:p>
        </p:txBody>
      </p:sp>
      <p:sp>
        <p:nvSpPr>
          <p:cNvPr id="10" name="Date Placeholder 3">
            <a:extLst>
              <a:ext uri="{FF2B5EF4-FFF2-40B4-BE49-F238E27FC236}">
                <a16:creationId xmlns:a16="http://schemas.microsoft.com/office/drawing/2014/main" id="{61E44C86-FCEA-42C9-A98C-8FAC1EFC7F35}"/>
              </a:ext>
            </a:extLst>
          </p:cNvPr>
          <p:cNvSpPr>
            <a:spLocks noGrp="1"/>
          </p:cNvSpPr>
          <p:nvPr>
            <p:ph type="dt" sz="half" idx="2"/>
          </p:nvPr>
        </p:nvSpPr>
        <p:spPr>
          <a:xfrm>
            <a:off x="0" y="6629400"/>
            <a:ext cx="1086919" cy="228599"/>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8A88980F-B1F6-40FD-A34E-2CA57E2E5F1D}" type="datetime1">
              <a:rPr lang="zh-CN" altLang="en-US" smtClean="0"/>
              <a:t>2026/2/5</a:t>
            </a:fld>
            <a:endParaRPr lang="en-US" dirty="0"/>
          </a:p>
        </p:txBody>
      </p:sp>
      <p:sp>
        <p:nvSpPr>
          <p:cNvPr id="11" name="Footer Placeholder 4">
            <a:extLst>
              <a:ext uri="{FF2B5EF4-FFF2-40B4-BE49-F238E27FC236}">
                <a16:creationId xmlns:a16="http://schemas.microsoft.com/office/drawing/2014/main" id="{52F4759B-43A6-44A0-88D7-BC894D93C7E0}"/>
              </a:ext>
            </a:extLst>
          </p:cNvPr>
          <p:cNvSpPr>
            <a:spLocks noGrp="1"/>
          </p:cNvSpPr>
          <p:nvPr>
            <p:ph type="ftr" sz="quarter" idx="3"/>
          </p:nvPr>
        </p:nvSpPr>
        <p:spPr>
          <a:xfrm>
            <a:off x="1163119" y="6629401"/>
            <a:ext cx="6985197" cy="228598"/>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2" name="Slide Number Placeholder 5">
            <a:extLst>
              <a:ext uri="{FF2B5EF4-FFF2-40B4-BE49-F238E27FC236}">
                <a16:creationId xmlns:a16="http://schemas.microsoft.com/office/drawing/2014/main" id="{9853401B-2193-460D-86E1-5E1600D772BE}"/>
              </a:ext>
            </a:extLst>
          </p:cNvPr>
          <p:cNvSpPr>
            <a:spLocks noGrp="1"/>
          </p:cNvSpPr>
          <p:nvPr>
            <p:ph type="sldNum" sz="quarter" idx="4"/>
          </p:nvPr>
        </p:nvSpPr>
        <p:spPr>
          <a:xfrm>
            <a:off x="8204396" y="6629400"/>
            <a:ext cx="634804" cy="2286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33112262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76200"/>
            <a:ext cx="2209800" cy="6477000"/>
          </a:xfrm>
        </p:spPr>
        <p:txBody>
          <a:bodyPr vert="eaVert"/>
          <a:lstStyle/>
          <a:p>
            <a:r>
              <a:rPr kumimoji="0" lang="zh-CN" altLang="en-US" dirty="0"/>
              <a:t>单击此处编辑母版标题样式</a:t>
            </a:r>
            <a:endParaRPr kumimoji="0" lang="en-US" dirty="0"/>
          </a:p>
        </p:txBody>
      </p:sp>
      <p:sp>
        <p:nvSpPr>
          <p:cNvPr id="3" name="Vertical Text Placeholder 2"/>
          <p:cNvSpPr>
            <a:spLocks noGrp="1"/>
          </p:cNvSpPr>
          <p:nvPr>
            <p:ph type="body" orient="vert" idx="1"/>
          </p:nvPr>
        </p:nvSpPr>
        <p:spPr>
          <a:xfrm>
            <a:off x="152400" y="76200"/>
            <a:ext cx="6324600" cy="6477000"/>
          </a:xfrm>
        </p:spPr>
        <p:txBody>
          <a:bodyPr vert="eaVert"/>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2" name="Date Placeholder 3">
            <a:extLst>
              <a:ext uri="{FF2B5EF4-FFF2-40B4-BE49-F238E27FC236}">
                <a16:creationId xmlns:a16="http://schemas.microsoft.com/office/drawing/2014/main" id="{DCC0117A-A8F8-4FDD-B8B8-7DEC9BAA3B55}"/>
              </a:ext>
            </a:extLst>
          </p:cNvPr>
          <p:cNvSpPr>
            <a:spLocks noGrp="1"/>
          </p:cNvSpPr>
          <p:nvPr>
            <p:ph type="dt" sz="half" idx="2"/>
          </p:nvPr>
        </p:nvSpPr>
        <p:spPr>
          <a:xfrm>
            <a:off x="0" y="6629400"/>
            <a:ext cx="1086919" cy="228599"/>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850BDB4F-E22B-4471-8F93-9DE49B45ABFF}" type="datetime1">
              <a:rPr lang="zh-CN" altLang="en-US" smtClean="0"/>
              <a:t>2026/2/5</a:t>
            </a:fld>
            <a:endParaRPr lang="en-US" dirty="0"/>
          </a:p>
        </p:txBody>
      </p:sp>
      <p:sp>
        <p:nvSpPr>
          <p:cNvPr id="13" name="Footer Placeholder 4">
            <a:extLst>
              <a:ext uri="{FF2B5EF4-FFF2-40B4-BE49-F238E27FC236}">
                <a16:creationId xmlns:a16="http://schemas.microsoft.com/office/drawing/2014/main" id="{9075B8B0-690C-464D-935F-3D2E6517ACAE}"/>
              </a:ext>
            </a:extLst>
          </p:cNvPr>
          <p:cNvSpPr>
            <a:spLocks noGrp="1"/>
          </p:cNvSpPr>
          <p:nvPr>
            <p:ph type="ftr" sz="quarter" idx="3"/>
          </p:nvPr>
        </p:nvSpPr>
        <p:spPr>
          <a:xfrm>
            <a:off x="1163119" y="6629401"/>
            <a:ext cx="6985197" cy="228598"/>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14" name="Slide Number Placeholder 5">
            <a:extLst>
              <a:ext uri="{FF2B5EF4-FFF2-40B4-BE49-F238E27FC236}">
                <a16:creationId xmlns:a16="http://schemas.microsoft.com/office/drawing/2014/main" id="{4E4437AD-A04C-4DC9-83DD-67E7842C9EE2}"/>
              </a:ext>
            </a:extLst>
          </p:cNvPr>
          <p:cNvSpPr>
            <a:spLocks noGrp="1"/>
          </p:cNvSpPr>
          <p:nvPr>
            <p:ph type="sldNum" sz="quarter" idx="4"/>
          </p:nvPr>
        </p:nvSpPr>
        <p:spPr>
          <a:xfrm>
            <a:off x="8204396" y="6629400"/>
            <a:ext cx="634804" cy="22860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spTree>
    <p:extLst>
      <p:ext uri="{BB962C8B-B14F-4D97-AF65-F5344CB8AC3E}">
        <p14:creationId xmlns:p14="http://schemas.microsoft.com/office/powerpoint/2010/main" val="26623403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Title Slide">
    <p:bg>
      <p:bgRef idx="1002">
        <a:schemeClr val="bg2"/>
      </p:bgRef>
    </p:bg>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9AEA5317-B78D-4B41-B9D2-6C2E4E2046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9144000" cy="6091712"/>
          </a:xfrm>
          <a:prstGeom prst="rect">
            <a:avLst/>
          </a:prstGeom>
        </p:spPr>
      </p:pic>
      <p:sp>
        <p:nvSpPr>
          <p:cNvPr id="2" name="Title 1"/>
          <p:cNvSpPr>
            <a:spLocks noGrp="1"/>
          </p:cNvSpPr>
          <p:nvPr>
            <p:ph type="ctrTitle"/>
          </p:nvPr>
        </p:nvSpPr>
        <p:spPr>
          <a:xfrm>
            <a:off x="305540" y="5023334"/>
            <a:ext cx="8077200" cy="106251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dirty="0"/>
              <a:t>Click to edit Master title style</a:t>
            </a:r>
          </a:p>
        </p:txBody>
      </p:sp>
      <p:sp>
        <p:nvSpPr>
          <p:cNvPr id="3" name="Subtitle 2"/>
          <p:cNvSpPr>
            <a:spLocks noGrp="1"/>
          </p:cNvSpPr>
          <p:nvPr>
            <p:ph type="subTitle" idx="1"/>
          </p:nvPr>
        </p:nvSpPr>
        <p:spPr>
          <a:xfrm>
            <a:off x="304800" y="6096000"/>
            <a:ext cx="8077200" cy="533400"/>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dirty="0"/>
              <a:t>Click to edit Master subtitle style</a:t>
            </a:r>
          </a:p>
        </p:txBody>
      </p:sp>
    </p:spTree>
    <p:extLst>
      <p:ext uri="{BB962C8B-B14F-4D97-AF65-F5344CB8AC3E}">
        <p14:creationId xmlns:p14="http://schemas.microsoft.com/office/powerpoint/2010/main" val="267197121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68580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3"/>
            <a:ext cx="9143999" cy="670557"/>
          </a:xfrm>
          <a:prstGeom prst="rect">
            <a:avLst/>
          </a:prstGeom>
          <a:solidFill>
            <a:schemeClr val="tx2">
              <a:lumMod val="60000"/>
              <a:lumOff val="40000"/>
            </a:schemeClr>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228600" y="121920"/>
            <a:ext cx="8686800" cy="487680"/>
          </a:xfrm>
          <a:prstGeom prst="rect">
            <a:avLst/>
          </a:prstGeom>
        </p:spPr>
        <p:txBody>
          <a:bodyPr vert="horz" lIns="91440" rIns="45720" rtlCol="0" anchor="ctr">
            <a:noAutofit/>
            <a:scene3d>
              <a:camera prst="orthographicFront"/>
              <a:lightRig rig="threePt" dir="t">
                <a:rot lat="0" lon="0" rev="4800000"/>
              </a:lightRig>
            </a:scene3d>
            <a:sp3d prstMaterial="matte">
              <a:bevelT w="50800" h="10160"/>
            </a:sp3d>
          </a:bodyPr>
          <a:lstStyle/>
          <a:p>
            <a:r>
              <a:rPr kumimoji="0" lang="zh-CN" altLang="en-US" dirty="0"/>
              <a:t>单击此处编辑母版标题样式</a:t>
            </a:r>
            <a:endParaRPr kumimoji="0" lang="en-US" dirty="0"/>
          </a:p>
        </p:txBody>
      </p:sp>
      <p:sp>
        <p:nvSpPr>
          <p:cNvPr id="3" name="Text Placeholder 2"/>
          <p:cNvSpPr>
            <a:spLocks noGrp="1"/>
          </p:cNvSpPr>
          <p:nvPr>
            <p:ph type="body" idx="1"/>
          </p:nvPr>
        </p:nvSpPr>
        <p:spPr>
          <a:xfrm>
            <a:off x="152400" y="792478"/>
            <a:ext cx="8839200" cy="5882642"/>
          </a:xfrm>
          <a:prstGeom prst="rect">
            <a:avLst/>
          </a:prstGeom>
        </p:spPr>
        <p:txBody>
          <a:bodyPr vert="horz" lIns="54864" tIns="91440" rtlCol="0">
            <a:normAutofit/>
          </a:bodyPr>
          <a:lstStyle/>
          <a:p>
            <a:pPr lvl="0" eaLnBrk="1" latinLnBrk="0" hangingPunct="1"/>
            <a:r>
              <a:rPr kumimoji="0" lang="zh-CN" altLang="en-US" dirty="0"/>
              <a:t>单击此处编辑母版文本样式</a:t>
            </a:r>
          </a:p>
          <a:p>
            <a:pPr lvl="1" eaLnBrk="1" latinLnBrk="0" hangingPunct="1"/>
            <a:r>
              <a:rPr kumimoji="0" lang="zh-CN" altLang="en-US" dirty="0"/>
              <a:t>二级</a:t>
            </a:r>
          </a:p>
          <a:p>
            <a:pPr lvl="2" eaLnBrk="1" latinLnBrk="0" hangingPunct="1"/>
            <a:r>
              <a:rPr kumimoji="0" lang="zh-CN" altLang="en-US" dirty="0"/>
              <a:t>三级</a:t>
            </a:r>
          </a:p>
          <a:p>
            <a:pPr lvl="3" eaLnBrk="1" latinLnBrk="0" hangingPunct="1"/>
            <a:r>
              <a:rPr kumimoji="0" lang="zh-CN" altLang="en-US" dirty="0"/>
              <a:t>四级</a:t>
            </a:r>
          </a:p>
          <a:p>
            <a:pPr lvl="4" eaLnBrk="1" latinLnBrk="0" hangingPunct="1"/>
            <a:r>
              <a:rPr kumimoji="0" lang="zh-CN" altLang="en-US" dirty="0"/>
              <a:t>五级</a:t>
            </a:r>
            <a:endParaRPr kumimoji="0" lang="en-US" dirty="0"/>
          </a:p>
        </p:txBody>
      </p:sp>
      <p:sp>
        <p:nvSpPr>
          <p:cNvPr id="4" name="Date Placeholder 3"/>
          <p:cNvSpPr>
            <a:spLocks noGrp="1"/>
          </p:cNvSpPr>
          <p:nvPr>
            <p:ph type="dt" sz="half" idx="2"/>
          </p:nvPr>
        </p:nvSpPr>
        <p:spPr>
          <a:xfrm>
            <a:off x="0" y="6682153"/>
            <a:ext cx="1086919" cy="175846"/>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51231CA0-7848-45F4-B7AA-6C371A4CF7AE}" type="datetime1">
              <a:rPr lang="zh-CN" altLang="en-US" smtClean="0"/>
              <a:t>2026/2/5</a:t>
            </a:fld>
            <a:endParaRPr lang="en-US" dirty="0"/>
          </a:p>
        </p:txBody>
      </p:sp>
      <p:sp>
        <p:nvSpPr>
          <p:cNvPr id="5" name="Footer Placeholder 4"/>
          <p:cNvSpPr>
            <a:spLocks noGrp="1"/>
          </p:cNvSpPr>
          <p:nvPr>
            <p:ph type="ftr" sz="quarter" idx="3"/>
          </p:nvPr>
        </p:nvSpPr>
        <p:spPr>
          <a:xfrm>
            <a:off x="1163119" y="6682153"/>
            <a:ext cx="6985197" cy="175845"/>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pPr algn="ctr"/>
            <a:r>
              <a:rPr lang="zh-CN" altLang="en-US"/>
              <a:t>趙友兵 </a:t>
            </a:r>
            <a:r>
              <a:rPr lang="en-US" altLang="zh-CN"/>
              <a:t>DeepJava</a:t>
            </a:r>
            <a:endParaRPr lang="en-US" dirty="0"/>
          </a:p>
        </p:txBody>
      </p:sp>
      <p:sp>
        <p:nvSpPr>
          <p:cNvPr id="6" name="Slide Number Placeholder 5"/>
          <p:cNvSpPr>
            <a:spLocks noGrp="1"/>
          </p:cNvSpPr>
          <p:nvPr>
            <p:ph type="sldNum" sz="quarter" idx="4"/>
          </p:nvPr>
        </p:nvSpPr>
        <p:spPr>
          <a:xfrm>
            <a:off x="8204396" y="6675120"/>
            <a:ext cx="634804" cy="182879"/>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dirty="0"/>
          </a:p>
        </p:txBody>
      </p:sp>
      <p:pic>
        <p:nvPicPr>
          <p:cNvPr id="11" name="图片 10">
            <a:extLst>
              <a:ext uri="{FF2B5EF4-FFF2-40B4-BE49-F238E27FC236}">
                <a16:creationId xmlns:a16="http://schemas.microsoft.com/office/drawing/2014/main" id="{75FB8FD0-58DA-47DB-B46D-F7A7B4AF8CE8}"/>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8915400" y="6629401"/>
            <a:ext cx="228599" cy="228599"/>
          </a:xfrm>
          <a:prstGeom prst="rect">
            <a:avLst/>
          </a:prstGeom>
        </p:spPr>
      </p:pic>
    </p:spTree>
    <p:extLst>
      <p:ext uri="{BB962C8B-B14F-4D97-AF65-F5344CB8AC3E}">
        <p14:creationId xmlns:p14="http://schemas.microsoft.com/office/powerpoint/2010/main" val="13242838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99" r:id="rId3"/>
    <p:sldLayoutId id="2147483682" r:id="rId4"/>
    <p:sldLayoutId id="2147483683" r:id="rId5"/>
    <p:sldLayoutId id="2147483701" r:id="rId6"/>
    <p:sldLayoutId id="2147483707" r:id="rId7"/>
    <p:sldLayoutId id="2147483702" r:id="rId8"/>
    <p:sldLayoutId id="2147483684" r:id="rId9"/>
    <p:sldLayoutId id="2147483700" r:id="rId10"/>
    <p:sldLayoutId id="2147483704" r:id="rId11"/>
    <p:sldLayoutId id="2147483697" r:id="rId12"/>
    <p:sldLayoutId id="2147483685" r:id="rId13"/>
    <p:sldLayoutId id="2147483706" r:id="rId14"/>
    <p:sldLayoutId id="2147483705" r:id="rId15"/>
    <p:sldLayoutId id="2147483686" r:id="rId16"/>
    <p:sldLayoutId id="2147483687" r:id="rId17"/>
    <p:sldLayoutId id="2147483688" r:id="rId18"/>
    <p:sldLayoutId id="2147483689" r:id="rId19"/>
    <p:sldLayoutId id="2147483690" r:id="rId20"/>
    <p:sldLayoutId id="2147483691" r:id="rId21"/>
    <p:sldLayoutId id="2147483692" r:id="rId22"/>
    <p:sldLayoutId id="2147483703" r:id="rId23"/>
  </p:sldLayoutIdLst>
  <p:hf hdr="0"/>
  <p:txStyles>
    <p:titleStyle>
      <a:lvl1pPr algn="l" rtl="0" eaLnBrk="1" latinLnBrk="0" hangingPunct="1">
        <a:spcBef>
          <a:spcPct val="0"/>
        </a:spcBef>
        <a:buNone/>
        <a:defRPr kumimoji="0" sz="3200" b="1" kern="1200">
          <a:solidFill>
            <a:schemeClr val="tx1"/>
          </a:solidFill>
          <a:effectLst/>
          <a:latin typeface="+mj-lt"/>
          <a:ea typeface="+mj-ea"/>
          <a:cs typeface="+mj-cs"/>
        </a:defRPr>
      </a:lvl1pPr>
      <a:extLst/>
    </p:titleStyle>
    <p:bodyStyle>
      <a:lvl1pPr marL="36000" indent="-72000" algn="l" rtl="0" eaLnBrk="1" latinLnBrk="0" hangingPunct="1">
        <a:spcBef>
          <a:spcPts val="0"/>
        </a:spcBef>
        <a:buClr>
          <a:schemeClr val="accent1"/>
        </a:buClr>
        <a:buSzPct val="80000"/>
        <a:buFont typeface="Wingdings 2"/>
        <a:buChar char=""/>
        <a:defRPr kumimoji="0" sz="2400" kern="1200">
          <a:solidFill>
            <a:schemeClr val="tx1"/>
          </a:solidFill>
          <a:latin typeface="Consolas" panose="020B0609020204030204" pitchFamily="49" charset="0"/>
          <a:ea typeface="+mn-ea"/>
          <a:cs typeface="Calibri" pitchFamily="34" charset="0"/>
        </a:defRPr>
      </a:lvl1pPr>
      <a:lvl2pPr marL="360000" indent="-72000" algn="l" rtl="0" eaLnBrk="1" latinLnBrk="0" hangingPunct="1">
        <a:spcBef>
          <a:spcPct val="20000"/>
        </a:spcBef>
        <a:buClr>
          <a:schemeClr val="accent2"/>
        </a:buClr>
        <a:buSzPct val="100000"/>
        <a:buFont typeface="Wingdings" pitchFamily="2" charset="2"/>
        <a:buChar char="§"/>
        <a:defRPr kumimoji="0" sz="2000" kern="1200">
          <a:solidFill>
            <a:schemeClr val="tx1"/>
          </a:solidFill>
          <a:latin typeface="Consolas" panose="020B0609020204030204" pitchFamily="49" charset="0"/>
          <a:ea typeface="+mn-ea"/>
          <a:cs typeface="Calibri" pitchFamily="34" charset="0"/>
        </a:defRPr>
      </a:lvl2pPr>
      <a:lvl3pPr marL="540000" indent="-72000" algn="l" rtl="0" eaLnBrk="1" latinLnBrk="0" hangingPunct="1">
        <a:spcBef>
          <a:spcPct val="20000"/>
        </a:spcBef>
        <a:buClr>
          <a:schemeClr val="accent3"/>
        </a:buClr>
        <a:buSzPct val="100000"/>
        <a:buFont typeface="Wingdings" pitchFamily="2" charset="2"/>
        <a:buChar char="§"/>
        <a:defRPr kumimoji="0" sz="1800" kern="1200">
          <a:solidFill>
            <a:schemeClr val="tx1"/>
          </a:solidFill>
          <a:latin typeface="Consolas" panose="020B0609020204030204" pitchFamily="49" charset="0"/>
          <a:ea typeface="+mn-ea"/>
          <a:cs typeface="Calibri" pitchFamily="34" charset="0"/>
        </a:defRPr>
      </a:lvl3pPr>
      <a:lvl4pPr marL="720000" indent="-72000" algn="l" rtl="0" eaLnBrk="1" latinLnBrk="0" hangingPunct="1">
        <a:spcBef>
          <a:spcPct val="20000"/>
        </a:spcBef>
        <a:buClr>
          <a:schemeClr val="accent4"/>
        </a:buClr>
        <a:buSzPct val="100000"/>
        <a:buFont typeface="Wingdings" pitchFamily="2" charset="2"/>
        <a:buChar char="§"/>
        <a:defRPr kumimoji="0" sz="1600" kern="1200">
          <a:solidFill>
            <a:schemeClr val="tx1"/>
          </a:solidFill>
          <a:latin typeface="Consolas" panose="020B0609020204030204" pitchFamily="49" charset="0"/>
          <a:ea typeface="+mn-ea"/>
          <a:cs typeface="Calibri" pitchFamily="34" charset="0"/>
        </a:defRPr>
      </a:lvl4pPr>
      <a:lvl5pPr marL="900000" indent="-72000" algn="l" rtl="0" eaLnBrk="1" latinLnBrk="0" hangingPunct="1">
        <a:spcBef>
          <a:spcPct val="20000"/>
        </a:spcBef>
        <a:buClr>
          <a:schemeClr val="accent5"/>
        </a:buClr>
        <a:buSzPct val="100000"/>
        <a:buFont typeface="Wingdings" pitchFamily="2" charset="2"/>
        <a:buChar char="§"/>
        <a:defRPr kumimoji="0" lang="en-US" sz="1600" kern="1200" smtClean="0">
          <a:solidFill>
            <a:schemeClr val="tx1"/>
          </a:solidFill>
          <a:latin typeface="Consolas" panose="020B0609020204030204" pitchFamily="49"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4953000"/>
            <a:ext cx="8915400" cy="1138712"/>
          </a:xfrm>
        </p:spPr>
        <p:txBody>
          <a:bodyPr anchor="b">
            <a:normAutofit fontScale="90000"/>
          </a:bodyPr>
          <a:lstStyle/>
          <a:p>
            <a:br>
              <a:rPr lang="en-US" sz="5400" dirty="0"/>
            </a:br>
            <a:r>
              <a:rPr lang="en-US" sz="5300" dirty="0"/>
              <a:t>5CM524 </a:t>
            </a:r>
            <a:r>
              <a:rPr lang="en-US" altLang="zh-CN" sz="5300" dirty="0"/>
              <a:t>Functional Programming</a:t>
            </a:r>
            <a:endParaRPr lang="en-US" sz="5400" dirty="0"/>
          </a:p>
        </p:txBody>
      </p:sp>
      <p:sp>
        <p:nvSpPr>
          <p:cNvPr id="7" name="TextBox 6"/>
          <p:cNvSpPr txBox="1"/>
          <p:nvPr/>
        </p:nvSpPr>
        <p:spPr>
          <a:xfrm>
            <a:off x="381000" y="6172200"/>
            <a:ext cx="6705600" cy="461665"/>
          </a:xfrm>
          <a:prstGeom prst="rect">
            <a:avLst/>
          </a:prstGeom>
          <a:noFill/>
        </p:spPr>
        <p:txBody>
          <a:bodyPr wrap="square" rtlCol="0">
            <a:spAutoFit/>
          </a:bodyPr>
          <a:lstStyle/>
          <a:p>
            <a:r>
              <a:rPr lang="en-US" altLang="zh-CN" sz="2400" dirty="0"/>
              <a:t>Dr Youbing Zhao</a:t>
            </a:r>
            <a:endParaRPr lang="en-US" sz="3200" dirty="0"/>
          </a:p>
        </p:txBody>
      </p:sp>
      <p:sp>
        <p:nvSpPr>
          <p:cNvPr id="6" name="Title 1">
            <a:extLst>
              <a:ext uri="{FF2B5EF4-FFF2-40B4-BE49-F238E27FC236}">
                <a16:creationId xmlns:a16="http://schemas.microsoft.com/office/drawing/2014/main" id="{B084583C-63B9-4042-950B-A02A22A279A1}"/>
              </a:ext>
            </a:extLst>
          </p:cNvPr>
          <p:cNvSpPr txBox="1">
            <a:spLocks/>
          </p:cNvSpPr>
          <p:nvPr/>
        </p:nvSpPr>
        <p:spPr>
          <a:xfrm>
            <a:off x="152400" y="2057400"/>
            <a:ext cx="8915400" cy="1824512"/>
          </a:xfrm>
          <a:prstGeom prst="rect">
            <a:avLst/>
          </a:prstGeom>
          <a:effectLst>
            <a:outerShdw blurRad="50800" dist="38100" dir="2700000" algn="tl" rotWithShape="0">
              <a:prstClr val="black">
                <a:alpha val="40000"/>
              </a:prstClr>
            </a:outerShdw>
          </a:effectLst>
        </p:spPr>
        <p:txBody>
          <a:bodyPr vert="horz" lIns="91440" tIns="0" rIns="45720" bIns="0" rtlCol="0" anchor="b">
            <a:normAutofit fontScale="40000" lnSpcReduction="20000"/>
            <a:scene3d>
              <a:camera prst="orthographicFront"/>
              <a:lightRig rig="threePt" dir="t">
                <a:rot lat="0" lon="0" rev="4800000"/>
              </a:lightRig>
            </a:scene3d>
            <a:sp3d prstMaterial="matte">
              <a:bevelT w="50800" h="10160"/>
            </a:sp3d>
          </a:bodyPr>
          <a:lstStyle>
            <a:lvl1pPr algn="l" rtl="0" eaLnBrk="1" latinLnBrk="0" hangingPunct="1">
              <a:spcBef>
                <a:spcPct val="0"/>
              </a:spcBef>
              <a:buNone/>
              <a:defRPr kumimoji="0" sz="4700" b="1" kern="1200">
                <a:solidFill>
                  <a:schemeClr val="tx1"/>
                </a:solidFill>
                <a:effectLst/>
                <a:latin typeface="+mj-lt"/>
                <a:ea typeface="+mj-ea"/>
                <a:cs typeface="+mj-cs"/>
              </a:defRPr>
            </a:lvl1pPr>
            <a:extLst/>
          </a:lstStyle>
          <a:p>
            <a:br>
              <a:rPr lang="en-US" sz="5400" dirty="0"/>
            </a:br>
            <a:r>
              <a:rPr lang="en-US" altLang="zh-CN" sz="13500" dirty="0">
                <a:solidFill>
                  <a:schemeClr val="accent1">
                    <a:lumMod val="40000"/>
                    <a:lumOff val="60000"/>
                  </a:schemeClr>
                </a:solidFill>
                <a:effectLst>
                  <a:outerShdw blurRad="38100" dist="38100" dir="2700000" algn="tl">
                    <a:srgbClr val="000000">
                      <a:alpha val="43137"/>
                    </a:srgbClr>
                  </a:outerShdw>
                </a:effectLst>
                <a:latin typeface="+mj-ea"/>
              </a:rPr>
              <a:t>LB09 Functional Programming in Java I</a:t>
            </a:r>
            <a:endParaRPr lang="en-US" altLang="zh-CN" sz="13300" dirty="0">
              <a:solidFill>
                <a:schemeClr val="accent1">
                  <a:lumMod val="40000"/>
                  <a:lumOff val="60000"/>
                </a:schemeClr>
              </a:solidFill>
              <a:effectLst>
                <a:outerShdw blurRad="38100" dist="38100" dir="2700000" algn="tl">
                  <a:srgbClr val="000000">
                    <a:alpha val="43137"/>
                  </a:srgbClr>
                </a:outerShdw>
              </a:effectLst>
              <a:latin typeface="+mj-ea"/>
            </a:endParaRPr>
          </a:p>
        </p:txBody>
      </p:sp>
      <p:sp>
        <p:nvSpPr>
          <p:cNvPr id="4" name="文本框 3">
            <a:extLst>
              <a:ext uri="{FF2B5EF4-FFF2-40B4-BE49-F238E27FC236}">
                <a16:creationId xmlns:a16="http://schemas.microsoft.com/office/drawing/2014/main" id="{4206672D-26A1-421D-9F8A-FF8E06275966}"/>
              </a:ext>
            </a:extLst>
          </p:cNvPr>
          <p:cNvSpPr txBox="1"/>
          <p:nvPr/>
        </p:nvSpPr>
        <p:spPr>
          <a:xfrm>
            <a:off x="152400" y="3962400"/>
            <a:ext cx="5029200" cy="762000"/>
          </a:xfrm>
          <a:prstGeom prst="rect">
            <a:avLst/>
          </a:prstGeom>
        </p:spPr>
        <p:txBody>
          <a:bodyPr vert="horz" wrap="square" lIns="91440" tIns="0" rIns="45720" bIns="0" rtlCol="0" anchor="t">
            <a:normAutofit fontScale="55000" lnSpcReduction="20000"/>
            <a:scene3d>
              <a:camera prst="orthographicFront"/>
              <a:lightRig rig="threePt" dir="t">
                <a:rot lat="0" lon="0" rev="4800000"/>
              </a:lightRig>
            </a:scene3d>
            <a:sp3d prstMaterial="matte">
              <a:bevelT w="50800" h="10160"/>
            </a:sp3d>
          </a:bodyPr>
          <a:lstStyle/>
          <a:p>
            <a:r>
              <a:rPr lang="en-US" altLang="zh-CN" sz="5400" dirty="0"/>
              <a:t>Method Reference, Lambda,  Sorting and Nested Classes</a:t>
            </a:r>
            <a:endParaRPr lang="zh-CN" altLang="en-US" sz="900" dirty="0"/>
          </a:p>
        </p:txBody>
      </p:sp>
    </p:spTree>
    <p:extLst>
      <p:ext uri="{BB962C8B-B14F-4D97-AF65-F5344CB8AC3E}">
        <p14:creationId xmlns:p14="http://schemas.microsoft.com/office/powerpoint/2010/main" val="243002715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9AB7327-E31A-40CE-A263-078B26A56577}"/>
              </a:ext>
            </a:extLst>
          </p:cNvPr>
          <p:cNvSpPr>
            <a:spLocks noGrp="1"/>
          </p:cNvSpPr>
          <p:nvPr>
            <p:ph idx="1"/>
          </p:nvPr>
        </p:nvSpPr>
        <p:spPr/>
        <p:txBody>
          <a:bodyPr>
            <a:normAutofit/>
          </a:bodyPr>
          <a:lstStyle/>
          <a:p>
            <a:r>
              <a:rPr lang="en-US" altLang="zh-CN" dirty="0"/>
              <a:t>Java Functional Programming</a:t>
            </a:r>
          </a:p>
          <a:p>
            <a:pPr lvl="1"/>
            <a:r>
              <a:rPr lang="en-US" altLang="zh-CN" dirty="0"/>
              <a:t>First-class Functions – Method Reference</a:t>
            </a:r>
          </a:p>
          <a:p>
            <a:pPr lvl="1"/>
            <a:r>
              <a:rPr lang="en-US" altLang="zh-CN" dirty="0"/>
              <a:t>Lambda</a:t>
            </a:r>
            <a:r>
              <a:rPr lang="zh-CN" altLang="en-US" dirty="0"/>
              <a:t> </a:t>
            </a:r>
            <a:r>
              <a:rPr lang="en-US" altLang="zh-CN" dirty="0"/>
              <a:t>Functions</a:t>
            </a:r>
          </a:p>
          <a:p>
            <a:r>
              <a:rPr lang="en-US" altLang="zh-CN" dirty="0"/>
              <a:t>Functional</a:t>
            </a:r>
            <a:r>
              <a:rPr lang="zh-CN" altLang="en-US" dirty="0"/>
              <a:t> </a:t>
            </a:r>
            <a:r>
              <a:rPr lang="en-US" altLang="zh-CN" dirty="0"/>
              <a:t>Sorting</a:t>
            </a:r>
            <a:r>
              <a:rPr lang="zh-CN" altLang="en-US" dirty="0"/>
              <a:t> </a:t>
            </a:r>
            <a:r>
              <a:rPr lang="en-US" altLang="zh-CN" dirty="0"/>
              <a:t>Using</a:t>
            </a:r>
            <a:r>
              <a:rPr lang="zh-CN" altLang="en-US" dirty="0"/>
              <a:t> </a:t>
            </a:r>
            <a:r>
              <a:rPr lang="en-US" altLang="zh-CN" dirty="0"/>
              <a:t>Comparators</a:t>
            </a:r>
          </a:p>
          <a:p>
            <a:pPr lvl="1"/>
            <a:r>
              <a:rPr lang="en-US" altLang="zh-CN" dirty="0"/>
              <a:t>Using Method Reference</a:t>
            </a:r>
          </a:p>
          <a:p>
            <a:pPr lvl="1"/>
            <a:r>
              <a:rPr lang="en-US" altLang="zh-CN" dirty="0"/>
              <a:t>Using</a:t>
            </a:r>
            <a:r>
              <a:rPr lang="zh-CN" altLang="en-US" dirty="0"/>
              <a:t> </a:t>
            </a:r>
            <a:r>
              <a:rPr lang="en-US" altLang="zh-CN" dirty="0"/>
              <a:t>Lambda</a:t>
            </a:r>
            <a:r>
              <a:rPr lang="zh-CN" altLang="en-US" dirty="0"/>
              <a:t> </a:t>
            </a:r>
            <a:r>
              <a:rPr lang="en-US" altLang="zh-CN" dirty="0"/>
              <a:t>Functions</a:t>
            </a:r>
          </a:p>
        </p:txBody>
      </p:sp>
      <p:sp>
        <p:nvSpPr>
          <p:cNvPr id="2" name="标题 1">
            <a:extLst>
              <a:ext uri="{FF2B5EF4-FFF2-40B4-BE49-F238E27FC236}">
                <a16:creationId xmlns:a16="http://schemas.microsoft.com/office/drawing/2014/main" id="{8DC8BB00-CA51-4B48-B675-CE197D5B4A12}"/>
              </a:ext>
            </a:extLst>
          </p:cNvPr>
          <p:cNvSpPr>
            <a:spLocks noGrp="1"/>
          </p:cNvSpPr>
          <p:nvPr>
            <p:ph type="title"/>
          </p:nvPr>
        </p:nvSpPr>
        <p:spPr/>
        <p:txBody>
          <a:bodyPr/>
          <a:lstStyle/>
          <a:p>
            <a:r>
              <a:rPr lang="en-US" altLang="zh-CN" dirty="0"/>
              <a:t>Content</a:t>
            </a:r>
            <a:endParaRPr lang="zh-CN" altLang="en-US" dirty="0"/>
          </a:p>
        </p:txBody>
      </p:sp>
      <p:sp>
        <p:nvSpPr>
          <p:cNvPr id="5" name="日期占位符 4">
            <a:extLst>
              <a:ext uri="{FF2B5EF4-FFF2-40B4-BE49-F238E27FC236}">
                <a16:creationId xmlns:a16="http://schemas.microsoft.com/office/drawing/2014/main" id="{E8A6ADA7-7844-41E3-A26B-FE7E24FEAAF3}"/>
              </a:ext>
            </a:extLst>
          </p:cNvPr>
          <p:cNvSpPr>
            <a:spLocks noGrp="1"/>
          </p:cNvSpPr>
          <p:nvPr>
            <p:ph type="dt" sz="half" idx="2"/>
          </p:nvPr>
        </p:nvSpPr>
        <p:spPr/>
        <p:txBody>
          <a:bodyPr/>
          <a:lstStyle/>
          <a:p>
            <a:fld id="{987C341B-C338-412A-9D8D-07766238D67D}" type="datetime1">
              <a:rPr lang="zh-CN" altLang="en-US" smtClean="0"/>
              <a:t>2026/2/5</a:t>
            </a:fld>
            <a:endParaRPr lang="en-US" dirty="0"/>
          </a:p>
        </p:txBody>
      </p:sp>
      <p:sp>
        <p:nvSpPr>
          <p:cNvPr id="6" name="页脚占位符 5">
            <a:extLst>
              <a:ext uri="{FF2B5EF4-FFF2-40B4-BE49-F238E27FC236}">
                <a16:creationId xmlns:a16="http://schemas.microsoft.com/office/drawing/2014/main" id="{0D99D0BE-8B98-4D0E-BBBC-C244F62C6B17}"/>
              </a:ext>
            </a:extLst>
          </p:cNvPr>
          <p:cNvSpPr>
            <a:spLocks noGrp="1"/>
          </p:cNvSpPr>
          <p:nvPr>
            <p:ph type="ftr" sz="quarter" idx="3"/>
          </p:nvPr>
        </p:nvSpPr>
        <p:spPr/>
        <p:txBody>
          <a:bodyPr/>
          <a:lstStyle/>
          <a:p>
            <a:pPr algn="ctr"/>
            <a:r>
              <a:rPr lang="zh-CN" altLang="en-US" dirty="0"/>
              <a:t>趙友兵 </a:t>
            </a:r>
            <a:r>
              <a:rPr lang="en-US" altLang="zh-CN" dirty="0"/>
              <a:t>Functional Programming in Java</a:t>
            </a:r>
            <a:endParaRPr lang="en-US" dirty="0"/>
          </a:p>
        </p:txBody>
      </p:sp>
      <p:sp>
        <p:nvSpPr>
          <p:cNvPr id="7" name="灯片编号占位符 6">
            <a:extLst>
              <a:ext uri="{FF2B5EF4-FFF2-40B4-BE49-F238E27FC236}">
                <a16:creationId xmlns:a16="http://schemas.microsoft.com/office/drawing/2014/main" id="{D67CCDEB-0741-40B4-A1B8-D43479BDBAB3}"/>
              </a:ext>
            </a:extLst>
          </p:cNvPr>
          <p:cNvSpPr>
            <a:spLocks noGrp="1"/>
          </p:cNvSpPr>
          <p:nvPr>
            <p:ph type="sldNum" sz="quarter" idx="4"/>
          </p:nvPr>
        </p:nvSpPr>
        <p:spPr/>
        <p:txBody>
          <a:bodyPr/>
          <a:lstStyle/>
          <a:p>
            <a:fld id="{19B12225-5612-419B-A8D5-4B8EEE4C217E}" type="slidenum">
              <a:rPr lang="en-US" smtClean="0"/>
              <a:pPr/>
              <a:t>2</a:t>
            </a:fld>
            <a:endParaRPr lang="en-US" dirty="0"/>
          </a:p>
        </p:txBody>
      </p:sp>
    </p:spTree>
    <p:extLst>
      <p:ext uri="{BB962C8B-B14F-4D97-AF65-F5344CB8AC3E}">
        <p14:creationId xmlns:p14="http://schemas.microsoft.com/office/powerpoint/2010/main" val="261121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15EE4374-2020-4524-A017-1FB159BAC267}"/>
              </a:ext>
            </a:extLst>
          </p:cNvPr>
          <p:cNvSpPr>
            <a:spLocks noGrp="1"/>
          </p:cNvSpPr>
          <p:nvPr>
            <p:ph type="title"/>
          </p:nvPr>
        </p:nvSpPr>
        <p:spPr/>
        <p:txBody>
          <a:bodyPr/>
          <a:lstStyle/>
          <a:p>
            <a:r>
              <a:rPr lang="en-US" altLang="zh-CN" dirty="0"/>
              <a:t>Functional Programming in Java </a:t>
            </a:r>
            <a:endParaRPr lang="zh-CN" altLang="en-US" dirty="0"/>
          </a:p>
        </p:txBody>
      </p:sp>
      <p:sp>
        <p:nvSpPr>
          <p:cNvPr id="8" name="文本占位符 7">
            <a:extLst>
              <a:ext uri="{FF2B5EF4-FFF2-40B4-BE49-F238E27FC236}">
                <a16:creationId xmlns:a16="http://schemas.microsoft.com/office/drawing/2014/main" id="{68E356B3-4E94-45D8-B663-EAD6DE8BE023}"/>
              </a:ext>
            </a:extLst>
          </p:cNvPr>
          <p:cNvSpPr>
            <a:spLocks noGrp="1"/>
          </p:cNvSpPr>
          <p:nvPr>
            <p:ph type="body" idx="1"/>
          </p:nvPr>
        </p:nvSpPr>
        <p:spPr/>
        <p:txBody>
          <a:bodyPr/>
          <a:lstStyle/>
          <a:p>
            <a:endParaRPr lang="zh-CN" altLang="en-US"/>
          </a:p>
        </p:txBody>
      </p:sp>
      <p:sp>
        <p:nvSpPr>
          <p:cNvPr id="4" name="日期占位符 3">
            <a:extLst>
              <a:ext uri="{FF2B5EF4-FFF2-40B4-BE49-F238E27FC236}">
                <a16:creationId xmlns:a16="http://schemas.microsoft.com/office/drawing/2014/main" id="{231709EE-A670-454F-A005-CD3B45E9A121}"/>
              </a:ext>
            </a:extLst>
          </p:cNvPr>
          <p:cNvSpPr>
            <a:spLocks noGrp="1"/>
          </p:cNvSpPr>
          <p:nvPr>
            <p:ph type="dt" sz="half" idx="4294967295"/>
          </p:nvPr>
        </p:nvSpPr>
        <p:spPr>
          <a:xfrm>
            <a:off x="0" y="6705600"/>
            <a:ext cx="1087438" cy="152400"/>
          </a:xfrm>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0583FCF8-0B13-4C27-B4E9-1E2A69F70F0D}"/>
              </a:ext>
            </a:extLst>
          </p:cNvPr>
          <p:cNvSpPr>
            <a:spLocks noGrp="1"/>
          </p:cNvSpPr>
          <p:nvPr>
            <p:ph type="ftr" sz="quarter" idx="4294967295"/>
          </p:nvPr>
        </p:nvSpPr>
        <p:spPr>
          <a:xfrm>
            <a:off x="2159000" y="6705600"/>
            <a:ext cx="6985000" cy="152400"/>
          </a:xfrm>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07A5EA7C-D77F-4C69-89A9-56FC19782CC0}"/>
              </a:ext>
            </a:extLst>
          </p:cNvPr>
          <p:cNvSpPr>
            <a:spLocks noGrp="1"/>
          </p:cNvSpPr>
          <p:nvPr>
            <p:ph type="sldNum" sz="quarter" idx="4294967295"/>
          </p:nvPr>
        </p:nvSpPr>
        <p:spPr>
          <a:xfrm>
            <a:off x="8509000" y="6705600"/>
            <a:ext cx="635000" cy="152400"/>
          </a:xfrm>
        </p:spPr>
        <p:txBody>
          <a:bodyPr/>
          <a:lstStyle/>
          <a:p>
            <a:fld id="{19B12225-5612-419B-A8D5-4B8EEE4C217E}" type="slidenum">
              <a:rPr lang="en-US" smtClean="0"/>
              <a:pPr/>
              <a:t>3</a:t>
            </a:fld>
            <a:endParaRPr lang="en-US" dirty="0"/>
          </a:p>
        </p:txBody>
      </p:sp>
    </p:spTree>
    <p:extLst>
      <p:ext uri="{BB962C8B-B14F-4D97-AF65-F5344CB8AC3E}">
        <p14:creationId xmlns:p14="http://schemas.microsoft.com/office/powerpoint/2010/main" val="2600002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0F8B596-3D54-4DBB-8373-71881B58E5D1}"/>
              </a:ext>
            </a:extLst>
          </p:cNvPr>
          <p:cNvSpPr>
            <a:spLocks noGrp="1"/>
          </p:cNvSpPr>
          <p:nvPr>
            <p:ph idx="1"/>
          </p:nvPr>
        </p:nvSpPr>
        <p:spPr/>
        <p:txBody>
          <a:bodyPr>
            <a:normAutofit/>
          </a:bodyPr>
          <a:lstStyle/>
          <a:p>
            <a:r>
              <a:rPr lang="en-US" altLang="zh-CN" b="1" dirty="0"/>
              <a:t>First-class functions</a:t>
            </a:r>
          </a:p>
          <a:p>
            <a:r>
              <a:rPr lang="en-US" altLang="zh-CN" b="1" dirty="0"/>
              <a:t>Lambda expressions (anonymous functions)</a:t>
            </a:r>
          </a:p>
          <a:p>
            <a:r>
              <a:rPr lang="en-US" altLang="zh-CN" dirty="0"/>
              <a:t>Pure functions(No side effects)</a:t>
            </a:r>
          </a:p>
          <a:p>
            <a:pPr lvl="1"/>
            <a:r>
              <a:rPr lang="en-US" altLang="zh-CN" dirty="0"/>
              <a:t>Referential Transparency</a:t>
            </a:r>
          </a:p>
          <a:p>
            <a:r>
              <a:rPr lang="en-US" altLang="zh-CN" b="1" dirty="0"/>
              <a:t>High Order Functions</a:t>
            </a:r>
          </a:p>
          <a:p>
            <a:pPr lvl="1"/>
            <a:r>
              <a:rPr lang="en-US" altLang="zh-CN" b="1" dirty="0"/>
              <a:t>Function composition</a:t>
            </a:r>
          </a:p>
          <a:p>
            <a:pPr lvl="1"/>
            <a:r>
              <a:rPr lang="en-US" altLang="zh-CN" dirty="0"/>
              <a:t>Currying (returns a partial function)</a:t>
            </a:r>
          </a:p>
          <a:p>
            <a:r>
              <a:rPr lang="en-US" altLang="zh-CN" dirty="0"/>
              <a:t>Closure</a:t>
            </a:r>
          </a:p>
          <a:p>
            <a:r>
              <a:rPr lang="en-US" altLang="zh-CN" dirty="0"/>
              <a:t>Immutability by default</a:t>
            </a:r>
          </a:p>
          <a:p>
            <a:r>
              <a:rPr lang="en-US" altLang="zh-CN" dirty="0" err="1"/>
              <a:t>Functors</a:t>
            </a:r>
            <a:endParaRPr lang="en-US" altLang="zh-CN" dirty="0"/>
          </a:p>
          <a:p>
            <a:pPr lvl="1"/>
            <a:r>
              <a:rPr lang="en-US" altLang="zh-CN" dirty="0" err="1"/>
              <a:t>Applicatives</a:t>
            </a:r>
            <a:endParaRPr lang="en-US" altLang="zh-CN" dirty="0"/>
          </a:p>
          <a:p>
            <a:pPr lvl="1"/>
            <a:r>
              <a:rPr lang="en-US" altLang="zh-CN" dirty="0"/>
              <a:t>Monads</a:t>
            </a:r>
            <a:endParaRPr lang="zh-CN" altLang="en-US" dirty="0"/>
          </a:p>
          <a:p>
            <a:r>
              <a:rPr lang="en-US" altLang="zh-CN" dirty="0"/>
              <a:t>Recursion and Tail Call </a:t>
            </a:r>
            <a:r>
              <a:rPr lang="en-US" altLang="zh-CN" dirty="0" err="1"/>
              <a:t>Optimisation</a:t>
            </a:r>
            <a:endParaRPr lang="en-US" altLang="zh-CN" dirty="0"/>
          </a:p>
          <a:p>
            <a:r>
              <a:rPr lang="en-US" altLang="zh-CN" b="1" dirty="0"/>
              <a:t>Lazy evaluation</a:t>
            </a:r>
            <a:r>
              <a:rPr lang="en-US" altLang="zh-CN" dirty="0"/>
              <a:t> (Partial via Stream)</a:t>
            </a:r>
          </a:p>
          <a:p>
            <a:r>
              <a:rPr lang="en-US" altLang="zh-CN" dirty="0"/>
              <a:t>Type systems</a:t>
            </a:r>
          </a:p>
          <a:p>
            <a:endParaRPr lang="en-US" altLang="zh-CN" dirty="0"/>
          </a:p>
          <a:p>
            <a:endParaRPr lang="zh-CN" altLang="en-US" dirty="0"/>
          </a:p>
        </p:txBody>
      </p:sp>
      <p:sp>
        <p:nvSpPr>
          <p:cNvPr id="3" name="标题 2">
            <a:extLst>
              <a:ext uri="{FF2B5EF4-FFF2-40B4-BE49-F238E27FC236}">
                <a16:creationId xmlns:a16="http://schemas.microsoft.com/office/drawing/2014/main" id="{349BAB5E-A300-4908-882F-6CF5B92DC076}"/>
              </a:ext>
            </a:extLst>
          </p:cNvPr>
          <p:cNvSpPr>
            <a:spLocks noGrp="1"/>
          </p:cNvSpPr>
          <p:nvPr>
            <p:ph type="title"/>
          </p:nvPr>
        </p:nvSpPr>
        <p:spPr/>
        <p:txBody>
          <a:bodyPr/>
          <a:lstStyle/>
          <a:p>
            <a:r>
              <a:rPr lang="en-US" altLang="zh-CN" dirty="0"/>
              <a:t>Features of Functional Programming </a:t>
            </a:r>
            <a:endParaRPr lang="zh-CN" altLang="en-US" dirty="0"/>
          </a:p>
        </p:txBody>
      </p:sp>
      <p:sp>
        <p:nvSpPr>
          <p:cNvPr id="4" name="日期占位符 3">
            <a:extLst>
              <a:ext uri="{FF2B5EF4-FFF2-40B4-BE49-F238E27FC236}">
                <a16:creationId xmlns:a16="http://schemas.microsoft.com/office/drawing/2014/main" id="{D8499203-D8BF-4755-B18C-44E2B2534F44}"/>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C0678A67-C6EC-4461-9607-00CE20E10E82}"/>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80A7BE79-A6F8-41C7-8637-C025113FCE29}"/>
              </a:ext>
            </a:extLst>
          </p:cNvPr>
          <p:cNvSpPr>
            <a:spLocks noGrp="1"/>
          </p:cNvSpPr>
          <p:nvPr>
            <p:ph type="sldNum" sz="quarter" idx="4"/>
          </p:nvPr>
        </p:nvSpPr>
        <p:spPr/>
        <p:txBody>
          <a:bodyPr/>
          <a:lstStyle/>
          <a:p>
            <a:fld id="{19B12225-5612-419B-A8D5-4B8EEE4C217E}" type="slidenum">
              <a:rPr lang="en-US" smtClean="0"/>
              <a:pPr/>
              <a:t>4</a:t>
            </a:fld>
            <a:endParaRPr lang="en-US" dirty="0"/>
          </a:p>
        </p:txBody>
      </p:sp>
    </p:spTree>
    <p:extLst>
      <p:ext uri="{BB962C8B-B14F-4D97-AF65-F5344CB8AC3E}">
        <p14:creationId xmlns:p14="http://schemas.microsoft.com/office/powerpoint/2010/main" val="2742182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3A98EF4-E4B5-4926-A03E-7032092F879D}"/>
              </a:ext>
            </a:extLst>
          </p:cNvPr>
          <p:cNvSpPr>
            <a:spLocks noGrp="1"/>
          </p:cNvSpPr>
          <p:nvPr>
            <p:ph idx="1"/>
          </p:nvPr>
        </p:nvSpPr>
        <p:spPr/>
        <p:txBody>
          <a:bodyPr>
            <a:normAutofit lnSpcReduction="10000"/>
          </a:bodyPr>
          <a:lstStyle/>
          <a:p>
            <a:r>
              <a:rPr lang="en-US" altLang="zh-CN" dirty="0"/>
              <a:t>Pros</a:t>
            </a:r>
          </a:p>
          <a:p>
            <a:pPr lvl="1"/>
            <a:r>
              <a:rPr lang="en-US" altLang="zh-CN" dirty="0"/>
              <a:t>Ease of understanding</a:t>
            </a:r>
          </a:p>
          <a:p>
            <a:pPr lvl="1"/>
            <a:r>
              <a:rPr lang="en-US" altLang="zh-CN" dirty="0"/>
              <a:t>Shorter</a:t>
            </a:r>
            <a:r>
              <a:rPr lang="zh-CN" altLang="en-US" dirty="0"/>
              <a:t> </a:t>
            </a:r>
            <a:r>
              <a:rPr lang="en-US" altLang="zh-CN" dirty="0"/>
              <a:t>Code</a:t>
            </a:r>
          </a:p>
          <a:p>
            <a:pPr lvl="1"/>
            <a:r>
              <a:rPr lang="en-US" altLang="zh-CN" dirty="0"/>
              <a:t>Lazy evaluation</a:t>
            </a:r>
          </a:p>
          <a:p>
            <a:pPr lvl="1"/>
            <a:r>
              <a:rPr lang="en-US" altLang="zh-CN" dirty="0"/>
              <a:t>Flexibility in Function composition and reuse</a:t>
            </a:r>
          </a:p>
          <a:p>
            <a:pPr lvl="1"/>
            <a:r>
              <a:rPr lang="en-US" altLang="zh-CN" dirty="0"/>
              <a:t>Fewer bugs</a:t>
            </a:r>
          </a:p>
          <a:p>
            <a:pPr lvl="1"/>
            <a:r>
              <a:rPr lang="en-US" altLang="zh-CN" dirty="0"/>
              <a:t>Suitable for Parallel Tasks and Task oriented Programming</a:t>
            </a:r>
          </a:p>
          <a:p>
            <a:r>
              <a:rPr lang="en-US" altLang="zh-CN" dirty="0"/>
              <a:t>Cons</a:t>
            </a:r>
          </a:p>
          <a:p>
            <a:pPr lvl="1"/>
            <a:r>
              <a:rPr lang="en-US" altLang="zh-CN" dirty="0"/>
              <a:t>Hard to understand </a:t>
            </a:r>
          </a:p>
          <a:p>
            <a:pPr lvl="2"/>
            <a:r>
              <a:rPr lang="en-US" altLang="zh-CN" dirty="0"/>
              <a:t>(monad, monoid, functor, etc.)</a:t>
            </a:r>
          </a:p>
          <a:p>
            <a:pPr lvl="2"/>
            <a:r>
              <a:rPr lang="en-US" altLang="zh-CN" dirty="0"/>
              <a:t>Recursions</a:t>
            </a:r>
          </a:p>
          <a:p>
            <a:pPr lvl="1"/>
            <a:r>
              <a:rPr lang="en-US" altLang="zh-CN" dirty="0"/>
              <a:t>Limitations with Pure Functions</a:t>
            </a:r>
          </a:p>
          <a:p>
            <a:pPr lvl="2"/>
            <a:r>
              <a:rPr lang="en-US" altLang="zh-CN" dirty="0"/>
              <a:t>Real-world applications, IO</a:t>
            </a:r>
          </a:p>
          <a:p>
            <a:pPr lvl="1"/>
            <a:r>
              <a:rPr lang="en-US" altLang="zh-CN" dirty="0"/>
              <a:t>Immutability by default – copy always needed when updating</a:t>
            </a:r>
          </a:p>
          <a:p>
            <a:pPr lvl="1"/>
            <a:r>
              <a:rPr lang="en-US" altLang="zh-CN" dirty="0"/>
              <a:t>More memory footprints and low speed due to immutability and recursion</a:t>
            </a:r>
          </a:p>
          <a:p>
            <a:pPr lvl="1"/>
            <a:r>
              <a:rPr lang="en-US" altLang="zh-CN" dirty="0"/>
              <a:t>Lacking collection datasets</a:t>
            </a:r>
          </a:p>
        </p:txBody>
      </p:sp>
      <p:sp>
        <p:nvSpPr>
          <p:cNvPr id="3" name="标题 2">
            <a:extLst>
              <a:ext uri="{FF2B5EF4-FFF2-40B4-BE49-F238E27FC236}">
                <a16:creationId xmlns:a16="http://schemas.microsoft.com/office/drawing/2014/main" id="{0E17E7D4-3798-4DCD-87D4-61761CD82345}"/>
              </a:ext>
            </a:extLst>
          </p:cNvPr>
          <p:cNvSpPr>
            <a:spLocks noGrp="1"/>
          </p:cNvSpPr>
          <p:nvPr>
            <p:ph type="title"/>
          </p:nvPr>
        </p:nvSpPr>
        <p:spPr/>
        <p:txBody>
          <a:bodyPr/>
          <a:lstStyle/>
          <a:p>
            <a:r>
              <a:rPr lang="en-US" altLang="zh-CN" dirty="0"/>
              <a:t>Pros and Cons of FP</a:t>
            </a:r>
            <a:endParaRPr lang="zh-CN" altLang="en-US" dirty="0"/>
          </a:p>
        </p:txBody>
      </p:sp>
      <p:sp>
        <p:nvSpPr>
          <p:cNvPr id="4" name="日期占位符 3">
            <a:extLst>
              <a:ext uri="{FF2B5EF4-FFF2-40B4-BE49-F238E27FC236}">
                <a16:creationId xmlns:a16="http://schemas.microsoft.com/office/drawing/2014/main" id="{D12B7C6A-61D2-49CE-9CF8-9EE05EB02D81}"/>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BFB53C5F-6615-4934-B982-E887B4D33CB5}"/>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540B1CBD-2A6A-45DE-AE5A-1A8957338AC4}"/>
              </a:ext>
            </a:extLst>
          </p:cNvPr>
          <p:cNvSpPr>
            <a:spLocks noGrp="1"/>
          </p:cNvSpPr>
          <p:nvPr>
            <p:ph type="sldNum" sz="quarter" idx="4"/>
          </p:nvPr>
        </p:nvSpPr>
        <p:spPr/>
        <p:txBody>
          <a:bodyPr/>
          <a:lstStyle/>
          <a:p>
            <a:fld id="{19B12225-5612-419B-A8D5-4B8EEE4C217E}" type="slidenum">
              <a:rPr lang="en-US" smtClean="0"/>
              <a:pPr/>
              <a:t>5</a:t>
            </a:fld>
            <a:endParaRPr lang="en-US" dirty="0"/>
          </a:p>
        </p:txBody>
      </p:sp>
    </p:spTree>
    <p:extLst>
      <p:ext uri="{BB962C8B-B14F-4D97-AF65-F5344CB8AC3E}">
        <p14:creationId xmlns:p14="http://schemas.microsoft.com/office/powerpoint/2010/main" val="1101159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4DEE56-A862-B7F0-7D1A-1F99364AC2DB}"/>
              </a:ext>
            </a:extLst>
          </p:cNvPr>
          <p:cNvSpPr>
            <a:spLocks noGrp="1"/>
          </p:cNvSpPr>
          <p:nvPr>
            <p:ph idx="1"/>
          </p:nvPr>
        </p:nvSpPr>
        <p:spPr/>
        <p:txBody>
          <a:bodyPr>
            <a:normAutofit fontScale="92500" lnSpcReduction="20000"/>
          </a:bodyPr>
          <a:lstStyle/>
          <a:p>
            <a:r>
              <a:rPr lang="en-US" altLang="zh-CN" dirty="0"/>
              <a:t>Since 1995, Sun </a:t>
            </a:r>
            <a:r>
              <a:rPr lang="en-US" altLang="zh-CN" dirty="0" err="1"/>
              <a:t>MicroSystems</a:t>
            </a:r>
            <a:r>
              <a:rPr lang="en-US" altLang="zh-CN" dirty="0"/>
              <a:t>, acquired by Oracle 2010</a:t>
            </a:r>
          </a:p>
          <a:p>
            <a:endParaRPr lang="en-US" altLang="zh-CN" dirty="0"/>
          </a:p>
          <a:p>
            <a:r>
              <a:rPr lang="en-US" altLang="zh-CN" dirty="0"/>
              <a:t>Strong Typed, fully Object Oriented (C++--)</a:t>
            </a:r>
          </a:p>
          <a:p>
            <a:r>
              <a:rPr lang="en-US" altLang="zh-CN" dirty="0"/>
              <a:t>Full Abstract Class: Interfaces</a:t>
            </a:r>
          </a:p>
          <a:p>
            <a:r>
              <a:rPr lang="en-US" altLang="zh-CN" dirty="0"/>
              <a:t>Java Virtual Machine, Garbage Collection</a:t>
            </a:r>
          </a:p>
          <a:p>
            <a:endParaRPr lang="en-US" altLang="zh-CN" dirty="0"/>
          </a:p>
          <a:p>
            <a:r>
              <a:rPr lang="en-US" altLang="zh-CN" dirty="0"/>
              <a:t>Functional Programming Features from Java 8 (2014)</a:t>
            </a:r>
          </a:p>
          <a:p>
            <a:pPr lvl="1"/>
            <a:r>
              <a:rPr lang="en-US" altLang="zh-CN" b="1" dirty="0"/>
              <a:t>First-class functions</a:t>
            </a:r>
          </a:p>
          <a:p>
            <a:pPr lvl="2"/>
            <a:r>
              <a:rPr lang="en-US" altLang="zh-CN" dirty="0">
                <a:solidFill>
                  <a:srgbClr val="C00000"/>
                </a:solidFill>
              </a:rPr>
              <a:t>Method Reference</a:t>
            </a:r>
          </a:p>
          <a:p>
            <a:pPr lvl="2"/>
            <a:r>
              <a:rPr lang="en-US" altLang="zh-CN" dirty="0">
                <a:solidFill>
                  <a:srgbClr val="C00000"/>
                </a:solidFill>
              </a:rPr>
              <a:t>Lambda expressions </a:t>
            </a:r>
            <a:r>
              <a:rPr lang="en-US" altLang="zh-CN" b="1" dirty="0"/>
              <a:t>(anonymous functions)</a:t>
            </a:r>
            <a:endParaRPr lang="en-US" altLang="zh-CN" dirty="0"/>
          </a:p>
          <a:p>
            <a:pPr lvl="1"/>
            <a:r>
              <a:rPr lang="en-US" altLang="zh-CN" dirty="0"/>
              <a:t>Lazy Evaluation (Partial)</a:t>
            </a:r>
          </a:p>
          <a:p>
            <a:pPr lvl="2"/>
            <a:r>
              <a:rPr lang="en-US" altLang="zh-CN" b="1" dirty="0"/>
              <a:t>Stream </a:t>
            </a:r>
            <a:r>
              <a:rPr lang="en-US" altLang="zh-CN" dirty="0"/>
              <a:t>(next Lecture)</a:t>
            </a:r>
          </a:p>
          <a:p>
            <a:pPr lvl="1"/>
            <a:r>
              <a:rPr lang="en-US" altLang="zh-CN" dirty="0"/>
              <a:t>High-order Functions</a:t>
            </a:r>
          </a:p>
          <a:p>
            <a:pPr lvl="2"/>
            <a:r>
              <a:rPr lang="en-US" altLang="zh-CN" dirty="0" err="1"/>
              <a:t>java.util.function.Function</a:t>
            </a:r>
            <a:endParaRPr lang="en-US" altLang="zh-CN" dirty="0"/>
          </a:p>
          <a:p>
            <a:pPr lvl="2"/>
            <a:endParaRPr lang="en-US" altLang="zh-CN" dirty="0"/>
          </a:p>
          <a:p>
            <a:r>
              <a:rPr lang="en-US" altLang="zh-CN" dirty="0"/>
              <a:t>Implementation of FP in Java 8</a:t>
            </a:r>
          </a:p>
          <a:p>
            <a:pPr lvl="1"/>
            <a:r>
              <a:rPr lang="en-US" altLang="zh-CN" dirty="0"/>
              <a:t>via Functional Interface</a:t>
            </a:r>
          </a:p>
          <a:p>
            <a:pPr lvl="2"/>
            <a:r>
              <a:rPr lang="en-US" altLang="zh-CN" dirty="0"/>
              <a:t>Only one single abstract method in each Interface</a:t>
            </a:r>
          </a:p>
          <a:p>
            <a:pPr lvl="2"/>
            <a:r>
              <a:rPr lang="en-US" altLang="zh-CN" dirty="0"/>
              <a:t>Addition of “default” methods </a:t>
            </a:r>
          </a:p>
          <a:p>
            <a:pPr lvl="2"/>
            <a:r>
              <a:rPr lang="en-US" altLang="zh-CN" dirty="0"/>
              <a:t>A first-class function essentially is an anonymous object which implements a functional interface</a:t>
            </a:r>
          </a:p>
        </p:txBody>
      </p:sp>
      <p:sp>
        <p:nvSpPr>
          <p:cNvPr id="3" name="Title 2">
            <a:extLst>
              <a:ext uri="{FF2B5EF4-FFF2-40B4-BE49-F238E27FC236}">
                <a16:creationId xmlns:a16="http://schemas.microsoft.com/office/drawing/2014/main" id="{49EB45D5-C7B1-163E-A26F-D2C3C2274C4D}"/>
              </a:ext>
            </a:extLst>
          </p:cNvPr>
          <p:cNvSpPr>
            <a:spLocks noGrp="1"/>
          </p:cNvSpPr>
          <p:nvPr>
            <p:ph type="title"/>
          </p:nvPr>
        </p:nvSpPr>
        <p:spPr/>
        <p:txBody>
          <a:bodyPr/>
          <a:lstStyle/>
          <a:p>
            <a:r>
              <a:rPr lang="en-US" altLang="zh-CN" dirty="0"/>
              <a:t>Java Language Features and FP in Java</a:t>
            </a:r>
            <a:endParaRPr lang="zh-CN" altLang="en-US" dirty="0"/>
          </a:p>
        </p:txBody>
      </p:sp>
      <p:sp>
        <p:nvSpPr>
          <p:cNvPr id="4" name="Date Placeholder 3">
            <a:extLst>
              <a:ext uri="{FF2B5EF4-FFF2-40B4-BE49-F238E27FC236}">
                <a16:creationId xmlns:a16="http://schemas.microsoft.com/office/drawing/2014/main" id="{8058AF15-EC75-B8E9-E33D-056DC4E3F0AA}"/>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Footer Placeholder 4">
            <a:extLst>
              <a:ext uri="{FF2B5EF4-FFF2-40B4-BE49-F238E27FC236}">
                <a16:creationId xmlns:a16="http://schemas.microsoft.com/office/drawing/2014/main" id="{69238028-0E86-8312-6988-18F6A2C3C52F}"/>
              </a:ext>
            </a:extLst>
          </p:cNvPr>
          <p:cNvSpPr>
            <a:spLocks noGrp="1"/>
          </p:cNvSpPr>
          <p:nvPr>
            <p:ph type="ftr" sz="quarter" idx="3"/>
          </p:nvPr>
        </p:nvSpPr>
        <p:spPr/>
        <p:txBody>
          <a:bodyPr/>
          <a:lstStyle/>
          <a:p>
            <a:pPr algn="ctr"/>
            <a:r>
              <a:rPr lang="en-US" altLang="zh-CN"/>
              <a:t>Dr Youbing Zhao - Functional Programming in Java</a:t>
            </a:r>
            <a:endParaRPr lang="en-US" dirty="0"/>
          </a:p>
        </p:txBody>
      </p:sp>
      <p:sp>
        <p:nvSpPr>
          <p:cNvPr id="6" name="Slide Number Placeholder 5">
            <a:extLst>
              <a:ext uri="{FF2B5EF4-FFF2-40B4-BE49-F238E27FC236}">
                <a16:creationId xmlns:a16="http://schemas.microsoft.com/office/drawing/2014/main" id="{D3D34F80-0E89-349D-FAC4-A78CD39F684F}"/>
              </a:ext>
            </a:extLst>
          </p:cNvPr>
          <p:cNvSpPr>
            <a:spLocks noGrp="1"/>
          </p:cNvSpPr>
          <p:nvPr>
            <p:ph type="sldNum" sz="quarter" idx="4"/>
          </p:nvPr>
        </p:nvSpPr>
        <p:spPr/>
        <p:txBody>
          <a:bodyPr/>
          <a:lstStyle/>
          <a:p>
            <a:fld id="{19B12225-5612-419B-A8D5-4B8EEE4C217E}" type="slidenum">
              <a:rPr lang="en-US" smtClean="0"/>
              <a:pPr/>
              <a:t>6</a:t>
            </a:fld>
            <a:endParaRPr lang="en-US" dirty="0"/>
          </a:p>
        </p:txBody>
      </p:sp>
    </p:spTree>
    <p:extLst>
      <p:ext uri="{BB962C8B-B14F-4D97-AF65-F5344CB8AC3E}">
        <p14:creationId xmlns:p14="http://schemas.microsoft.com/office/powerpoint/2010/main" val="340045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BC27C5A0-8B79-4C0E-8A32-39A5235B99D8}"/>
              </a:ext>
            </a:extLst>
          </p:cNvPr>
          <p:cNvSpPr>
            <a:spLocks noGrp="1"/>
          </p:cNvSpPr>
          <p:nvPr>
            <p:ph idx="1"/>
          </p:nvPr>
        </p:nvSpPr>
        <p:spPr/>
        <p:txBody>
          <a:bodyPr>
            <a:normAutofit fontScale="92500" lnSpcReduction="10000"/>
          </a:bodyPr>
          <a:lstStyle/>
          <a:p>
            <a:r>
              <a:rPr lang="en-US" altLang="zh-CN" dirty="0" err="1"/>
              <a:t>Behaviour</a:t>
            </a:r>
            <a:r>
              <a:rPr lang="zh-CN" altLang="en-US" dirty="0"/>
              <a:t>（</a:t>
            </a:r>
            <a:r>
              <a:rPr lang="en-US" altLang="zh-CN" dirty="0"/>
              <a:t>Functions/Methods</a:t>
            </a:r>
            <a:r>
              <a:rPr lang="zh-CN" altLang="en-US" dirty="0"/>
              <a:t>）</a:t>
            </a:r>
            <a:r>
              <a:rPr lang="en-US" altLang="zh-CN" dirty="0"/>
              <a:t>as Function Arguments</a:t>
            </a:r>
          </a:p>
          <a:p>
            <a:r>
              <a:rPr lang="en-US" altLang="zh-CN" dirty="0"/>
              <a:t>Functions/Methods are First-Class Citizens</a:t>
            </a:r>
          </a:p>
          <a:p>
            <a:endParaRPr lang="en-US" altLang="zh-CN" dirty="0"/>
          </a:p>
          <a:p>
            <a:r>
              <a:rPr lang="en-US" altLang="zh-CN" dirty="0"/>
              <a:t>Example: Apple Selection</a:t>
            </a:r>
          </a:p>
          <a:p>
            <a:endParaRPr lang="en-US" altLang="zh-CN" dirty="0"/>
          </a:p>
          <a:p>
            <a:pPr marL="0" indent="0">
              <a:buNone/>
            </a:pPr>
            <a:r>
              <a:rPr lang="en-US" altLang="zh-CN" sz="1800" dirty="0" err="1">
                <a:solidFill>
                  <a:srgbClr val="000000"/>
                </a:solidFill>
              </a:rPr>
              <a:t>ArrayList</a:t>
            </a:r>
            <a:r>
              <a:rPr lang="en-US" altLang="zh-CN" sz="1800" dirty="0">
                <a:solidFill>
                  <a:srgbClr val="000000"/>
                </a:solidFill>
              </a:rPr>
              <a:t>&lt;Apple&gt; list = </a:t>
            </a:r>
            <a:r>
              <a:rPr lang="en-US" altLang="zh-CN" sz="1800" b="1" dirty="0">
                <a:solidFill>
                  <a:srgbClr val="2239A8"/>
                </a:solidFill>
              </a:rPr>
              <a:t>new</a:t>
            </a:r>
            <a:r>
              <a:rPr lang="en-US" altLang="zh-CN" sz="1800" dirty="0">
                <a:solidFill>
                  <a:srgbClr val="2239A8"/>
                </a:solidFill>
              </a:rPr>
              <a:t> </a:t>
            </a:r>
            <a:r>
              <a:rPr lang="en-US" altLang="zh-CN" sz="1800" dirty="0" err="1">
                <a:solidFill>
                  <a:srgbClr val="000000"/>
                </a:solidFill>
              </a:rPr>
              <a:t>ArrayList</a:t>
            </a:r>
            <a:r>
              <a:rPr lang="en-US" altLang="zh-CN" sz="1800" dirty="0">
                <a:solidFill>
                  <a:srgbClr val="000000"/>
                </a:solidFill>
              </a:rPr>
              <a:t>&lt;&gt;();</a:t>
            </a:r>
          </a:p>
          <a:p>
            <a:pPr marL="0" indent="0">
              <a:buNone/>
            </a:pPr>
            <a:endParaRPr lang="en-US" altLang="zh-CN" sz="1800" dirty="0">
              <a:solidFill>
                <a:srgbClr val="000000"/>
              </a:solidFill>
            </a:endParaRPr>
          </a:p>
          <a:p>
            <a:pPr marL="0" indent="0">
              <a:buNone/>
            </a:pPr>
            <a:r>
              <a:rPr lang="en-US" altLang="zh-CN" sz="1800" b="1" dirty="0">
                <a:solidFill>
                  <a:srgbClr val="2239A8"/>
                </a:solidFill>
              </a:rPr>
              <a:t>public class</a:t>
            </a:r>
            <a:r>
              <a:rPr lang="en-US" altLang="zh-CN" sz="1800" dirty="0">
                <a:solidFill>
                  <a:srgbClr val="2239A8"/>
                </a:solidFill>
              </a:rPr>
              <a:t> </a:t>
            </a:r>
            <a:r>
              <a:rPr lang="en-US" altLang="zh-CN" sz="1800" dirty="0" err="1">
                <a:solidFill>
                  <a:srgbClr val="000000"/>
                </a:solidFill>
              </a:rPr>
              <a:t>AppleSelector</a:t>
            </a:r>
            <a:r>
              <a:rPr lang="en-US" altLang="zh-CN" sz="1800" dirty="0">
                <a:solidFill>
                  <a:srgbClr val="000000"/>
                </a:solidFill>
              </a:rPr>
              <a:t> {</a:t>
            </a:r>
          </a:p>
          <a:p>
            <a:pPr marL="0" indent="0">
              <a:buNone/>
            </a:pPr>
            <a:r>
              <a:rPr lang="en-US" altLang="zh-CN" sz="1800" dirty="0"/>
              <a:t>    </a:t>
            </a:r>
            <a:r>
              <a:rPr lang="en-US" altLang="zh-CN" sz="1800" b="1" dirty="0">
                <a:solidFill>
                  <a:srgbClr val="2239A8"/>
                </a:solidFill>
              </a:rPr>
              <a:t>public static </a:t>
            </a:r>
            <a:r>
              <a:rPr lang="en-US" altLang="zh-CN" sz="1800" b="1" dirty="0" err="1">
                <a:solidFill>
                  <a:srgbClr val="2239A8"/>
                </a:solidFill>
              </a:rPr>
              <a:t>boolean</a:t>
            </a:r>
            <a:r>
              <a:rPr lang="en-US" altLang="zh-CN" sz="1800" dirty="0">
                <a:solidFill>
                  <a:srgbClr val="2239A8"/>
                </a:solidFill>
              </a:rPr>
              <a:t> </a:t>
            </a:r>
            <a:r>
              <a:rPr lang="en-US" altLang="zh-CN" sz="1800" dirty="0">
                <a:solidFill>
                  <a:srgbClr val="A8227B"/>
                </a:solidFill>
              </a:rPr>
              <a:t>reject</a:t>
            </a:r>
            <a:r>
              <a:rPr lang="en-US" altLang="zh-CN" sz="1800" dirty="0">
                <a:solidFill>
                  <a:srgbClr val="000000"/>
                </a:solidFill>
              </a:rPr>
              <a:t>(Apple a)  {</a:t>
            </a:r>
          </a:p>
          <a:p>
            <a:pPr marL="0" indent="0">
              <a:buNone/>
            </a:pPr>
            <a:r>
              <a:rPr lang="en-US" altLang="zh-CN" sz="1800" dirty="0"/>
              <a:t>        </a:t>
            </a:r>
            <a:r>
              <a:rPr lang="en-US" altLang="zh-CN" sz="1800" b="1" dirty="0">
                <a:solidFill>
                  <a:srgbClr val="2239A8"/>
                </a:solidFill>
              </a:rPr>
              <a:t>if</a:t>
            </a:r>
            <a:r>
              <a:rPr lang="en-US" altLang="zh-CN" sz="1800" dirty="0">
                <a:solidFill>
                  <a:srgbClr val="2239A8"/>
                </a:solidFill>
              </a:rPr>
              <a:t> </a:t>
            </a:r>
            <a:r>
              <a:rPr lang="en-US" altLang="zh-CN" sz="1800" dirty="0">
                <a:solidFill>
                  <a:srgbClr val="000000"/>
                </a:solidFill>
              </a:rPr>
              <a:t>(</a:t>
            </a:r>
            <a:r>
              <a:rPr lang="en-US" altLang="zh-CN" sz="1800" dirty="0" err="1">
                <a:solidFill>
                  <a:srgbClr val="000000"/>
                </a:solidFill>
              </a:rPr>
              <a:t>a.</a:t>
            </a:r>
            <a:r>
              <a:rPr lang="en-US" altLang="zh-CN" sz="1800" dirty="0" err="1">
                <a:solidFill>
                  <a:srgbClr val="A8227B"/>
                </a:solidFill>
              </a:rPr>
              <a:t>getWeight</a:t>
            </a:r>
            <a:r>
              <a:rPr lang="en-US" altLang="zh-CN" sz="1800" dirty="0">
                <a:solidFill>
                  <a:srgbClr val="000000"/>
                </a:solidFill>
              </a:rPr>
              <a:t>() &lt; </a:t>
            </a:r>
            <a:r>
              <a:rPr lang="en-US" altLang="zh-CN" sz="1800" dirty="0">
                <a:solidFill>
                  <a:srgbClr val="A8660D"/>
                </a:solidFill>
              </a:rPr>
              <a:t>150</a:t>
            </a:r>
            <a:r>
              <a:rPr lang="en-US" altLang="zh-CN" sz="1800" dirty="0">
                <a:solidFill>
                  <a:srgbClr val="000000"/>
                </a:solidFill>
              </a:rPr>
              <a:t>) {</a:t>
            </a:r>
          </a:p>
          <a:p>
            <a:pPr marL="0" indent="0">
              <a:buNone/>
            </a:pPr>
            <a:r>
              <a:rPr lang="en-US" altLang="zh-CN" sz="1800" dirty="0"/>
              <a:t>            </a:t>
            </a:r>
            <a:r>
              <a:rPr lang="en-US" altLang="zh-CN" sz="1800" b="1" dirty="0">
                <a:solidFill>
                  <a:srgbClr val="2239A8"/>
                </a:solidFill>
              </a:rPr>
              <a:t>return</a:t>
            </a:r>
            <a:r>
              <a:rPr lang="en-US" altLang="zh-CN" sz="1800" dirty="0">
                <a:solidFill>
                  <a:srgbClr val="2239A8"/>
                </a:solidFill>
              </a:rPr>
              <a:t> </a:t>
            </a:r>
            <a:r>
              <a:rPr lang="en-US" altLang="zh-CN" sz="1800" b="1" dirty="0">
                <a:solidFill>
                  <a:srgbClr val="8C1D69"/>
                </a:solidFill>
              </a:rPr>
              <a:t>true</a:t>
            </a:r>
            <a:r>
              <a:rPr lang="en-US" altLang="zh-CN" sz="1800" dirty="0">
                <a:solidFill>
                  <a:srgbClr val="000000"/>
                </a:solidFill>
              </a:rPr>
              <a:t>;</a:t>
            </a:r>
          </a:p>
          <a:p>
            <a:pPr marL="0" indent="0">
              <a:buNone/>
            </a:pPr>
            <a:r>
              <a:rPr lang="en-US" altLang="zh-CN" sz="1800" dirty="0"/>
              <a:t>        </a:t>
            </a:r>
            <a:r>
              <a:rPr lang="en-US" altLang="zh-CN" sz="1800" dirty="0">
                <a:solidFill>
                  <a:srgbClr val="000000"/>
                </a:solidFill>
              </a:rPr>
              <a:t>} </a:t>
            </a:r>
            <a:r>
              <a:rPr lang="en-US" altLang="zh-CN" sz="1800" b="1" dirty="0">
                <a:solidFill>
                  <a:srgbClr val="2239A8"/>
                </a:solidFill>
              </a:rPr>
              <a:t>else</a:t>
            </a:r>
            <a:r>
              <a:rPr lang="en-US" altLang="zh-CN" sz="1800" dirty="0">
                <a:solidFill>
                  <a:srgbClr val="2239A8"/>
                </a:solidFill>
              </a:rPr>
              <a:t> </a:t>
            </a:r>
            <a:r>
              <a:rPr lang="en-US" altLang="zh-CN" sz="1800" dirty="0">
                <a:solidFill>
                  <a:srgbClr val="000000"/>
                </a:solidFill>
              </a:rPr>
              <a:t>{</a:t>
            </a:r>
          </a:p>
          <a:p>
            <a:pPr marL="0" indent="0">
              <a:buNone/>
            </a:pPr>
            <a:r>
              <a:rPr lang="en-US" altLang="zh-CN" sz="1800" dirty="0"/>
              <a:t>            </a:t>
            </a:r>
            <a:r>
              <a:rPr lang="en-US" altLang="zh-CN" sz="1800" b="1" dirty="0">
                <a:solidFill>
                  <a:srgbClr val="2239A8"/>
                </a:solidFill>
              </a:rPr>
              <a:t>return</a:t>
            </a:r>
            <a:r>
              <a:rPr lang="en-US" altLang="zh-CN" sz="1800" dirty="0">
                <a:solidFill>
                  <a:srgbClr val="2239A8"/>
                </a:solidFill>
              </a:rPr>
              <a:t> </a:t>
            </a:r>
            <a:r>
              <a:rPr lang="en-US" altLang="zh-CN" sz="1800" b="1" dirty="0">
                <a:solidFill>
                  <a:srgbClr val="8C1D69"/>
                </a:solidFill>
              </a:rPr>
              <a:t>false</a:t>
            </a:r>
            <a:r>
              <a:rPr lang="en-US" altLang="zh-CN" sz="1800" dirty="0">
                <a:solidFill>
                  <a:srgbClr val="000000"/>
                </a:solidFill>
              </a:rPr>
              <a:t>;</a:t>
            </a:r>
          </a:p>
          <a:p>
            <a:pPr marL="0" indent="0">
              <a:buNone/>
            </a:pPr>
            <a:r>
              <a:rPr lang="zh-CN" altLang="en-US" sz="1800" dirty="0"/>
              <a:t>        </a:t>
            </a:r>
            <a:r>
              <a:rPr lang="en-US" altLang="zh-CN" sz="1800" dirty="0">
                <a:solidFill>
                  <a:srgbClr val="000000"/>
                </a:solidFill>
              </a:rPr>
              <a:t>}</a:t>
            </a:r>
          </a:p>
          <a:p>
            <a:pPr marL="0" indent="0">
              <a:buNone/>
            </a:pPr>
            <a:r>
              <a:rPr lang="zh-CN" altLang="en-US" sz="1800" dirty="0"/>
              <a:t>    </a:t>
            </a:r>
            <a:r>
              <a:rPr lang="en-US" altLang="zh-CN" sz="1800" dirty="0">
                <a:solidFill>
                  <a:srgbClr val="000000"/>
                </a:solidFill>
              </a:rPr>
              <a:t>}</a:t>
            </a:r>
          </a:p>
          <a:p>
            <a:pPr marL="0" indent="0">
              <a:buNone/>
            </a:pPr>
            <a:r>
              <a:rPr lang="en-US" altLang="zh-CN" sz="1800" dirty="0">
                <a:solidFill>
                  <a:srgbClr val="000000"/>
                </a:solidFill>
              </a:rPr>
              <a:t>}</a:t>
            </a:r>
          </a:p>
          <a:p>
            <a:pPr marL="0" indent="0">
              <a:buNone/>
            </a:pPr>
            <a:r>
              <a:rPr lang="zh-CN" altLang="en-US" sz="1800" dirty="0"/>
              <a:t> </a:t>
            </a:r>
          </a:p>
          <a:p>
            <a:pPr marL="0" indent="0">
              <a:buNone/>
            </a:pPr>
            <a:r>
              <a:rPr lang="en-US" altLang="zh-CN" sz="1800" dirty="0" err="1">
                <a:solidFill>
                  <a:srgbClr val="000000"/>
                </a:solidFill>
              </a:rPr>
              <a:t>list.</a:t>
            </a:r>
            <a:r>
              <a:rPr lang="en-US" altLang="zh-CN" sz="1800" dirty="0" err="1">
                <a:solidFill>
                  <a:srgbClr val="A8227B"/>
                </a:solidFill>
              </a:rPr>
              <a:t>removeIf</a:t>
            </a:r>
            <a:r>
              <a:rPr lang="en-US" altLang="zh-CN" sz="1800" dirty="0">
                <a:solidFill>
                  <a:srgbClr val="000000"/>
                </a:solidFill>
              </a:rPr>
              <a:t>(</a:t>
            </a:r>
            <a:r>
              <a:rPr lang="en-US" altLang="zh-CN" sz="1800" dirty="0" err="1">
                <a:solidFill>
                  <a:srgbClr val="000000"/>
                </a:solidFill>
              </a:rPr>
              <a:t>AppleSelector</a:t>
            </a:r>
            <a:r>
              <a:rPr lang="en-US" altLang="zh-CN" sz="1800" dirty="0">
                <a:solidFill>
                  <a:srgbClr val="000000"/>
                </a:solidFill>
              </a:rPr>
              <a:t>::reject);</a:t>
            </a:r>
          </a:p>
          <a:p>
            <a:pPr marL="0" indent="0">
              <a:buNone/>
            </a:pPr>
            <a:endParaRPr lang="en-US" altLang="zh-CN" sz="1800" dirty="0">
              <a:solidFill>
                <a:srgbClr val="000000"/>
              </a:solidFill>
            </a:endParaRPr>
          </a:p>
          <a:p>
            <a:pPr marL="285750" indent="-285750"/>
            <a:r>
              <a:rPr lang="en-US" altLang="zh-CN" sz="1800" dirty="0">
                <a:solidFill>
                  <a:srgbClr val="000000"/>
                </a:solidFill>
              </a:rPr>
              <a:t>Lambda</a:t>
            </a:r>
          </a:p>
          <a:p>
            <a:pPr marL="0" indent="0">
              <a:buNone/>
            </a:pPr>
            <a:r>
              <a:rPr lang="en-US" altLang="zh-CN" sz="1800" dirty="0" err="1">
                <a:solidFill>
                  <a:srgbClr val="000000"/>
                </a:solidFill>
              </a:rPr>
              <a:t>list.</a:t>
            </a:r>
            <a:r>
              <a:rPr lang="en-US" altLang="zh-CN" sz="1800" dirty="0" err="1">
                <a:solidFill>
                  <a:srgbClr val="A8227B"/>
                </a:solidFill>
              </a:rPr>
              <a:t>removeIf</a:t>
            </a:r>
            <a:r>
              <a:rPr lang="en-US" altLang="zh-CN" sz="1800" dirty="0">
                <a:solidFill>
                  <a:srgbClr val="000000"/>
                </a:solidFill>
              </a:rPr>
              <a:t>(a -&gt; </a:t>
            </a:r>
            <a:r>
              <a:rPr lang="en-US" altLang="zh-CN" sz="1800" dirty="0" err="1">
                <a:solidFill>
                  <a:srgbClr val="000000"/>
                </a:solidFill>
              </a:rPr>
              <a:t>a.</a:t>
            </a:r>
            <a:r>
              <a:rPr lang="en-US" altLang="zh-CN" sz="1800" dirty="0" err="1">
                <a:solidFill>
                  <a:srgbClr val="A8227B"/>
                </a:solidFill>
              </a:rPr>
              <a:t>getWeight</a:t>
            </a:r>
            <a:r>
              <a:rPr lang="en-US" altLang="zh-CN" sz="1800" dirty="0">
                <a:solidFill>
                  <a:srgbClr val="000000"/>
                </a:solidFill>
              </a:rPr>
              <a:t>() &lt; </a:t>
            </a:r>
            <a:r>
              <a:rPr lang="en-US" altLang="zh-CN" sz="1800" dirty="0">
                <a:solidFill>
                  <a:srgbClr val="A8660D"/>
                </a:solidFill>
              </a:rPr>
              <a:t>150.0</a:t>
            </a:r>
            <a:r>
              <a:rPr lang="en-US" altLang="zh-CN" sz="1800" dirty="0">
                <a:solidFill>
                  <a:srgbClr val="000000"/>
                </a:solidFill>
              </a:rPr>
              <a:t>);</a:t>
            </a:r>
          </a:p>
        </p:txBody>
      </p:sp>
      <p:sp>
        <p:nvSpPr>
          <p:cNvPr id="4" name="标题 3">
            <a:extLst>
              <a:ext uri="{FF2B5EF4-FFF2-40B4-BE49-F238E27FC236}">
                <a16:creationId xmlns:a16="http://schemas.microsoft.com/office/drawing/2014/main" id="{C1616BE7-C5D8-406A-B36D-047496DEADDB}"/>
              </a:ext>
            </a:extLst>
          </p:cNvPr>
          <p:cNvSpPr>
            <a:spLocks noGrp="1"/>
          </p:cNvSpPr>
          <p:nvPr>
            <p:ph type="title"/>
          </p:nvPr>
        </p:nvSpPr>
        <p:spPr/>
        <p:txBody>
          <a:bodyPr/>
          <a:lstStyle/>
          <a:p>
            <a:r>
              <a:rPr lang="en-US" altLang="zh-CN" dirty="0"/>
              <a:t>Functional Programming in Java</a:t>
            </a:r>
            <a:endParaRPr lang="zh-CN" altLang="en-US" dirty="0"/>
          </a:p>
        </p:txBody>
      </p:sp>
    </p:spTree>
    <p:extLst>
      <p:ext uri="{BB962C8B-B14F-4D97-AF65-F5344CB8AC3E}">
        <p14:creationId xmlns:p14="http://schemas.microsoft.com/office/powerpoint/2010/main" val="980684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7980E5B-CA5C-4020-A000-3A3308BD6D5E}"/>
              </a:ext>
            </a:extLst>
          </p:cNvPr>
          <p:cNvSpPr>
            <a:spLocks noGrp="1"/>
          </p:cNvSpPr>
          <p:nvPr>
            <p:ph type="title"/>
          </p:nvPr>
        </p:nvSpPr>
        <p:spPr/>
        <p:txBody>
          <a:bodyPr/>
          <a:lstStyle/>
          <a:p>
            <a:r>
              <a:rPr lang="en-US" altLang="zh-CN" dirty="0"/>
              <a:t>First-class Functions – </a:t>
            </a:r>
            <a:br>
              <a:rPr lang="en-US" altLang="zh-CN" dirty="0"/>
            </a:br>
            <a:r>
              <a:rPr lang="en-US" altLang="zh-CN" dirty="0"/>
              <a:t>Method Reference</a:t>
            </a:r>
            <a:endParaRPr lang="zh-CN" altLang="en-US" dirty="0"/>
          </a:p>
        </p:txBody>
      </p:sp>
      <p:sp>
        <p:nvSpPr>
          <p:cNvPr id="8" name="文本占位符 7">
            <a:extLst>
              <a:ext uri="{FF2B5EF4-FFF2-40B4-BE49-F238E27FC236}">
                <a16:creationId xmlns:a16="http://schemas.microsoft.com/office/drawing/2014/main" id="{836D2FCA-ECEE-4E2F-8CE1-C9540166BB0F}"/>
              </a:ext>
            </a:extLst>
          </p:cNvPr>
          <p:cNvSpPr>
            <a:spLocks noGrp="1"/>
          </p:cNvSpPr>
          <p:nvPr>
            <p:ph type="body" idx="1"/>
          </p:nvPr>
        </p:nvSpPr>
        <p:spPr/>
        <p:txBody>
          <a:bodyPr/>
          <a:lstStyle/>
          <a:p>
            <a:endParaRPr lang="zh-CN" altLang="en-US"/>
          </a:p>
        </p:txBody>
      </p:sp>
      <p:sp>
        <p:nvSpPr>
          <p:cNvPr id="4" name="日期占位符 3">
            <a:extLst>
              <a:ext uri="{FF2B5EF4-FFF2-40B4-BE49-F238E27FC236}">
                <a16:creationId xmlns:a16="http://schemas.microsoft.com/office/drawing/2014/main" id="{CBC23ACC-6ACF-48E6-A6A9-13518D5C03B1}"/>
              </a:ext>
            </a:extLst>
          </p:cNvPr>
          <p:cNvSpPr>
            <a:spLocks noGrp="1"/>
          </p:cNvSpPr>
          <p:nvPr>
            <p:ph type="dt" sz="half" idx="4294967295"/>
          </p:nvPr>
        </p:nvSpPr>
        <p:spPr>
          <a:xfrm>
            <a:off x="0" y="6705600"/>
            <a:ext cx="1087438" cy="152400"/>
          </a:xfrm>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30852795-4F64-4BC3-B668-73AC2DFA0336}"/>
              </a:ext>
            </a:extLst>
          </p:cNvPr>
          <p:cNvSpPr>
            <a:spLocks noGrp="1"/>
          </p:cNvSpPr>
          <p:nvPr>
            <p:ph type="ftr" sz="quarter" idx="4294967295"/>
          </p:nvPr>
        </p:nvSpPr>
        <p:spPr>
          <a:xfrm>
            <a:off x="2159000" y="6705600"/>
            <a:ext cx="6985000" cy="152400"/>
          </a:xfrm>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B87C8866-CF91-4667-A0EB-93E9C11AAAAA}"/>
              </a:ext>
            </a:extLst>
          </p:cNvPr>
          <p:cNvSpPr>
            <a:spLocks noGrp="1"/>
          </p:cNvSpPr>
          <p:nvPr>
            <p:ph type="sldNum" sz="quarter" idx="4294967295"/>
          </p:nvPr>
        </p:nvSpPr>
        <p:spPr>
          <a:xfrm>
            <a:off x="8509000" y="6705600"/>
            <a:ext cx="635000" cy="152400"/>
          </a:xfrm>
        </p:spPr>
        <p:txBody>
          <a:bodyPr/>
          <a:lstStyle/>
          <a:p>
            <a:fld id="{19B12225-5612-419B-A8D5-4B8EEE4C217E}" type="slidenum">
              <a:rPr lang="en-US" smtClean="0"/>
              <a:pPr/>
              <a:t>8</a:t>
            </a:fld>
            <a:endParaRPr lang="en-US" dirty="0"/>
          </a:p>
        </p:txBody>
      </p:sp>
    </p:spTree>
    <p:extLst>
      <p:ext uri="{BB962C8B-B14F-4D97-AF65-F5344CB8AC3E}">
        <p14:creationId xmlns:p14="http://schemas.microsoft.com/office/powerpoint/2010/main" val="3432340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D3F8F805-EBBE-4CDA-998C-008A920A1F62}"/>
              </a:ext>
            </a:extLst>
          </p:cNvPr>
          <p:cNvSpPr>
            <a:spLocks noGrp="1"/>
          </p:cNvSpPr>
          <p:nvPr>
            <p:ph idx="1"/>
          </p:nvPr>
        </p:nvSpPr>
        <p:spPr/>
        <p:txBody>
          <a:bodyPr>
            <a:normAutofit fontScale="70000" lnSpcReduction="20000"/>
          </a:bodyPr>
          <a:lstStyle/>
          <a:p>
            <a:r>
              <a:rPr lang="en-US" altLang="zh-CN" dirty="0"/>
              <a:t>In Object-Oriented Languages, a function is normally called a method</a:t>
            </a:r>
          </a:p>
          <a:p>
            <a:r>
              <a:rPr lang="en-US" altLang="zh-CN" dirty="0"/>
              <a:t>Method Reference </a:t>
            </a:r>
          </a:p>
          <a:p>
            <a:pPr lvl="1"/>
            <a:r>
              <a:rPr lang="en-US" altLang="zh-CN" dirty="0"/>
              <a:t>Reference of a method in a class or object</a:t>
            </a:r>
          </a:p>
          <a:p>
            <a:pPr lvl="1"/>
            <a:r>
              <a:rPr lang="en-US" altLang="zh-CN" dirty="0"/>
              <a:t>Can be used as function arguments</a:t>
            </a:r>
          </a:p>
          <a:p>
            <a:r>
              <a:rPr lang="en-US" altLang="zh-CN" dirty="0"/>
              <a:t>Static method reference</a:t>
            </a:r>
          </a:p>
          <a:p>
            <a:pPr lvl="1"/>
            <a:r>
              <a:rPr lang="en-US" altLang="zh-CN" dirty="0" err="1"/>
              <a:t>ClassName</a:t>
            </a:r>
            <a:r>
              <a:rPr lang="en-US" altLang="zh-CN" dirty="0"/>
              <a:t>::</a:t>
            </a:r>
            <a:r>
              <a:rPr lang="en-US" altLang="zh-CN" dirty="0" err="1"/>
              <a:t>staticMethodName</a:t>
            </a:r>
            <a:endParaRPr lang="en-US" altLang="zh-CN" dirty="0"/>
          </a:p>
          <a:p>
            <a:pPr lvl="1"/>
            <a:r>
              <a:rPr lang="en-US" altLang="zh-CN" dirty="0"/>
              <a:t>Integer::</a:t>
            </a:r>
            <a:r>
              <a:rPr lang="en-US" altLang="zh-CN" dirty="0">
                <a:solidFill>
                  <a:srgbClr val="A8227B"/>
                </a:solidFill>
              </a:rPr>
              <a:t>compare</a:t>
            </a:r>
          </a:p>
          <a:p>
            <a:pPr lvl="2"/>
            <a:r>
              <a:rPr lang="en-US" altLang="zh-CN" b="1" dirty="0">
                <a:solidFill>
                  <a:srgbClr val="2239A8"/>
                </a:solidFill>
              </a:rPr>
              <a:t>public static int</a:t>
            </a:r>
            <a:r>
              <a:rPr lang="en-US" altLang="zh-CN" dirty="0">
                <a:solidFill>
                  <a:srgbClr val="2239A8"/>
                </a:solidFill>
              </a:rPr>
              <a:t> </a:t>
            </a:r>
            <a:r>
              <a:rPr lang="en-US" altLang="zh-CN" dirty="0">
                <a:solidFill>
                  <a:srgbClr val="A8227B"/>
                </a:solidFill>
              </a:rPr>
              <a:t>compare</a:t>
            </a:r>
            <a:r>
              <a:rPr lang="en-US" altLang="zh-CN" dirty="0">
                <a:solidFill>
                  <a:srgbClr val="000000"/>
                </a:solidFill>
              </a:rPr>
              <a:t>(</a:t>
            </a:r>
            <a:r>
              <a:rPr lang="en-US" altLang="zh-CN" b="1" dirty="0">
                <a:solidFill>
                  <a:srgbClr val="2239A8"/>
                </a:solidFill>
              </a:rPr>
              <a:t>int</a:t>
            </a:r>
            <a:r>
              <a:rPr lang="en-US" altLang="zh-CN" dirty="0">
                <a:solidFill>
                  <a:srgbClr val="2239A8"/>
                </a:solidFill>
              </a:rPr>
              <a:t> </a:t>
            </a:r>
            <a:r>
              <a:rPr lang="en-US" altLang="zh-CN" dirty="0">
                <a:solidFill>
                  <a:srgbClr val="000000"/>
                </a:solidFill>
              </a:rPr>
              <a:t>x, </a:t>
            </a:r>
            <a:r>
              <a:rPr lang="en-US" altLang="zh-CN" b="1" dirty="0">
                <a:solidFill>
                  <a:srgbClr val="2239A8"/>
                </a:solidFill>
              </a:rPr>
              <a:t>int</a:t>
            </a:r>
            <a:r>
              <a:rPr lang="en-US" altLang="zh-CN" dirty="0">
                <a:solidFill>
                  <a:srgbClr val="2239A8"/>
                </a:solidFill>
              </a:rPr>
              <a:t> </a:t>
            </a:r>
            <a:r>
              <a:rPr lang="en-US" altLang="zh-CN" dirty="0">
                <a:solidFill>
                  <a:srgbClr val="000000"/>
                </a:solidFill>
              </a:rPr>
              <a:t>y)</a:t>
            </a:r>
          </a:p>
          <a:p>
            <a:pPr lvl="1"/>
            <a:r>
              <a:rPr lang="en-US" altLang="zh-CN" dirty="0">
                <a:solidFill>
                  <a:srgbClr val="A8227B"/>
                </a:solidFill>
              </a:rPr>
              <a:t>Math::max</a:t>
            </a:r>
          </a:p>
          <a:p>
            <a:pPr lvl="2"/>
            <a:r>
              <a:rPr lang="en-US" altLang="zh-CN" b="1" dirty="0">
                <a:solidFill>
                  <a:srgbClr val="2239A8"/>
                </a:solidFill>
              </a:rPr>
              <a:t>public static T</a:t>
            </a:r>
            <a:r>
              <a:rPr lang="en-US" altLang="zh-CN" dirty="0">
                <a:solidFill>
                  <a:srgbClr val="2239A8"/>
                </a:solidFill>
              </a:rPr>
              <a:t> </a:t>
            </a:r>
            <a:r>
              <a:rPr lang="en-US" altLang="zh-CN" dirty="0">
                <a:solidFill>
                  <a:srgbClr val="A8227B"/>
                </a:solidFill>
              </a:rPr>
              <a:t>max</a:t>
            </a:r>
            <a:r>
              <a:rPr lang="en-US" altLang="zh-CN" dirty="0">
                <a:solidFill>
                  <a:srgbClr val="000000"/>
                </a:solidFill>
              </a:rPr>
              <a:t>(</a:t>
            </a:r>
            <a:r>
              <a:rPr lang="en-US" altLang="zh-CN" b="1" dirty="0">
                <a:solidFill>
                  <a:srgbClr val="2239A8"/>
                </a:solidFill>
              </a:rPr>
              <a:t>T</a:t>
            </a:r>
            <a:r>
              <a:rPr lang="en-US" altLang="zh-CN" dirty="0">
                <a:solidFill>
                  <a:srgbClr val="2239A8"/>
                </a:solidFill>
              </a:rPr>
              <a:t> </a:t>
            </a:r>
            <a:r>
              <a:rPr lang="en-US" altLang="zh-CN" dirty="0">
                <a:solidFill>
                  <a:srgbClr val="000000"/>
                </a:solidFill>
              </a:rPr>
              <a:t>x, </a:t>
            </a:r>
            <a:r>
              <a:rPr lang="en-US" altLang="zh-CN" b="1" dirty="0">
                <a:solidFill>
                  <a:srgbClr val="2239A8"/>
                </a:solidFill>
              </a:rPr>
              <a:t>T</a:t>
            </a:r>
            <a:r>
              <a:rPr lang="en-US" altLang="zh-CN" dirty="0">
                <a:solidFill>
                  <a:srgbClr val="2239A8"/>
                </a:solidFill>
              </a:rPr>
              <a:t> </a:t>
            </a:r>
            <a:r>
              <a:rPr lang="en-US" altLang="zh-CN" dirty="0">
                <a:solidFill>
                  <a:srgbClr val="000000"/>
                </a:solidFill>
              </a:rPr>
              <a:t>y)</a:t>
            </a:r>
            <a:endParaRPr lang="en-US" altLang="zh-CN" dirty="0">
              <a:solidFill>
                <a:srgbClr val="A8227B"/>
              </a:solidFill>
            </a:endParaRPr>
          </a:p>
          <a:p>
            <a:r>
              <a:rPr lang="en-US" altLang="zh-CN" dirty="0"/>
              <a:t>Instance method reference</a:t>
            </a:r>
          </a:p>
          <a:p>
            <a:pPr lvl="1"/>
            <a:r>
              <a:rPr lang="en-US" altLang="zh-CN" dirty="0" err="1"/>
              <a:t>instanceName</a:t>
            </a:r>
            <a:r>
              <a:rPr lang="en-US" altLang="zh-CN" dirty="0"/>
              <a:t>::</a:t>
            </a:r>
            <a:r>
              <a:rPr lang="en-US" altLang="zh-CN" dirty="0" err="1"/>
              <a:t>instanceMethodName</a:t>
            </a:r>
            <a:endParaRPr lang="en-US" altLang="zh-CN" dirty="0"/>
          </a:p>
          <a:p>
            <a:pPr lvl="1"/>
            <a:r>
              <a:rPr lang="en-US" altLang="zh-CN" dirty="0" err="1">
                <a:solidFill>
                  <a:srgbClr val="000000"/>
                </a:solidFill>
              </a:rPr>
              <a:t>System.out</a:t>
            </a:r>
            <a:r>
              <a:rPr lang="en-US" altLang="zh-CN" dirty="0">
                <a:solidFill>
                  <a:srgbClr val="000000"/>
                </a:solidFill>
              </a:rPr>
              <a:t>::</a:t>
            </a:r>
            <a:r>
              <a:rPr lang="en-US" altLang="zh-CN" dirty="0" err="1">
                <a:solidFill>
                  <a:srgbClr val="A8227B"/>
                </a:solidFill>
              </a:rPr>
              <a:t>println</a:t>
            </a:r>
            <a:endParaRPr lang="en-US" altLang="zh-CN" dirty="0">
              <a:solidFill>
                <a:srgbClr val="A8227B"/>
              </a:solidFill>
            </a:endParaRPr>
          </a:p>
          <a:p>
            <a:pPr lvl="2">
              <a:buClr>
                <a:srgbClr val="60B5CC"/>
              </a:buClr>
            </a:pPr>
            <a:r>
              <a:rPr lang="en-US" altLang="zh-CN" dirty="0" err="1">
                <a:solidFill>
                  <a:srgbClr val="000000"/>
                </a:solidFill>
              </a:rPr>
              <a:t>System.out.</a:t>
            </a:r>
            <a:r>
              <a:rPr lang="en-US" altLang="zh-CN" dirty="0" err="1">
                <a:solidFill>
                  <a:srgbClr val="A8227B"/>
                </a:solidFill>
              </a:rPr>
              <a:t>println</a:t>
            </a:r>
            <a:r>
              <a:rPr lang="en-US" altLang="zh-CN" dirty="0">
                <a:solidFill>
                  <a:srgbClr val="000000"/>
                </a:solidFill>
              </a:rPr>
              <a:t>(</a:t>
            </a:r>
            <a:r>
              <a:rPr lang="en-US" altLang="zh-CN" b="1" dirty="0">
                <a:solidFill>
                  <a:srgbClr val="2239A8"/>
                </a:solidFill>
              </a:rPr>
              <a:t>Object</a:t>
            </a:r>
            <a:r>
              <a:rPr lang="en-US" altLang="zh-CN" dirty="0">
                <a:solidFill>
                  <a:srgbClr val="2239A8"/>
                </a:solidFill>
              </a:rPr>
              <a:t> </a:t>
            </a:r>
            <a:r>
              <a:rPr lang="en-US" altLang="zh-CN" dirty="0">
                <a:solidFill>
                  <a:srgbClr val="000000"/>
                </a:solidFill>
              </a:rPr>
              <a:t>obj)</a:t>
            </a:r>
          </a:p>
          <a:p>
            <a:r>
              <a:rPr lang="en-US" altLang="zh-CN" dirty="0"/>
              <a:t>Class method reference</a:t>
            </a:r>
          </a:p>
          <a:p>
            <a:pPr lvl="1"/>
            <a:r>
              <a:rPr lang="en-US" altLang="zh-CN" dirty="0" err="1"/>
              <a:t>ClassName</a:t>
            </a:r>
            <a:r>
              <a:rPr lang="en-US" altLang="zh-CN" dirty="0"/>
              <a:t>::</a:t>
            </a:r>
            <a:r>
              <a:rPr lang="en-US" altLang="zh-CN" dirty="0" err="1"/>
              <a:t>instanceMethodName</a:t>
            </a:r>
            <a:endParaRPr lang="en-US" altLang="zh-CN" dirty="0"/>
          </a:p>
          <a:p>
            <a:pPr lvl="1"/>
            <a:r>
              <a:rPr lang="en-US" altLang="zh-CN" dirty="0">
                <a:solidFill>
                  <a:srgbClr val="000000"/>
                </a:solidFill>
              </a:rPr>
              <a:t>String::</a:t>
            </a:r>
            <a:r>
              <a:rPr lang="en-US" altLang="zh-CN" dirty="0" err="1">
                <a:solidFill>
                  <a:srgbClr val="A8227B"/>
                </a:solidFill>
              </a:rPr>
              <a:t>compareToIgnoreCase</a:t>
            </a:r>
            <a:endParaRPr lang="en-US" altLang="zh-CN" dirty="0">
              <a:solidFill>
                <a:srgbClr val="000000"/>
              </a:solidFill>
            </a:endParaRPr>
          </a:p>
          <a:p>
            <a:pPr lvl="2"/>
            <a:r>
              <a:rPr lang="en-US" altLang="zh-CN" b="1" dirty="0">
                <a:solidFill>
                  <a:srgbClr val="2239A8"/>
                </a:solidFill>
              </a:rPr>
              <a:t>public int</a:t>
            </a:r>
            <a:r>
              <a:rPr lang="en-US" altLang="zh-CN" dirty="0">
                <a:solidFill>
                  <a:srgbClr val="2239A8"/>
                </a:solidFill>
              </a:rPr>
              <a:t> </a:t>
            </a:r>
            <a:r>
              <a:rPr lang="en-US" altLang="zh-CN" dirty="0" err="1">
                <a:solidFill>
                  <a:srgbClr val="A8227B"/>
                </a:solidFill>
              </a:rPr>
              <a:t>compareToIgnoreCase</a:t>
            </a:r>
            <a:r>
              <a:rPr lang="en-US" altLang="zh-CN" dirty="0">
                <a:solidFill>
                  <a:srgbClr val="000000"/>
                </a:solidFill>
              </a:rPr>
              <a:t>(String str)</a:t>
            </a:r>
            <a:endParaRPr lang="en-US" altLang="zh-CN" dirty="0"/>
          </a:p>
          <a:p>
            <a:pPr lvl="1">
              <a:buClr>
                <a:srgbClr val="60B5CC"/>
              </a:buClr>
            </a:pPr>
            <a:r>
              <a:rPr lang="en-US" altLang="zh-CN" sz="2100" dirty="0">
                <a:solidFill>
                  <a:prstClr val="black"/>
                </a:solidFill>
              </a:rPr>
              <a:t>Integer::</a:t>
            </a:r>
            <a:r>
              <a:rPr lang="en-US" altLang="zh-CN" sz="2100" dirty="0" err="1">
                <a:solidFill>
                  <a:srgbClr val="A8227B"/>
                </a:solidFill>
              </a:rPr>
              <a:t>compareTo</a:t>
            </a:r>
            <a:endParaRPr lang="en-US" altLang="zh-CN" sz="2100" dirty="0">
              <a:solidFill>
                <a:srgbClr val="A8227B"/>
              </a:solidFill>
            </a:endParaRPr>
          </a:p>
          <a:p>
            <a:pPr lvl="2"/>
            <a:r>
              <a:rPr lang="en-US" altLang="zh-CN" sz="1700" b="1" dirty="0">
                <a:solidFill>
                  <a:srgbClr val="2239A8"/>
                </a:solidFill>
              </a:rPr>
              <a:t>public int</a:t>
            </a:r>
            <a:r>
              <a:rPr lang="en-US" altLang="zh-CN" sz="1700" dirty="0">
                <a:solidFill>
                  <a:srgbClr val="2239A8"/>
                </a:solidFill>
              </a:rPr>
              <a:t> </a:t>
            </a:r>
            <a:r>
              <a:rPr lang="en-US" altLang="zh-CN" sz="1700" dirty="0" err="1">
                <a:solidFill>
                  <a:srgbClr val="A8227B"/>
                </a:solidFill>
              </a:rPr>
              <a:t>compareTo</a:t>
            </a:r>
            <a:r>
              <a:rPr lang="en-US" altLang="zh-CN" sz="1700" dirty="0">
                <a:solidFill>
                  <a:srgbClr val="000000"/>
                </a:solidFill>
              </a:rPr>
              <a:t>(Integer </a:t>
            </a:r>
            <a:r>
              <a:rPr lang="en-US" altLang="zh-CN" sz="1700" dirty="0" err="1">
                <a:solidFill>
                  <a:srgbClr val="000000"/>
                </a:solidFill>
              </a:rPr>
              <a:t>aInt</a:t>
            </a:r>
            <a:r>
              <a:rPr lang="en-US" altLang="zh-CN" sz="1700" dirty="0">
                <a:solidFill>
                  <a:srgbClr val="000000"/>
                </a:solidFill>
              </a:rPr>
              <a:t>)</a:t>
            </a:r>
            <a:endParaRPr lang="en-US" altLang="zh-CN" sz="1300" dirty="0"/>
          </a:p>
          <a:p>
            <a:r>
              <a:rPr lang="en-US" altLang="zh-CN" dirty="0"/>
              <a:t>Constructor reference</a:t>
            </a:r>
          </a:p>
          <a:p>
            <a:pPr lvl="1"/>
            <a:r>
              <a:rPr lang="en-US" altLang="zh-CN" dirty="0" err="1"/>
              <a:t>ClassName</a:t>
            </a:r>
            <a:r>
              <a:rPr lang="en-US" altLang="zh-CN" dirty="0"/>
              <a:t>::</a:t>
            </a:r>
            <a:r>
              <a:rPr lang="en-US" altLang="zh-CN" dirty="0">
                <a:solidFill>
                  <a:srgbClr val="A8227B"/>
                </a:solidFill>
              </a:rPr>
              <a:t>new</a:t>
            </a:r>
          </a:p>
          <a:p>
            <a:r>
              <a:rPr lang="en-US" altLang="zh-CN" dirty="0"/>
              <a:t>Array constructor reference</a:t>
            </a:r>
          </a:p>
          <a:p>
            <a:pPr lvl="1"/>
            <a:r>
              <a:rPr lang="en-US" altLang="zh-CN" sz="2200" b="1" dirty="0">
                <a:solidFill>
                  <a:srgbClr val="2239A8"/>
                </a:solidFill>
              </a:rPr>
              <a:t>int</a:t>
            </a:r>
            <a:r>
              <a:rPr lang="en-US" altLang="zh-CN" dirty="0"/>
              <a:t>[]::</a:t>
            </a:r>
            <a:r>
              <a:rPr lang="en-US" altLang="zh-CN" dirty="0">
                <a:solidFill>
                  <a:srgbClr val="A8227B"/>
                </a:solidFill>
              </a:rPr>
              <a:t>new</a:t>
            </a:r>
            <a:endParaRPr lang="zh-CN" altLang="en-US" dirty="0">
              <a:solidFill>
                <a:srgbClr val="A8227B"/>
              </a:solidFill>
            </a:endParaRPr>
          </a:p>
        </p:txBody>
      </p:sp>
      <p:sp>
        <p:nvSpPr>
          <p:cNvPr id="4" name="标题 3">
            <a:extLst>
              <a:ext uri="{FF2B5EF4-FFF2-40B4-BE49-F238E27FC236}">
                <a16:creationId xmlns:a16="http://schemas.microsoft.com/office/drawing/2014/main" id="{F8A4DD81-69D5-476E-9773-67E881187EEF}"/>
              </a:ext>
            </a:extLst>
          </p:cNvPr>
          <p:cNvSpPr>
            <a:spLocks noGrp="1"/>
          </p:cNvSpPr>
          <p:nvPr>
            <p:ph type="title"/>
          </p:nvPr>
        </p:nvSpPr>
        <p:spPr/>
        <p:txBody>
          <a:bodyPr/>
          <a:lstStyle/>
          <a:p>
            <a:r>
              <a:rPr lang="en-US" altLang="zh-CN" dirty="0"/>
              <a:t>Common Method Reference</a:t>
            </a:r>
            <a:endParaRPr lang="zh-CN" altLang="en-US" dirty="0"/>
          </a:p>
        </p:txBody>
      </p:sp>
    </p:spTree>
    <p:extLst>
      <p:ext uri="{BB962C8B-B14F-4D97-AF65-F5344CB8AC3E}">
        <p14:creationId xmlns:p14="http://schemas.microsoft.com/office/powerpoint/2010/main" val="1912618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3D9C5C4-1DE3-4D65-8D41-13D74FB9BBC6}"/>
              </a:ext>
            </a:extLst>
          </p:cNvPr>
          <p:cNvSpPr>
            <a:spLocks noGrp="1"/>
          </p:cNvSpPr>
          <p:nvPr>
            <p:ph idx="1"/>
          </p:nvPr>
        </p:nvSpPr>
        <p:spPr/>
        <p:txBody>
          <a:bodyPr/>
          <a:lstStyle/>
          <a:p>
            <a:pPr lvl="0">
              <a:buClr>
                <a:srgbClr val="F0AD00"/>
              </a:buClr>
            </a:pPr>
            <a:r>
              <a:rPr lang="en-US" altLang="zh-CN" sz="2200" dirty="0">
                <a:solidFill>
                  <a:prstClr val="black"/>
                </a:solidFill>
              </a:rPr>
              <a:t>Static Method Reference</a:t>
            </a:r>
          </a:p>
          <a:p>
            <a:pPr lvl="1">
              <a:buClr>
                <a:srgbClr val="60B5CC"/>
              </a:buClr>
            </a:pPr>
            <a:r>
              <a:rPr lang="en-US" altLang="zh-CN" sz="1900" dirty="0" err="1">
                <a:solidFill>
                  <a:prstClr val="black"/>
                </a:solidFill>
              </a:rPr>
              <a:t>ClassName</a:t>
            </a:r>
            <a:r>
              <a:rPr lang="en-US" altLang="zh-CN" sz="1900" dirty="0">
                <a:solidFill>
                  <a:prstClr val="black"/>
                </a:solidFill>
              </a:rPr>
              <a:t>::</a:t>
            </a:r>
            <a:r>
              <a:rPr lang="en-US" altLang="zh-CN" sz="1900" dirty="0" err="1">
                <a:solidFill>
                  <a:prstClr val="black"/>
                </a:solidFill>
              </a:rPr>
              <a:t>staticMethodName</a:t>
            </a:r>
            <a:endParaRPr lang="en-US" altLang="zh-CN" sz="1900" dirty="0">
              <a:solidFill>
                <a:prstClr val="black"/>
              </a:solidFill>
            </a:endParaRPr>
          </a:p>
          <a:p>
            <a:pPr lvl="1">
              <a:buClr>
                <a:srgbClr val="60B5CC"/>
              </a:buClr>
            </a:pPr>
            <a:r>
              <a:rPr lang="en-US" altLang="zh-CN" sz="1900" dirty="0">
                <a:solidFill>
                  <a:prstClr val="black"/>
                </a:solidFill>
              </a:rPr>
              <a:t>Integer::</a:t>
            </a:r>
            <a:r>
              <a:rPr lang="en-US" altLang="zh-CN" sz="1900" dirty="0">
                <a:solidFill>
                  <a:srgbClr val="A8227B"/>
                </a:solidFill>
              </a:rPr>
              <a:t>compare</a:t>
            </a:r>
          </a:p>
          <a:p>
            <a:pPr lvl="2">
              <a:buClr>
                <a:srgbClr val="E66C7D"/>
              </a:buClr>
            </a:pPr>
            <a:r>
              <a:rPr lang="en-US" altLang="zh-CN" sz="1700" b="1" dirty="0">
                <a:solidFill>
                  <a:srgbClr val="2239A8"/>
                </a:solidFill>
              </a:rPr>
              <a:t>public static int</a:t>
            </a:r>
            <a:r>
              <a:rPr lang="en-US" altLang="zh-CN" sz="1700" dirty="0">
                <a:solidFill>
                  <a:srgbClr val="2239A8"/>
                </a:solidFill>
              </a:rPr>
              <a:t> </a:t>
            </a:r>
            <a:r>
              <a:rPr lang="en-US" altLang="zh-CN" sz="1700" dirty="0">
                <a:solidFill>
                  <a:srgbClr val="A8227B"/>
                </a:solidFill>
              </a:rPr>
              <a:t>compare</a:t>
            </a:r>
            <a:r>
              <a:rPr lang="en-US" altLang="zh-CN" sz="1700" dirty="0">
                <a:solidFill>
                  <a:srgbClr val="000000"/>
                </a:solidFill>
              </a:rPr>
              <a:t>(</a:t>
            </a:r>
            <a:r>
              <a:rPr lang="en-US" altLang="zh-CN" sz="1700" b="1" dirty="0">
                <a:solidFill>
                  <a:srgbClr val="2239A8"/>
                </a:solidFill>
              </a:rPr>
              <a:t>int</a:t>
            </a:r>
            <a:r>
              <a:rPr lang="en-US" altLang="zh-CN" sz="1700" dirty="0">
                <a:solidFill>
                  <a:srgbClr val="2239A8"/>
                </a:solidFill>
              </a:rPr>
              <a:t> </a:t>
            </a:r>
            <a:r>
              <a:rPr lang="en-US" altLang="zh-CN" sz="1700" dirty="0">
                <a:solidFill>
                  <a:srgbClr val="000000"/>
                </a:solidFill>
              </a:rPr>
              <a:t>x, </a:t>
            </a:r>
            <a:r>
              <a:rPr lang="en-US" altLang="zh-CN" sz="1700" b="1" dirty="0">
                <a:solidFill>
                  <a:srgbClr val="2239A8"/>
                </a:solidFill>
              </a:rPr>
              <a:t>int</a:t>
            </a:r>
            <a:r>
              <a:rPr lang="en-US" altLang="zh-CN" sz="1700" dirty="0">
                <a:solidFill>
                  <a:srgbClr val="2239A8"/>
                </a:solidFill>
              </a:rPr>
              <a:t> </a:t>
            </a:r>
            <a:r>
              <a:rPr lang="en-US" altLang="zh-CN" sz="1700" dirty="0">
                <a:solidFill>
                  <a:srgbClr val="000000"/>
                </a:solidFill>
              </a:rPr>
              <a:t>y)</a:t>
            </a:r>
          </a:p>
          <a:p>
            <a:pPr>
              <a:buClr>
                <a:srgbClr val="E66C7D"/>
              </a:buClr>
            </a:pPr>
            <a:endParaRPr lang="en-US" altLang="zh-CN" sz="2300" dirty="0">
              <a:solidFill>
                <a:srgbClr val="000000"/>
              </a:solidFill>
            </a:endParaRPr>
          </a:p>
          <a:p>
            <a:pPr>
              <a:buClr>
                <a:srgbClr val="E66C7D"/>
              </a:buClr>
            </a:pPr>
            <a:r>
              <a:rPr lang="en-US" altLang="zh-CN" sz="2300" dirty="0">
                <a:solidFill>
                  <a:srgbClr val="000000"/>
                </a:solidFill>
              </a:rPr>
              <a:t>Examples</a:t>
            </a:r>
            <a:endParaRPr lang="en-US" altLang="zh-CN" sz="2300" dirty="0">
              <a:solidFill>
                <a:srgbClr val="A8227B"/>
              </a:solidFill>
            </a:endParaRPr>
          </a:p>
          <a:p>
            <a:pPr lvl="1"/>
            <a:r>
              <a:rPr lang="en-US" altLang="zh-CN" dirty="0" err="1">
                <a:solidFill>
                  <a:srgbClr val="000000"/>
                </a:solidFill>
              </a:rPr>
              <a:t>ArrayList</a:t>
            </a:r>
            <a:r>
              <a:rPr lang="en-US" altLang="zh-CN" dirty="0">
                <a:solidFill>
                  <a:srgbClr val="000000"/>
                </a:solidFill>
              </a:rPr>
              <a:t>&lt;Integer&gt; </a:t>
            </a:r>
            <a:r>
              <a:rPr lang="en-US" altLang="zh-CN" dirty="0" err="1">
                <a:solidFill>
                  <a:srgbClr val="000000"/>
                </a:solidFill>
              </a:rPr>
              <a:t>intList</a:t>
            </a:r>
            <a:r>
              <a:rPr lang="en-US" altLang="zh-CN" dirty="0">
                <a:solidFill>
                  <a:srgbClr val="000000"/>
                </a:solidFill>
              </a:rPr>
              <a:t> = </a:t>
            </a:r>
            <a:r>
              <a:rPr lang="en-US" altLang="zh-CN" b="1" dirty="0">
                <a:solidFill>
                  <a:srgbClr val="2239A8"/>
                </a:solidFill>
              </a:rPr>
              <a:t>new</a:t>
            </a:r>
            <a:r>
              <a:rPr lang="en-US" altLang="zh-CN" dirty="0">
                <a:solidFill>
                  <a:srgbClr val="2239A8"/>
                </a:solidFill>
              </a:rPr>
              <a:t> </a:t>
            </a:r>
            <a:r>
              <a:rPr lang="en-US" altLang="zh-CN" dirty="0" err="1">
                <a:solidFill>
                  <a:srgbClr val="000000"/>
                </a:solidFill>
              </a:rPr>
              <a:t>ArrayList</a:t>
            </a:r>
            <a:r>
              <a:rPr lang="en-US" altLang="zh-CN" dirty="0">
                <a:solidFill>
                  <a:srgbClr val="000000"/>
                </a:solidFill>
              </a:rPr>
              <a:t>&lt;&gt;();</a:t>
            </a:r>
          </a:p>
          <a:p>
            <a:pPr lvl="1"/>
            <a:r>
              <a:rPr lang="en-US" altLang="zh-CN" dirty="0" err="1">
                <a:solidFill>
                  <a:srgbClr val="000000"/>
                </a:solidFill>
              </a:rPr>
              <a:t>intList.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3</a:t>
            </a:r>
            <a:r>
              <a:rPr lang="en-US" altLang="zh-CN" dirty="0">
                <a:solidFill>
                  <a:srgbClr val="000000"/>
                </a:solidFill>
              </a:rPr>
              <a:t>); </a:t>
            </a:r>
            <a:r>
              <a:rPr lang="en-US" altLang="zh-CN" dirty="0">
                <a:solidFill>
                  <a:srgbClr val="558817"/>
                </a:solidFill>
              </a:rPr>
              <a:t>// autoboxing to </a:t>
            </a:r>
            <a:r>
              <a:rPr lang="en-US" altLang="zh-CN" dirty="0" err="1">
                <a:solidFill>
                  <a:srgbClr val="558817"/>
                </a:solidFill>
              </a:rPr>
              <a:t>Integer.valueOf</a:t>
            </a:r>
            <a:r>
              <a:rPr lang="en-US" altLang="zh-CN" dirty="0">
                <a:solidFill>
                  <a:srgbClr val="558817"/>
                </a:solidFill>
              </a:rPr>
              <a:t>(3)</a:t>
            </a:r>
            <a:endParaRPr lang="en-US" altLang="zh-CN" dirty="0">
              <a:solidFill>
                <a:srgbClr val="000000"/>
              </a:solidFill>
            </a:endParaRPr>
          </a:p>
          <a:p>
            <a:pPr lvl="1"/>
            <a:r>
              <a:rPr lang="en-US" altLang="zh-CN" dirty="0" err="1">
                <a:solidFill>
                  <a:srgbClr val="000000"/>
                </a:solidFill>
              </a:rPr>
              <a:t>intList.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1</a:t>
            </a:r>
            <a:r>
              <a:rPr lang="en-US" altLang="zh-CN" dirty="0">
                <a:solidFill>
                  <a:srgbClr val="000000"/>
                </a:solidFill>
              </a:rPr>
              <a:t>);</a:t>
            </a:r>
          </a:p>
          <a:p>
            <a:pPr lvl="1"/>
            <a:r>
              <a:rPr lang="en-US" altLang="zh-CN" dirty="0" err="1">
                <a:solidFill>
                  <a:srgbClr val="000000"/>
                </a:solidFill>
              </a:rPr>
              <a:t>intList.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9</a:t>
            </a:r>
            <a:r>
              <a:rPr lang="en-US" altLang="zh-CN" dirty="0">
                <a:solidFill>
                  <a:srgbClr val="000000"/>
                </a:solidFill>
              </a:rPr>
              <a:t>);</a:t>
            </a:r>
          </a:p>
          <a:p>
            <a:pPr lvl="1"/>
            <a:endParaRPr lang="zh-CN" altLang="en-US" dirty="0"/>
          </a:p>
          <a:p>
            <a:pPr lvl="1"/>
            <a:r>
              <a:rPr lang="en-US" altLang="zh-CN" dirty="0" err="1">
                <a:solidFill>
                  <a:srgbClr val="000000"/>
                </a:solidFill>
              </a:rPr>
              <a:t>intList.</a:t>
            </a:r>
            <a:r>
              <a:rPr lang="en-US" altLang="zh-CN" dirty="0" err="1">
                <a:solidFill>
                  <a:srgbClr val="A8227B"/>
                </a:solidFill>
              </a:rPr>
              <a:t>sort</a:t>
            </a:r>
            <a:r>
              <a:rPr lang="en-US" altLang="zh-CN" dirty="0">
                <a:solidFill>
                  <a:srgbClr val="000000"/>
                </a:solidFill>
              </a:rPr>
              <a:t>(Integer::compare);</a:t>
            </a:r>
          </a:p>
          <a:p>
            <a:pPr lvl="1"/>
            <a:r>
              <a:rPr lang="en-US" altLang="zh-CN" dirty="0">
                <a:solidFill>
                  <a:srgbClr val="558817"/>
                </a:solidFill>
              </a:rPr>
              <a:t>//</a:t>
            </a:r>
            <a:r>
              <a:rPr lang="en-US" altLang="zh-CN" dirty="0" err="1">
                <a:solidFill>
                  <a:srgbClr val="558817"/>
                </a:solidFill>
              </a:rPr>
              <a:t>intList.sort</a:t>
            </a:r>
            <a:r>
              <a:rPr lang="en-US" altLang="zh-CN" dirty="0">
                <a:solidFill>
                  <a:srgbClr val="558817"/>
                </a:solidFill>
              </a:rPr>
              <a:t>(Integer::</a:t>
            </a:r>
            <a:r>
              <a:rPr lang="en-US" altLang="zh-CN" dirty="0" err="1">
                <a:solidFill>
                  <a:srgbClr val="558817"/>
                </a:solidFill>
              </a:rPr>
              <a:t>compareTo</a:t>
            </a:r>
            <a:r>
              <a:rPr lang="en-US" altLang="zh-CN" dirty="0">
                <a:solidFill>
                  <a:srgbClr val="558817"/>
                </a:solidFill>
              </a:rPr>
              <a:t>);</a:t>
            </a:r>
          </a:p>
          <a:p>
            <a:endParaRPr lang="en-US" altLang="zh-CN" dirty="0"/>
          </a:p>
          <a:p>
            <a:r>
              <a:rPr lang="en-US" altLang="zh-CN" dirty="0" err="1"/>
              <a:t>demomethodref.IntListSortDemo</a:t>
            </a:r>
            <a:endParaRPr lang="zh-CN" altLang="en-US" dirty="0"/>
          </a:p>
        </p:txBody>
      </p:sp>
      <p:sp>
        <p:nvSpPr>
          <p:cNvPr id="3" name="标题 2">
            <a:extLst>
              <a:ext uri="{FF2B5EF4-FFF2-40B4-BE49-F238E27FC236}">
                <a16:creationId xmlns:a16="http://schemas.microsoft.com/office/drawing/2014/main" id="{C3836CAD-A866-4CAA-9BF9-1C9C66D9C98F}"/>
              </a:ext>
            </a:extLst>
          </p:cNvPr>
          <p:cNvSpPr>
            <a:spLocks noGrp="1"/>
          </p:cNvSpPr>
          <p:nvPr>
            <p:ph type="title"/>
          </p:nvPr>
        </p:nvSpPr>
        <p:spPr/>
        <p:txBody>
          <a:bodyPr/>
          <a:lstStyle/>
          <a:p>
            <a:r>
              <a:rPr lang="en-US" altLang="zh-CN" dirty="0"/>
              <a:t>Static Method Reference</a:t>
            </a:r>
            <a:endParaRPr lang="zh-CN" altLang="en-US" dirty="0"/>
          </a:p>
        </p:txBody>
      </p:sp>
      <p:sp>
        <p:nvSpPr>
          <p:cNvPr id="4" name="日期占位符 3">
            <a:extLst>
              <a:ext uri="{FF2B5EF4-FFF2-40B4-BE49-F238E27FC236}">
                <a16:creationId xmlns:a16="http://schemas.microsoft.com/office/drawing/2014/main" id="{5419CE9F-921C-402F-8204-305A0FCD648D}"/>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6" name="灯片编号占位符 5">
            <a:extLst>
              <a:ext uri="{FF2B5EF4-FFF2-40B4-BE49-F238E27FC236}">
                <a16:creationId xmlns:a16="http://schemas.microsoft.com/office/drawing/2014/main" id="{041BAC00-7FFA-4F79-8A6D-4142A4EFDE06}"/>
              </a:ext>
            </a:extLst>
          </p:cNvPr>
          <p:cNvSpPr>
            <a:spLocks noGrp="1"/>
          </p:cNvSpPr>
          <p:nvPr>
            <p:ph type="sldNum" sz="quarter" idx="4"/>
          </p:nvPr>
        </p:nvSpPr>
        <p:spPr/>
        <p:txBody>
          <a:bodyPr/>
          <a:lstStyle/>
          <a:p>
            <a:fld id="{19B12225-5612-419B-A8D5-4B8EEE4C217E}" type="slidenum">
              <a:rPr lang="en-US" smtClean="0"/>
              <a:pPr/>
              <a:t>10</a:t>
            </a:fld>
            <a:endParaRPr lang="en-US" dirty="0"/>
          </a:p>
        </p:txBody>
      </p:sp>
    </p:spTree>
    <p:extLst>
      <p:ext uri="{BB962C8B-B14F-4D97-AF65-F5344CB8AC3E}">
        <p14:creationId xmlns:p14="http://schemas.microsoft.com/office/powerpoint/2010/main" val="1649838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3D9C5C4-1DE3-4D65-8D41-13D74FB9BBC6}"/>
              </a:ext>
            </a:extLst>
          </p:cNvPr>
          <p:cNvSpPr>
            <a:spLocks noGrp="1"/>
          </p:cNvSpPr>
          <p:nvPr>
            <p:ph idx="1"/>
          </p:nvPr>
        </p:nvSpPr>
        <p:spPr/>
        <p:txBody>
          <a:bodyPr/>
          <a:lstStyle/>
          <a:p>
            <a:pPr lvl="0">
              <a:buClr>
                <a:srgbClr val="F0AD00"/>
              </a:buClr>
            </a:pPr>
            <a:r>
              <a:rPr lang="en-US" altLang="zh-CN" sz="2200" dirty="0">
                <a:solidFill>
                  <a:prstClr val="black"/>
                </a:solidFill>
              </a:rPr>
              <a:t>Instance Method Reference</a:t>
            </a:r>
          </a:p>
          <a:p>
            <a:pPr lvl="1">
              <a:buClr>
                <a:srgbClr val="60B5CC"/>
              </a:buClr>
            </a:pPr>
            <a:r>
              <a:rPr lang="en-US" altLang="zh-CN" sz="1900" dirty="0" err="1">
                <a:solidFill>
                  <a:prstClr val="black"/>
                </a:solidFill>
              </a:rPr>
              <a:t>instanceName</a:t>
            </a:r>
            <a:r>
              <a:rPr lang="en-US" altLang="zh-CN" sz="1900" dirty="0">
                <a:solidFill>
                  <a:prstClr val="black"/>
                </a:solidFill>
              </a:rPr>
              <a:t>::</a:t>
            </a:r>
            <a:r>
              <a:rPr lang="en-US" altLang="zh-CN" sz="1900" dirty="0" err="1">
                <a:solidFill>
                  <a:prstClr val="black"/>
                </a:solidFill>
              </a:rPr>
              <a:t>instanceMethodName</a:t>
            </a:r>
            <a:endParaRPr lang="en-US" altLang="zh-CN" sz="1900" dirty="0">
              <a:solidFill>
                <a:prstClr val="black"/>
              </a:solidFill>
            </a:endParaRPr>
          </a:p>
          <a:p>
            <a:pPr lvl="1">
              <a:buClr>
                <a:srgbClr val="60B5CC"/>
              </a:buClr>
            </a:pPr>
            <a:r>
              <a:rPr lang="en-US" altLang="zh-CN" sz="1900" dirty="0" err="1">
                <a:solidFill>
                  <a:srgbClr val="000000"/>
                </a:solidFill>
              </a:rPr>
              <a:t>System.out</a:t>
            </a:r>
            <a:r>
              <a:rPr lang="en-US" altLang="zh-CN" sz="1900" dirty="0">
                <a:solidFill>
                  <a:srgbClr val="000000"/>
                </a:solidFill>
              </a:rPr>
              <a:t>::</a:t>
            </a:r>
            <a:r>
              <a:rPr lang="en-US" altLang="zh-CN" sz="1900" dirty="0" err="1">
                <a:solidFill>
                  <a:srgbClr val="A8227B"/>
                </a:solidFill>
              </a:rPr>
              <a:t>println</a:t>
            </a:r>
            <a:endParaRPr lang="en-US" altLang="zh-CN" sz="1900" dirty="0">
              <a:solidFill>
                <a:srgbClr val="A8227B"/>
              </a:solidFill>
            </a:endParaRPr>
          </a:p>
          <a:p>
            <a:pPr lvl="2">
              <a:buClr>
                <a:srgbClr val="60B5CC"/>
              </a:buClr>
            </a:pPr>
            <a:r>
              <a:rPr lang="en-US" altLang="zh-CN" sz="1700" dirty="0" err="1">
                <a:solidFill>
                  <a:srgbClr val="000000"/>
                </a:solidFill>
              </a:rPr>
              <a:t>System.out.</a:t>
            </a:r>
            <a:r>
              <a:rPr lang="en-US" altLang="zh-CN" sz="1700" dirty="0" err="1">
                <a:solidFill>
                  <a:srgbClr val="A8227B"/>
                </a:solidFill>
              </a:rPr>
              <a:t>println</a:t>
            </a:r>
            <a:r>
              <a:rPr lang="en-US" altLang="zh-CN" sz="1700" dirty="0">
                <a:solidFill>
                  <a:srgbClr val="000000"/>
                </a:solidFill>
              </a:rPr>
              <a:t>(</a:t>
            </a:r>
            <a:r>
              <a:rPr lang="en-US" altLang="zh-CN" sz="1700" b="1" dirty="0">
                <a:solidFill>
                  <a:srgbClr val="2239A8"/>
                </a:solidFill>
              </a:rPr>
              <a:t>Object</a:t>
            </a:r>
            <a:r>
              <a:rPr lang="en-US" altLang="zh-CN" sz="1700" dirty="0">
                <a:solidFill>
                  <a:srgbClr val="2239A8"/>
                </a:solidFill>
              </a:rPr>
              <a:t> </a:t>
            </a:r>
            <a:r>
              <a:rPr lang="en-US" altLang="zh-CN" sz="1700" dirty="0">
                <a:solidFill>
                  <a:srgbClr val="000000"/>
                </a:solidFill>
              </a:rPr>
              <a:t>obj)</a:t>
            </a:r>
          </a:p>
          <a:p>
            <a:pPr>
              <a:buClr>
                <a:srgbClr val="E66C7D"/>
              </a:buClr>
            </a:pPr>
            <a:endParaRPr lang="en-US" altLang="zh-CN" sz="2300" dirty="0">
              <a:solidFill>
                <a:srgbClr val="000000"/>
              </a:solidFill>
            </a:endParaRPr>
          </a:p>
          <a:p>
            <a:pPr>
              <a:buClr>
                <a:srgbClr val="E66C7D"/>
              </a:buClr>
            </a:pPr>
            <a:r>
              <a:rPr lang="en-US" altLang="zh-CN" sz="2300" dirty="0">
                <a:solidFill>
                  <a:srgbClr val="000000"/>
                </a:solidFill>
              </a:rPr>
              <a:t>Examples</a:t>
            </a:r>
            <a:endParaRPr lang="en-US" altLang="zh-CN" sz="2300" dirty="0">
              <a:solidFill>
                <a:srgbClr val="A8227B"/>
              </a:solidFill>
            </a:endParaRPr>
          </a:p>
          <a:p>
            <a:pPr lvl="1"/>
            <a:r>
              <a:rPr lang="en-US" altLang="zh-CN" dirty="0" err="1">
                <a:solidFill>
                  <a:srgbClr val="000000"/>
                </a:solidFill>
              </a:rPr>
              <a:t>ArrayList</a:t>
            </a:r>
            <a:r>
              <a:rPr lang="en-US" altLang="zh-CN" dirty="0">
                <a:solidFill>
                  <a:srgbClr val="000000"/>
                </a:solidFill>
              </a:rPr>
              <a:t>&lt;String&gt; </a:t>
            </a:r>
            <a:r>
              <a:rPr lang="en-US" altLang="zh-CN" dirty="0" err="1">
                <a:solidFill>
                  <a:srgbClr val="000000"/>
                </a:solidFill>
              </a:rPr>
              <a:t>strList</a:t>
            </a:r>
            <a:r>
              <a:rPr lang="en-US" altLang="zh-CN" dirty="0">
                <a:solidFill>
                  <a:srgbClr val="000000"/>
                </a:solidFill>
              </a:rPr>
              <a:t> = </a:t>
            </a:r>
            <a:r>
              <a:rPr lang="en-US" altLang="zh-CN" b="1" dirty="0">
                <a:solidFill>
                  <a:srgbClr val="2239A8"/>
                </a:solidFill>
              </a:rPr>
              <a:t>new</a:t>
            </a:r>
            <a:r>
              <a:rPr lang="en-US" altLang="zh-CN" dirty="0">
                <a:solidFill>
                  <a:srgbClr val="2239A8"/>
                </a:solidFill>
              </a:rPr>
              <a:t> </a:t>
            </a:r>
            <a:r>
              <a:rPr lang="en-US" altLang="zh-CN" dirty="0" err="1">
                <a:solidFill>
                  <a:srgbClr val="000000"/>
                </a:solidFill>
              </a:rPr>
              <a:t>ArrayList</a:t>
            </a:r>
            <a:r>
              <a:rPr lang="en-US" altLang="zh-CN" dirty="0">
                <a:solidFill>
                  <a:srgbClr val="000000"/>
                </a:solidFill>
              </a:rPr>
              <a:t>&lt;&gt;();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"Beijing"</a:t>
            </a:r>
            <a:r>
              <a:rPr lang="en-US" altLang="zh-CN" dirty="0">
                <a:solidFill>
                  <a:srgbClr val="000000"/>
                </a:solidFill>
              </a:rPr>
              <a: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"Shanghai"</a:t>
            </a:r>
            <a:r>
              <a:rPr lang="en-US" altLang="zh-CN" dirty="0">
                <a:solidFill>
                  <a:srgbClr val="000000"/>
                </a:solidFill>
              </a:rPr>
              <a: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"Guangzhou"</a:t>
            </a:r>
            <a:r>
              <a:rPr lang="en-US" altLang="zh-CN" dirty="0">
                <a:solidFill>
                  <a:srgbClr val="000000"/>
                </a:solidFill>
              </a:rPr>
              <a:t>);</a:t>
            </a:r>
          </a:p>
          <a:p>
            <a:pPr lvl="1"/>
            <a:endParaRPr lang="zh-CN" altLang="en-US" dirty="0"/>
          </a:p>
          <a:p>
            <a:pPr lvl="1"/>
            <a:r>
              <a:rPr lang="en-US" altLang="zh-CN" dirty="0" err="1">
                <a:solidFill>
                  <a:srgbClr val="000000"/>
                </a:solidFill>
              </a:rPr>
              <a:t>strList.</a:t>
            </a:r>
            <a:r>
              <a:rPr lang="en-US" altLang="zh-CN" dirty="0" err="1">
                <a:solidFill>
                  <a:srgbClr val="A8227B"/>
                </a:solidFill>
              </a:rPr>
              <a:t>forEach</a:t>
            </a:r>
            <a:r>
              <a:rPr lang="en-US" altLang="zh-CN" dirty="0">
                <a:solidFill>
                  <a:srgbClr val="000000"/>
                </a:solidFill>
              </a:rPr>
              <a:t>(</a:t>
            </a:r>
            <a:r>
              <a:rPr lang="en-US" altLang="zh-CN" dirty="0" err="1">
                <a:solidFill>
                  <a:srgbClr val="000000"/>
                </a:solidFill>
              </a:rPr>
              <a:t>System.out</a:t>
            </a:r>
            <a:r>
              <a:rPr lang="en-US" altLang="zh-CN" dirty="0">
                <a:solidFill>
                  <a:srgbClr val="000000"/>
                </a:solidFill>
              </a:rPr>
              <a:t>::</a:t>
            </a:r>
            <a:r>
              <a:rPr lang="en-US" altLang="zh-CN" dirty="0" err="1">
                <a:solidFill>
                  <a:srgbClr val="000000"/>
                </a:solidFill>
              </a:rPr>
              <a:t>println</a:t>
            </a:r>
            <a:r>
              <a:rPr lang="en-US" altLang="zh-CN" dirty="0">
                <a:solidFill>
                  <a:srgbClr val="000000"/>
                </a:solidFill>
              </a:rPr>
              <a:t>);</a:t>
            </a:r>
          </a:p>
          <a:p>
            <a:pPr lvl="1"/>
            <a:endParaRPr lang="en-US" altLang="zh-CN" dirty="0"/>
          </a:p>
          <a:p>
            <a:r>
              <a:rPr lang="en-US" altLang="zh-CN" dirty="0"/>
              <a:t>demomethodref.ArrayListForEachMehodRefDemo.java</a:t>
            </a:r>
            <a:endParaRPr lang="zh-CN" altLang="en-US" dirty="0"/>
          </a:p>
        </p:txBody>
      </p:sp>
      <p:sp>
        <p:nvSpPr>
          <p:cNvPr id="3" name="标题 2">
            <a:extLst>
              <a:ext uri="{FF2B5EF4-FFF2-40B4-BE49-F238E27FC236}">
                <a16:creationId xmlns:a16="http://schemas.microsoft.com/office/drawing/2014/main" id="{C3836CAD-A866-4CAA-9BF9-1C9C66D9C98F}"/>
              </a:ext>
            </a:extLst>
          </p:cNvPr>
          <p:cNvSpPr>
            <a:spLocks noGrp="1"/>
          </p:cNvSpPr>
          <p:nvPr>
            <p:ph type="title"/>
          </p:nvPr>
        </p:nvSpPr>
        <p:spPr/>
        <p:txBody>
          <a:bodyPr/>
          <a:lstStyle/>
          <a:p>
            <a:r>
              <a:rPr lang="en-US" altLang="zh-CN" dirty="0"/>
              <a:t>Instance Method Reference</a:t>
            </a:r>
            <a:endParaRPr lang="zh-CN" altLang="en-US" dirty="0"/>
          </a:p>
        </p:txBody>
      </p:sp>
      <p:sp>
        <p:nvSpPr>
          <p:cNvPr id="4" name="日期占位符 3">
            <a:extLst>
              <a:ext uri="{FF2B5EF4-FFF2-40B4-BE49-F238E27FC236}">
                <a16:creationId xmlns:a16="http://schemas.microsoft.com/office/drawing/2014/main" id="{5419CE9F-921C-402F-8204-305A0FCD648D}"/>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6" name="灯片编号占位符 5">
            <a:extLst>
              <a:ext uri="{FF2B5EF4-FFF2-40B4-BE49-F238E27FC236}">
                <a16:creationId xmlns:a16="http://schemas.microsoft.com/office/drawing/2014/main" id="{041BAC00-7FFA-4F79-8A6D-4142A4EFDE06}"/>
              </a:ext>
            </a:extLst>
          </p:cNvPr>
          <p:cNvSpPr>
            <a:spLocks noGrp="1"/>
          </p:cNvSpPr>
          <p:nvPr>
            <p:ph type="sldNum" sz="quarter" idx="4"/>
          </p:nvPr>
        </p:nvSpPr>
        <p:spPr/>
        <p:txBody>
          <a:bodyPr/>
          <a:lstStyle/>
          <a:p>
            <a:fld id="{19B12225-5612-419B-A8D5-4B8EEE4C217E}" type="slidenum">
              <a:rPr lang="en-US" smtClean="0"/>
              <a:pPr/>
              <a:t>11</a:t>
            </a:fld>
            <a:endParaRPr lang="en-US" dirty="0"/>
          </a:p>
        </p:txBody>
      </p:sp>
    </p:spTree>
    <p:extLst>
      <p:ext uri="{BB962C8B-B14F-4D97-AF65-F5344CB8AC3E}">
        <p14:creationId xmlns:p14="http://schemas.microsoft.com/office/powerpoint/2010/main" val="541530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3D9C5C4-1DE3-4D65-8D41-13D74FB9BBC6}"/>
              </a:ext>
            </a:extLst>
          </p:cNvPr>
          <p:cNvSpPr>
            <a:spLocks noGrp="1"/>
          </p:cNvSpPr>
          <p:nvPr>
            <p:ph idx="1"/>
          </p:nvPr>
        </p:nvSpPr>
        <p:spPr/>
        <p:txBody>
          <a:bodyPr/>
          <a:lstStyle/>
          <a:p>
            <a:pPr lvl="0">
              <a:buClr>
                <a:srgbClr val="F0AD00"/>
              </a:buClr>
            </a:pPr>
            <a:r>
              <a:rPr lang="en-US" altLang="zh-CN" sz="2200" dirty="0">
                <a:solidFill>
                  <a:prstClr val="black"/>
                </a:solidFill>
              </a:rPr>
              <a:t>Class Method </a:t>
            </a:r>
            <a:r>
              <a:rPr lang="en-US" altLang="zh-CN" sz="2200" dirty="0" err="1">
                <a:solidFill>
                  <a:prstClr val="black"/>
                </a:solidFill>
              </a:rPr>
              <a:t>Reeference</a:t>
            </a:r>
            <a:endParaRPr lang="en-US" altLang="zh-CN" sz="2200" dirty="0">
              <a:solidFill>
                <a:prstClr val="black"/>
              </a:solidFill>
            </a:endParaRPr>
          </a:p>
          <a:p>
            <a:pPr lvl="1">
              <a:buClr>
                <a:srgbClr val="60B5CC"/>
              </a:buClr>
            </a:pPr>
            <a:r>
              <a:rPr lang="en-US" altLang="zh-CN" sz="1900" dirty="0" err="1">
                <a:solidFill>
                  <a:prstClr val="black"/>
                </a:solidFill>
              </a:rPr>
              <a:t>ClassName</a:t>
            </a:r>
            <a:r>
              <a:rPr lang="en-US" altLang="zh-CN" sz="1900" dirty="0">
                <a:solidFill>
                  <a:prstClr val="black"/>
                </a:solidFill>
              </a:rPr>
              <a:t>::</a:t>
            </a:r>
            <a:r>
              <a:rPr lang="en-US" altLang="zh-CN" sz="1900" dirty="0" err="1">
                <a:solidFill>
                  <a:prstClr val="black"/>
                </a:solidFill>
              </a:rPr>
              <a:t>ClassMethodName</a:t>
            </a:r>
            <a:endParaRPr lang="en-US" altLang="zh-CN" sz="1900" dirty="0">
              <a:solidFill>
                <a:prstClr val="black"/>
              </a:solidFill>
            </a:endParaRPr>
          </a:p>
          <a:p>
            <a:pPr>
              <a:buClr>
                <a:srgbClr val="E66C7D"/>
              </a:buClr>
            </a:pPr>
            <a:endParaRPr lang="en-US" altLang="zh-CN" sz="2300" dirty="0">
              <a:solidFill>
                <a:srgbClr val="000000"/>
              </a:solidFill>
            </a:endParaRPr>
          </a:p>
          <a:p>
            <a:pPr>
              <a:buClr>
                <a:srgbClr val="E66C7D"/>
              </a:buClr>
            </a:pPr>
            <a:r>
              <a:rPr lang="en-US" altLang="zh-CN" sz="2300" dirty="0">
                <a:solidFill>
                  <a:srgbClr val="000000"/>
                </a:solidFill>
              </a:rPr>
              <a:t>Examples</a:t>
            </a:r>
            <a:endParaRPr lang="en-US" altLang="zh-CN" sz="2300" dirty="0">
              <a:solidFill>
                <a:srgbClr val="A8227B"/>
              </a:solidFill>
            </a:endParaRPr>
          </a:p>
          <a:p>
            <a:pPr lvl="1"/>
            <a:r>
              <a:rPr lang="en-US" altLang="zh-CN" dirty="0" err="1">
                <a:solidFill>
                  <a:srgbClr val="000000"/>
                </a:solidFill>
              </a:rPr>
              <a:t>ArrayList</a:t>
            </a:r>
            <a:r>
              <a:rPr lang="en-US" altLang="zh-CN" dirty="0">
                <a:solidFill>
                  <a:srgbClr val="000000"/>
                </a:solidFill>
              </a:rPr>
              <a:t>&lt;String&gt; </a:t>
            </a:r>
            <a:r>
              <a:rPr lang="en-US" altLang="zh-CN" dirty="0" err="1">
                <a:solidFill>
                  <a:srgbClr val="000000"/>
                </a:solidFill>
              </a:rPr>
              <a:t>strList</a:t>
            </a:r>
            <a:r>
              <a:rPr lang="en-US" altLang="zh-CN" dirty="0">
                <a:solidFill>
                  <a:srgbClr val="000000"/>
                </a:solidFill>
              </a:rPr>
              <a:t> = </a:t>
            </a:r>
            <a:r>
              <a:rPr lang="en-US" altLang="zh-CN" b="1" dirty="0">
                <a:solidFill>
                  <a:srgbClr val="2239A8"/>
                </a:solidFill>
              </a:rPr>
              <a:t>new</a:t>
            </a:r>
            <a:r>
              <a:rPr lang="en-US" altLang="zh-CN" dirty="0">
                <a:solidFill>
                  <a:srgbClr val="2239A8"/>
                </a:solidFill>
              </a:rPr>
              <a:t> </a:t>
            </a:r>
            <a:r>
              <a:rPr lang="en-US" altLang="zh-CN" dirty="0" err="1">
                <a:solidFill>
                  <a:srgbClr val="000000"/>
                </a:solidFill>
              </a:rPr>
              <a:t>ArrayList</a:t>
            </a:r>
            <a:r>
              <a:rPr lang="en-US" altLang="zh-CN" dirty="0">
                <a:solidFill>
                  <a:srgbClr val="000000"/>
                </a:solidFill>
              </a:rPr>
              <a:t>&lt;&gt;();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"Beijing"</a:t>
            </a:r>
            <a:r>
              <a:rPr lang="en-US" altLang="zh-CN" dirty="0">
                <a:solidFill>
                  <a:srgbClr val="000000"/>
                </a:solidFill>
              </a:rPr>
              <a: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"Shanghai"</a:t>
            </a:r>
            <a:r>
              <a:rPr lang="en-US" altLang="zh-CN" dirty="0">
                <a:solidFill>
                  <a:srgbClr val="000000"/>
                </a:solidFill>
              </a:rPr>
              <a: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"Guangzhou"</a:t>
            </a:r>
            <a:r>
              <a:rPr lang="en-US" altLang="zh-CN" dirty="0">
                <a:solidFill>
                  <a:srgbClr val="000000"/>
                </a:solidFill>
              </a:rPr>
              <a:t>);</a:t>
            </a:r>
          </a:p>
          <a:p>
            <a:pPr lvl="1"/>
            <a:r>
              <a:rPr lang="en-US" altLang="zh-CN" dirty="0" err="1">
                <a:solidFill>
                  <a:srgbClr val="000000"/>
                </a:solidFill>
              </a:rPr>
              <a:t>strList.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"Shenzhen"</a:t>
            </a:r>
            <a:r>
              <a:rPr lang="en-US" altLang="zh-CN" dirty="0">
                <a:solidFill>
                  <a:srgbClr val="000000"/>
                </a:solidFill>
              </a:rPr>
              <a:t>);</a:t>
            </a:r>
          </a:p>
          <a:p>
            <a:pPr lvl="1"/>
            <a:endParaRPr lang="zh-CN" altLang="en-US" dirty="0"/>
          </a:p>
          <a:p>
            <a:pPr lvl="1"/>
            <a:r>
              <a:rPr lang="en-US" altLang="zh-CN" dirty="0" err="1">
                <a:solidFill>
                  <a:srgbClr val="000000"/>
                </a:solidFill>
              </a:rPr>
              <a:t>strList.</a:t>
            </a:r>
            <a:r>
              <a:rPr lang="en-US" altLang="zh-CN" dirty="0" err="1">
                <a:solidFill>
                  <a:srgbClr val="A8227B"/>
                </a:solidFill>
              </a:rPr>
              <a:t>sort</a:t>
            </a:r>
            <a:r>
              <a:rPr lang="en-US" altLang="zh-CN" dirty="0">
                <a:solidFill>
                  <a:srgbClr val="000000"/>
                </a:solidFill>
              </a:rPr>
              <a:t>(String::</a:t>
            </a:r>
            <a:r>
              <a:rPr lang="en-US" altLang="zh-CN" dirty="0" err="1">
                <a:solidFill>
                  <a:srgbClr val="000000"/>
                </a:solidFill>
              </a:rPr>
              <a:t>compareToIgnoreCase</a:t>
            </a:r>
            <a:r>
              <a:rPr lang="en-US" altLang="zh-CN" dirty="0">
                <a:solidFill>
                  <a:srgbClr val="000000"/>
                </a:solidFill>
              </a:rPr>
              <a:t>);</a:t>
            </a:r>
          </a:p>
          <a:p>
            <a:endParaRPr lang="en-US" altLang="zh-CN" dirty="0"/>
          </a:p>
          <a:p>
            <a:r>
              <a:rPr lang="en-US" altLang="zh-CN" dirty="0" err="1"/>
              <a:t>demomethodref.StringListSortDemo</a:t>
            </a:r>
            <a:endParaRPr lang="zh-CN" altLang="en-US" dirty="0"/>
          </a:p>
        </p:txBody>
      </p:sp>
      <p:sp>
        <p:nvSpPr>
          <p:cNvPr id="3" name="标题 2">
            <a:extLst>
              <a:ext uri="{FF2B5EF4-FFF2-40B4-BE49-F238E27FC236}">
                <a16:creationId xmlns:a16="http://schemas.microsoft.com/office/drawing/2014/main" id="{C3836CAD-A866-4CAA-9BF9-1C9C66D9C98F}"/>
              </a:ext>
            </a:extLst>
          </p:cNvPr>
          <p:cNvSpPr>
            <a:spLocks noGrp="1"/>
          </p:cNvSpPr>
          <p:nvPr>
            <p:ph type="title"/>
          </p:nvPr>
        </p:nvSpPr>
        <p:spPr/>
        <p:txBody>
          <a:bodyPr/>
          <a:lstStyle/>
          <a:p>
            <a:r>
              <a:rPr lang="en-US" altLang="zh-CN" dirty="0"/>
              <a:t>Class Method Reference </a:t>
            </a:r>
            <a:endParaRPr lang="zh-CN" altLang="en-US" dirty="0"/>
          </a:p>
        </p:txBody>
      </p:sp>
      <p:sp>
        <p:nvSpPr>
          <p:cNvPr id="4" name="日期占位符 3">
            <a:extLst>
              <a:ext uri="{FF2B5EF4-FFF2-40B4-BE49-F238E27FC236}">
                <a16:creationId xmlns:a16="http://schemas.microsoft.com/office/drawing/2014/main" id="{5419CE9F-921C-402F-8204-305A0FCD648D}"/>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6" name="灯片编号占位符 5">
            <a:extLst>
              <a:ext uri="{FF2B5EF4-FFF2-40B4-BE49-F238E27FC236}">
                <a16:creationId xmlns:a16="http://schemas.microsoft.com/office/drawing/2014/main" id="{041BAC00-7FFA-4F79-8A6D-4142A4EFDE06}"/>
              </a:ext>
            </a:extLst>
          </p:cNvPr>
          <p:cNvSpPr>
            <a:spLocks noGrp="1"/>
          </p:cNvSpPr>
          <p:nvPr>
            <p:ph type="sldNum" sz="quarter" idx="4"/>
          </p:nvPr>
        </p:nvSpPr>
        <p:spPr/>
        <p:txBody>
          <a:bodyPr/>
          <a:lstStyle/>
          <a:p>
            <a:fld id="{19B12225-5612-419B-A8D5-4B8EEE4C217E}" type="slidenum">
              <a:rPr lang="en-US" smtClean="0"/>
              <a:pPr/>
              <a:t>12</a:t>
            </a:fld>
            <a:endParaRPr lang="en-US" dirty="0"/>
          </a:p>
        </p:txBody>
      </p:sp>
    </p:spTree>
    <p:extLst>
      <p:ext uri="{BB962C8B-B14F-4D97-AF65-F5344CB8AC3E}">
        <p14:creationId xmlns:p14="http://schemas.microsoft.com/office/powerpoint/2010/main" val="4081706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2A1AAD67-33DB-4103-AA53-AABECF96A662}"/>
              </a:ext>
            </a:extLst>
          </p:cNvPr>
          <p:cNvSpPr>
            <a:spLocks noGrp="1"/>
          </p:cNvSpPr>
          <p:nvPr>
            <p:ph type="title"/>
          </p:nvPr>
        </p:nvSpPr>
        <p:spPr/>
        <p:txBody>
          <a:bodyPr>
            <a:normAutofit/>
          </a:bodyPr>
          <a:lstStyle/>
          <a:p>
            <a:r>
              <a:rPr lang="en-US" altLang="zh-CN" dirty="0"/>
              <a:t>Comparator</a:t>
            </a:r>
            <a:r>
              <a:rPr lang="zh-CN" altLang="en-US" dirty="0"/>
              <a:t> </a:t>
            </a:r>
            <a:r>
              <a:rPr lang="en-US" altLang="zh-CN" dirty="0"/>
              <a:t>based Sorting using Method </a:t>
            </a:r>
            <a:r>
              <a:rPr lang="en-US" altLang="zh-CN" dirty="0" err="1"/>
              <a:t>Refereence</a:t>
            </a:r>
            <a:endParaRPr lang="zh-CN" altLang="en-US" dirty="0"/>
          </a:p>
        </p:txBody>
      </p:sp>
      <p:sp>
        <p:nvSpPr>
          <p:cNvPr id="8" name="文本占位符 7">
            <a:extLst>
              <a:ext uri="{FF2B5EF4-FFF2-40B4-BE49-F238E27FC236}">
                <a16:creationId xmlns:a16="http://schemas.microsoft.com/office/drawing/2014/main" id="{2C2A0C2B-CF87-43CB-A403-56C5AB2BBE73}"/>
              </a:ext>
            </a:extLst>
          </p:cNvPr>
          <p:cNvSpPr>
            <a:spLocks noGrp="1"/>
          </p:cNvSpPr>
          <p:nvPr>
            <p:ph type="body" idx="1"/>
          </p:nvPr>
        </p:nvSpPr>
        <p:spPr/>
        <p:txBody>
          <a:bodyPr/>
          <a:lstStyle/>
          <a:p>
            <a:endParaRPr lang="zh-CN" altLang="en-US"/>
          </a:p>
        </p:txBody>
      </p:sp>
      <p:sp>
        <p:nvSpPr>
          <p:cNvPr id="4" name="日期占位符 3">
            <a:extLst>
              <a:ext uri="{FF2B5EF4-FFF2-40B4-BE49-F238E27FC236}">
                <a16:creationId xmlns:a16="http://schemas.microsoft.com/office/drawing/2014/main" id="{36692432-21DA-424F-80F8-3C55B377697A}"/>
              </a:ext>
            </a:extLst>
          </p:cNvPr>
          <p:cNvSpPr>
            <a:spLocks noGrp="1"/>
          </p:cNvSpPr>
          <p:nvPr>
            <p:ph type="dt" sz="half" idx="4294967295"/>
          </p:nvPr>
        </p:nvSpPr>
        <p:spPr>
          <a:xfrm>
            <a:off x="0" y="6705600"/>
            <a:ext cx="1087438" cy="152400"/>
          </a:xfrm>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1B872C60-9301-4880-A0AE-A88569D66D8D}"/>
              </a:ext>
            </a:extLst>
          </p:cNvPr>
          <p:cNvSpPr>
            <a:spLocks noGrp="1"/>
          </p:cNvSpPr>
          <p:nvPr>
            <p:ph type="ftr" sz="quarter" idx="4294967295"/>
          </p:nvPr>
        </p:nvSpPr>
        <p:spPr>
          <a:xfrm>
            <a:off x="2159000" y="6705600"/>
            <a:ext cx="6985000" cy="152400"/>
          </a:xfrm>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C3463A26-1173-4998-B8B4-5D21E2C202FB}"/>
              </a:ext>
            </a:extLst>
          </p:cNvPr>
          <p:cNvSpPr>
            <a:spLocks noGrp="1"/>
          </p:cNvSpPr>
          <p:nvPr>
            <p:ph type="sldNum" sz="quarter" idx="4294967295"/>
          </p:nvPr>
        </p:nvSpPr>
        <p:spPr>
          <a:xfrm>
            <a:off x="8509000" y="6705600"/>
            <a:ext cx="635000" cy="152400"/>
          </a:xfrm>
        </p:spPr>
        <p:txBody>
          <a:bodyPr/>
          <a:lstStyle/>
          <a:p>
            <a:fld id="{19B12225-5612-419B-A8D5-4B8EEE4C217E}" type="slidenum">
              <a:rPr lang="en-US" smtClean="0"/>
              <a:pPr/>
              <a:t>13</a:t>
            </a:fld>
            <a:endParaRPr lang="en-US" dirty="0"/>
          </a:p>
        </p:txBody>
      </p:sp>
    </p:spTree>
    <p:extLst>
      <p:ext uri="{BB962C8B-B14F-4D97-AF65-F5344CB8AC3E}">
        <p14:creationId xmlns:p14="http://schemas.microsoft.com/office/powerpoint/2010/main" val="279436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A33D4D7-C188-40CB-9142-9C71DC052373}"/>
              </a:ext>
            </a:extLst>
          </p:cNvPr>
          <p:cNvSpPr>
            <a:spLocks noGrp="1"/>
          </p:cNvSpPr>
          <p:nvPr>
            <p:ph idx="1"/>
          </p:nvPr>
        </p:nvSpPr>
        <p:spPr/>
        <p:txBody>
          <a:bodyPr/>
          <a:lstStyle/>
          <a:p>
            <a:pPr lvl="1"/>
            <a:r>
              <a:rPr lang="en-US" altLang="zh-CN" sz="1800" dirty="0" err="1">
                <a:solidFill>
                  <a:srgbClr val="000000"/>
                </a:solidFill>
              </a:rPr>
              <a:t>Arrays.</a:t>
            </a:r>
            <a:r>
              <a:rPr lang="en-US" altLang="zh-CN" sz="1800" dirty="0" err="1">
                <a:solidFill>
                  <a:srgbClr val="A8227B"/>
                </a:solidFill>
              </a:rPr>
              <a:t>sort</a:t>
            </a:r>
            <a:r>
              <a:rPr lang="en-US" altLang="zh-CN" sz="1800" dirty="0">
                <a:solidFill>
                  <a:srgbClr val="000000"/>
                </a:solidFill>
              </a:rPr>
              <a:t>(array[, </a:t>
            </a:r>
            <a:r>
              <a:rPr lang="en-US" altLang="zh-CN" sz="1800" dirty="0" err="1">
                <a:solidFill>
                  <a:srgbClr val="000000"/>
                </a:solidFill>
              </a:rPr>
              <a:t>aComparator</a:t>
            </a:r>
            <a:r>
              <a:rPr lang="en-US" altLang="zh-CN" sz="1800" dirty="0">
                <a:solidFill>
                  <a:srgbClr val="000000"/>
                </a:solidFill>
              </a:rPr>
              <a:t>])</a:t>
            </a:r>
          </a:p>
          <a:p>
            <a:pPr lvl="1"/>
            <a:r>
              <a:rPr lang="en-US" altLang="zh-CN" sz="1800" dirty="0" err="1">
                <a:solidFill>
                  <a:srgbClr val="000000"/>
                </a:solidFill>
              </a:rPr>
              <a:t>list.</a:t>
            </a:r>
            <a:r>
              <a:rPr lang="en-US" altLang="zh-CN" sz="1800" dirty="0" err="1">
                <a:solidFill>
                  <a:srgbClr val="A8227B"/>
                </a:solidFill>
              </a:rPr>
              <a:t>sort</a:t>
            </a:r>
            <a:r>
              <a:rPr lang="en-US" altLang="zh-CN" sz="1800" dirty="0">
                <a:solidFill>
                  <a:srgbClr val="000000"/>
                </a:solidFill>
              </a:rPr>
              <a:t>(</a:t>
            </a:r>
            <a:r>
              <a:rPr lang="en-US" altLang="zh-CN" sz="1800" dirty="0" err="1">
                <a:solidFill>
                  <a:srgbClr val="000000"/>
                </a:solidFill>
              </a:rPr>
              <a:t>aComparator</a:t>
            </a:r>
            <a:r>
              <a:rPr lang="en-US" altLang="zh-CN" sz="1800" dirty="0">
                <a:solidFill>
                  <a:srgbClr val="000000"/>
                </a:solidFill>
              </a:rPr>
              <a:t>) / </a:t>
            </a:r>
            <a:r>
              <a:rPr lang="en-US" altLang="zh-CN" sz="1800" dirty="0" err="1">
                <a:solidFill>
                  <a:srgbClr val="000000"/>
                </a:solidFill>
              </a:rPr>
              <a:t>Collections.</a:t>
            </a:r>
            <a:r>
              <a:rPr lang="en-US" altLang="zh-CN" sz="1800" dirty="0" err="1">
                <a:solidFill>
                  <a:srgbClr val="A8227B"/>
                </a:solidFill>
              </a:rPr>
              <a:t>sort</a:t>
            </a:r>
            <a:r>
              <a:rPr lang="en-US" altLang="zh-CN" sz="1800" dirty="0">
                <a:solidFill>
                  <a:srgbClr val="000000"/>
                </a:solidFill>
              </a:rPr>
              <a:t>(list[, </a:t>
            </a:r>
            <a:r>
              <a:rPr lang="en-US" altLang="zh-CN" sz="1800" dirty="0" err="1">
                <a:solidFill>
                  <a:srgbClr val="000000"/>
                </a:solidFill>
              </a:rPr>
              <a:t>aComparator</a:t>
            </a:r>
            <a:r>
              <a:rPr lang="en-US" altLang="zh-CN" sz="1800" dirty="0">
                <a:solidFill>
                  <a:srgbClr val="000000"/>
                </a:solidFill>
              </a:rPr>
              <a:t>])</a:t>
            </a:r>
          </a:p>
          <a:p>
            <a:endParaRPr lang="en-US" altLang="zh-CN" dirty="0"/>
          </a:p>
          <a:p>
            <a:r>
              <a:rPr lang="en-US" altLang="zh-CN" dirty="0"/>
              <a:t>Comparator&lt;T&gt;</a:t>
            </a:r>
            <a:r>
              <a:rPr lang="zh-CN" altLang="en-US" dirty="0"/>
              <a:t> </a:t>
            </a:r>
            <a:r>
              <a:rPr lang="en-US" altLang="zh-CN" dirty="0"/>
              <a:t>is</a:t>
            </a:r>
            <a:r>
              <a:rPr lang="zh-CN" altLang="en-US" dirty="0"/>
              <a:t> </a:t>
            </a:r>
            <a:r>
              <a:rPr lang="en-US" altLang="zh-CN" dirty="0"/>
              <a:t>a</a:t>
            </a:r>
            <a:r>
              <a:rPr lang="zh-CN" altLang="en-US" dirty="0"/>
              <a:t> </a:t>
            </a:r>
            <a:r>
              <a:rPr lang="en-US" altLang="zh-CN" dirty="0"/>
              <a:t>Functional</a:t>
            </a:r>
            <a:r>
              <a:rPr lang="zh-CN" altLang="en-US" dirty="0"/>
              <a:t> </a:t>
            </a:r>
            <a:r>
              <a:rPr lang="en-US" altLang="zh-CN" dirty="0"/>
              <a:t>Interface</a:t>
            </a:r>
            <a:endParaRPr lang="en-US" altLang="zh-CN" dirty="0">
              <a:solidFill>
                <a:srgbClr val="000000"/>
              </a:solidFill>
            </a:endParaRPr>
          </a:p>
        </p:txBody>
      </p:sp>
      <p:sp>
        <p:nvSpPr>
          <p:cNvPr id="3" name="标题 2">
            <a:extLst>
              <a:ext uri="{FF2B5EF4-FFF2-40B4-BE49-F238E27FC236}">
                <a16:creationId xmlns:a16="http://schemas.microsoft.com/office/drawing/2014/main" id="{E9BE3DD7-1C04-4349-BFAE-EBFF4B628A74}"/>
              </a:ext>
            </a:extLst>
          </p:cNvPr>
          <p:cNvSpPr>
            <a:spLocks noGrp="1"/>
          </p:cNvSpPr>
          <p:nvPr>
            <p:ph type="title"/>
          </p:nvPr>
        </p:nvSpPr>
        <p:spPr/>
        <p:txBody>
          <a:bodyPr/>
          <a:lstStyle/>
          <a:p>
            <a:r>
              <a:rPr lang="en-US" altLang="zh-CN" dirty="0"/>
              <a:t>Sorting using Comparator&lt;T&gt;</a:t>
            </a:r>
            <a:endParaRPr lang="zh-CN" altLang="en-US" dirty="0"/>
          </a:p>
        </p:txBody>
      </p:sp>
      <p:sp>
        <p:nvSpPr>
          <p:cNvPr id="4" name="日期占位符 3">
            <a:extLst>
              <a:ext uri="{FF2B5EF4-FFF2-40B4-BE49-F238E27FC236}">
                <a16:creationId xmlns:a16="http://schemas.microsoft.com/office/drawing/2014/main" id="{526512CE-048E-4D04-A35F-CD3431C57F04}"/>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D9CA4836-3B2A-4D64-886A-1A7BD412C99E}"/>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48A5B848-F4F7-4489-BABC-36B6710171C5}"/>
              </a:ext>
            </a:extLst>
          </p:cNvPr>
          <p:cNvSpPr>
            <a:spLocks noGrp="1"/>
          </p:cNvSpPr>
          <p:nvPr>
            <p:ph type="sldNum" sz="quarter" idx="4"/>
          </p:nvPr>
        </p:nvSpPr>
        <p:spPr/>
        <p:txBody>
          <a:bodyPr/>
          <a:lstStyle/>
          <a:p>
            <a:fld id="{19B12225-5612-419B-A8D5-4B8EEE4C217E}" type="slidenum">
              <a:rPr lang="en-US" smtClean="0"/>
              <a:pPr/>
              <a:t>14</a:t>
            </a:fld>
            <a:endParaRPr lang="en-US" dirty="0"/>
          </a:p>
        </p:txBody>
      </p:sp>
      <p:graphicFrame>
        <p:nvGraphicFramePr>
          <p:cNvPr id="7" name="表格 12">
            <a:extLst>
              <a:ext uri="{FF2B5EF4-FFF2-40B4-BE49-F238E27FC236}">
                <a16:creationId xmlns:a16="http://schemas.microsoft.com/office/drawing/2014/main" id="{E168FC2B-137A-44B8-8C69-57EBB7699F66}"/>
              </a:ext>
            </a:extLst>
          </p:cNvPr>
          <p:cNvGraphicFramePr>
            <a:graphicFrameLocks/>
          </p:cNvGraphicFramePr>
          <p:nvPr>
            <p:extLst>
              <p:ext uri="{D42A27DB-BD31-4B8C-83A1-F6EECF244321}">
                <p14:modId xmlns:p14="http://schemas.microsoft.com/office/powerpoint/2010/main" val="3644793212"/>
              </p:ext>
            </p:extLst>
          </p:nvPr>
        </p:nvGraphicFramePr>
        <p:xfrm>
          <a:off x="228600" y="2454566"/>
          <a:ext cx="8686800" cy="3652839"/>
        </p:xfrm>
        <a:graphic>
          <a:graphicData uri="http://schemas.openxmlformats.org/drawingml/2006/table">
            <a:tbl>
              <a:tblPr firstRow="1" bandRow="1">
                <a:tableStyleId>{5C22544A-7EE6-4342-B048-85BDC9FD1C3A}</a:tableStyleId>
              </a:tblPr>
              <a:tblGrid>
                <a:gridCol w="1153886">
                  <a:extLst>
                    <a:ext uri="{9D8B030D-6E8A-4147-A177-3AD203B41FA5}">
                      <a16:colId xmlns:a16="http://schemas.microsoft.com/office/drawing/2014/main" val="1652594872"/>
                    </a:ext>
                  </a:extLst>
                </a:gridCol>
                <a:gridCol w="5334000">
                  <a:extLst>
                    <a:ext uri="{9D8B030D-6E8A-4147-A177-3AD203B41FA5}">
                      <a16:colId xmlns:a16="http://schemas.microsoft.com/office/drawing/2014/main" val="352768828"/>
                    </a:ext>
                  </a:extLst>
                </a:gridCol>
                <a:gridCol w="2198914">
                  <a:extLst>
                    <a:ext uri="{9D8B030D-6E8A-4147-A177-3AD203B41FA5}">
                      <a16:colId xmlns:a16="http://schemas.microsoft.com/office/drawing/2014/main" val="2437045414"/>
                    </a:ext>
                  </a:extLst>
                </a:gridCol>
              </a:tblGrid>
              <a:tr h="212567">
                <a:tc>
                  <a:txBody>
                    <a:bodyPr/>
                    <a:lstStyle/>
                    <a:p>
                      <a:r>
                        <a:rPr lang="zh-CN" altLang="en-US" dirty="0"/>
                        <a:t>分类</a:t>
                      </a:r>
                    </a:p>
                  </a:txBody>
                  <a:tcPr/>
                </a:tc>
                <a:tc>
                  <a:txBody>
                    <a:bodyPr/>
                    <a:lstStyle/>
                    <a:p>
                      <a:r>
                        <a:rPr lang="en-US" altLang="zh-CN" dirty="0"/>
                        <a:t>Method</a:t>
                      </a:r>
                      <a:r>
                        <a:rPr lang="zh-CN" altLang="en-US" dirty="0"/>
                        <a:t> </a:t>
                      </a:r>
                      <a:r>
                        <a:rPr lang="en-US" altLang="zh-CN" dirty="0"/>
                        <a:t>(function)</a:t>
                      </a:r>
                      <a:endParaRPr lang="zh-CN" altLang="en-US" dirty="0"/>
                    </a:p>
                  </a:txBody>
                  <a:tcPr/>
                </a:tc>
                <a:tc>
                  <a:txBody>
                    <a:bodyPr/>
                    <a:lstStyle/>
                    <a:p>
                      <a:r>
                        <a:rPr lang="en-US" altLang="zh-CN" dirty="0"/>
                        <a:t>Descriptions</a:t>
                      </a:r>
                      <a:endParaRPr lang="zh-CN" altLang="en-US" dirty="0"/>
                    </a:p>
                  </a:txBody>
                  <a:tcPr/>
                </a:tc>
                <a:extLst>
                  <a:ext uri="{0D108BD9-81ED-4DB2-BD59-A6C34878D82A}">
                    <a16:rowId xmlns:a16="http://schemas.microsoft.com/office/drawing/2014/main" val="2649626105"/>
                  </a:ext>
                </a:extLst>
              </a:tr>
              <a:tr h="425133">
                <a:tc rowSpan="2">
                  <a:txBody>
                    <a:bodyPr/>
                    <a:lstStyle/>
                    <a:p>
                      <a:r>
                        <a:rPr lang="en-US" altLang="zh-CN" dirty="0"/>
                        <a:t>Abstract</a:t>
                      </a:r>
                      <a:endParaRPr lang="zh-CN" altLang="en-US" dirty="0"/>
                    </a:p>
                  </a:txBody>
                  <a:tcPr/>
                </a:tc>
                <a:tc>
                  <a:txBody>
                    <a:bodyPr/>
                    <a:lstStyle/>
                    <a:p>
                      <a:r>
                        <a:rPr lang="fr-FR" altLang="zh-CN" b="1" dirty="0">
                          <a:solidFill>
                            <a:srgbClr val="2239A8"/>
                          </a:solidFill>
                        </a:rPr>
                        <a:t>int</a:t>
                      </a:r>
                      <a:r>
                        <a:rPr lang="fr-FR" altLang="zh-CN" dirty="0">
                          <a:solidFill>
                            <a:srgbClr val="2239A8"/>
                          </a:solidFill>
                        </a:rPr>
                        <a:t> </a:t>
                      </a:r>
                      <a:r>
                        <a:rPr lang="fr-FR" altLang="zh-CN" dirty="0">
                          <a:solidFill>
                            <a:srgbClr val="A8227B"/>
                          </a:solidFill>
                        </a:rPr>
                        <a:t>compare</a:t>
                      </a:r>
                      <a:r>
                        <a:rPr lang="fr-FR" altLang="zh-CN" dirty="0">
                          <a:solidFill>
                            <a:srgbClr val="000000"/>
                          </a:solidFill>
                        </a:rPr>
                        <a:t>(T o1, T o2);</a:t>
                      </a:r>
                      <a:endParaRPr lang="en-US" altLang="zh-CN" sz="1800" dirty="0">
                        <a:solidFill>
                          <a:srgbClr val="000000"/>
                        </a:solidFill>
                        <a:latin typeface="Consolas" panose="020B0609020204030204" pitchFamily="49" charset="0"/>
                      </a:endParaRPr>
                    </a:p>
                  </a:txBody>
                  <a:tcPr/>
                </a:tc>
                <a:tc>
                  <a:txBody>
                    <a:bodyPr/>
                    <a:lstStyle/>
                    <a:p>
                      <a:endParaRPr lang="zh-CN" altLang="en-US" sz="1600" dirty="0"/>
                    </a:p>
                  </a:txBody>
                  <a:tcPr/>
                </a:tc>
                <a:extLst>
                  <a:ext uri="{0D108BD9-81ED-4DB2-BD59-A6C34878D82A}">
                    <a16:rowId xmlns:a16="http://schemas.microsoft.com/office/drawing/2014/main" val="2404461086"/>
                  </a:ext>
                </a:extLst>
              </a:tr>
              <a:tr h="425133">
                <a:tc vMerge="1">
                  <a:txBody>
                    <a:bodyPr/>
                    <a:lstStyle/>
                    <a:p>
                      <a:endParaRPr lang="zh-CN" altLang="en-US" dirty="0"/>
                    </a:p>
                  </a:txBody>
                  <a:tcPr/>
                </a:tc>
                <a:tc>
                  <a:txBody>
                    <a:bodyPr/>
                    <a:lstStyle/>
                    <a:p>
                      <a:r>
                        <a:rPr lang="en-US" altLang="zh-CN" b="1" dirty="0" err="1">
                          <a:solidFill>
                            <a:srgbClr val="2239A8"/>
                          </a:solidFill>
                        </a:rPr>
                        <a:t>boolean</a:t>
                      </a:r>
                      <a:r>
                        <a:rPr lang="en-US" altLang="zh-CN" dirty="0">
                          <a:solidFill>
                            <a:srgbClr val="2239A8"/>
                          </a:solidFill>
                        </a:rPr>
                        <a:t> </a:t>
                      </a:r>
                      <a:r>
                        <a:rPr lang="en-US" altLang="zh-CN" dirty="0">
                          <a:solidFill>
                            <a:srgbClr val="A8227B"/>
                          </a:solidFill>
                        </a:rPr>
                        <a:t>equals</a:t>
                      </a:r>
                      <a:r>
                        <a:rPr lang="en-US" altLang="zh-CN" dirty="0">
                          <a:solidFill>
                            <a:srgbClr val="000000"/>
                          </a:solidFill>
                        </a:rPr>
                        <a:t>(Object obj);</a:t>
                      </a:r>
                      <a:endParaRPr lang="en-US" altLang="zh-CN" sz="1800" dirty="0">
                        <a:solidFill>
                          <a:srgbClr val="000000"/>
                        </a:solidFill>
                        <a:latin typeface="Consolas" panose="020B0609020204030204" pitchFamily="49" charset="0"/>
                      </a:endParaRPr>
                    </a:p>
                  </a:txBody>
                  <a:tcPr/>
                </a:tc>
                <a:tc>
                  <a:txBody>
                    <a:bodyPr/>
                    <a:lstStyle/>
                    <a:p>
                      <a:endParaRPr lang="zh-CN" altLang="en-US" sz="1600" dirty="0"/>
                    </a:p>
                  </a:txBody>
                  <a:tcPr/>
                </a:tc>
                <a:extLst>
                  <a:ext uri="{0D108BD9-81ED-4DB2-BD59-A6C34878D82A}">
                    <a16:rowId xmlns:a16="http://schemas.microsoft.com/office/drawing/2014/main" val="1512354152"/>
                  </a:ext>
                </a:extLst>
              </a:tr>
              <a:tr h="425133">
                <a:tc rowSpan="2">
                  <a:txBody>
                    <a:bodyPr/>
                    <a:lstStyle/>
                    <a:p>
                      <a:r>
                        <a:rPr lang="en-US" altLang="zh-CN" sz="1800" b="0" i="0" u="none" strike="noStrike" baseline="0" dirty="0">
                          <a:solidFill>
                            <a:schemeClr val="tx1"/>
                          </a:solidFill>
                          <a:latin typeface="Consolas" panose="020B0609020204030204" pitchFamily="49" charset="0"/>
                        </a:rPr>
                        <a:t>Default</a:t>
                      </a:r>
                    </a:p>
                    <a:p>
                      <a:r>
                        <a:rPr lang="en-US" altLang="zh-CN" sz="1800" b="0" i="0" u="none" strike="noStrike" baseline="0" dirty="0">
                          <a:solidFill>
                            <a:schemeClr val="tx1"/>
                          </a:solidFill>
                          <a:latin typeface="Consolas" panose="020B0609020204030204" pitchFamily="49" charset="0"/>
                        </a:rPr>
                        <a:t>(from</a:t>
                      </a:r>
                      <a:r>
                        <a:rPr lang="zh-CN" altLang="en-US" sz="1800" b="0" i="0" u="none" strike="noStrike" baseline="0" dirty="0">
                          <a:solidFill>
                            <a:schemeClr val="tx1"/>
                          </a:solidFill>
                          <a:latin typeface="Consolas" panose="020B0609020204030204" pitchFamily="49" charset="0"/>
                        </a:rPr>
                        <a:t> </a:t>
                      </a:r>
                      <a:r>
                        <a:rPr lang="en-US" altLang="zh-CN" sz="1800" b="0" i="0" u="none" strike="noStrike" baseline="0" dirty="0">
                          <a:solidFill>
                            <a:schemeClr val="tx1"/>
                          </a:solidFill>
                          <a:latin typeface="Consolas" panose="020B0609020204030204" pitchFamily="49" charset="0"/>
                        </a:rPr>
                        <a:t>8)</a:t>
                      </a:r>
                      <a:endParaRPr lang="zh-CN" altLang="en-US"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i="0" u="none" strike="noStrike" baseline="0" dirty="0">
                          <a:solidFill>
                            <a:srgbClr val="2239A8"/>
                          </a:solidFill>
                          <a:latin typeface="Consolas" panose="020B0609020204030204" pitchFamily="49" charset="0"/>
                        </a:rPr>
                        <a:t> </a:t>
                      </a:r>
                      <a:endParaRPr lang="en-US" altLang="en-US" sz="1800" dirty="0"/>
                    </a:p>
                  </a:txBody>
                  <a:tcPr/>
                </a:tc>
                <a:tc>
                  <a:txBody>
                    <a:bodyPr/>
                    <a:lstStyle/>
                    <a:p>
                      <a:r>
                        <a:rPr lang="en-US" altLang="zh-CN" sz="1800" b="0" i="0" u="none" strike="noStrike" baseline="0" dirty="0">
                          <a:solidFill>
                            <a:srgbClr val="000000"/>
                          </a:solidFill>
                          <a:latin typeface="Consolas" panose="020B0609020204030204" pitchFamily="49" charset="0"/>
                        </a:rPr>
                        <a:t>Comparator&lt;T&gt; </a:t>
                      </a:r>
                      <a:r>
                        <a:rPr lang="en-US" altLang="zh-CN" sz="1800" b="0" i="0" u="none" strike="noStrike" baseline="0" dirty="0" err="1">
                          <a:solidFill>
                            <a:srgbClr val="A8227B"/>
                          </a:solidFill>
                          <a:latin typeface="Consolas" panose="020B0609020204030204" pitchFamily="49" charset="0"/>
                        </a:rPr>
                        <a:t>thenComparing</a:t>
                      </a:r>
                      <a:r>
                        <a:rPr lang="en-US" altLang="zh-CN" sz="1800" b="0" i="0" u="none" strike="noStrike" baseline="0" dirty="0">
                          <a:solidFill>
                            <a:srgbClr val="000000"/>
                          </a:solidFill>
                          <a:latin typeface="Consolas" panose="020B0609020204030204" pitchFamily="49" charset="0"/>
                        </a:rPr>
                        <a:t>(Comparator other)</a:t>
                      </a:r>
                    </a:p>
                  </a:txBody>
                  <a:tcPr/>
                </a:tc>
                <a:tc>
                  <a:txBody>
                    <a:bodyPr/>
                    <a:lstStyle/>
                    <a:p>
                      <a:r>
                        <a:rPr lang="en-US" altLang="zh-CN" dirty="0"/>
                        <a:t>Multi-key</a:t>
                      </a:r>
                      <a:endParaRPr lang="zh-CN" altLang="en-US" dirty="0"/>
                    </a:p>
                  </a:txBody>
                  <a:tcPr/>
                </a:tc>
                <a:extLst>
                  <a:ext uri="{0D108BD9-81ED-4DB2-BD59-A6C34878D82A}">
                    <a16:rowId xmlns:a16="http://schemas.microsoft.com/office/drawing/2014/main" val="2559182147"/>
                  </a:ext>
                </a:extLst>
              </a:tr>
              <a:tr h="425133">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800" dirty="0"/>
                    </a:p>
                  </a:txBody>
                  <a:tcPr/>
                </a:tc>
                <a:tc>
                  <a:txBody>
                    <a:bodyPr/>
                    <a:lstStyle/>
                    <a:p>
                      <a:r>
                        <a:rPr lang="en-US" altLang="zh-CN" sz="1800" b="0" i="0" u="none" strike="noStrike" baseline="0" dirty="0">
                          <a:solidFill>
                            <a:srgbClr val="000000"/>
                          </a:solidFill>
                          <a:latin typeface="Consolas" panose="020B0609020204030204" pitchFamily="49" charset="0"/>
                        </a:rPr>
                        <a:t>Comparator&lt;T&gt; </a:t>
                      </a:r>
                      <a:r>
                        <a:rPr lang="en-US" altLang="zh-CN" sz="1800" b="0" i="0" u="none" strike="noStrike" baseline="0" dirty="0">
                          <a:solidFill>
                            <a:srgbClr val="A8227B"/>
                          </a:solidFill>
                          <a:latin typeface="Consolas" panose="020B0609020204030204" pitchFamily="49" charset="0"/>
                        </a:rPr>
                        <a:t>reversed</a:t>
                      </a:r>
                      <a:r>
                        <a:rPr lang="en-US" altLang="zh-CN" sz="1800" b="0" i="0" u="none" strike="noStrike" baseline="0" dirty="0">
                          <a:solidFill>
                            <a:srgbClr val="000000"/>
                          </a:solidFill>
                          <a:latin typeface="Consolas" panose="020B0609020204030204" pitchFamily="49" charset="0"/>
                        </a:rPr>
                        <a:t>()</a:t>
                      </a:r>
                    </a:p>
                  </a:txBody>
                  <a:tcPr/>
                </a:tc>
                <a:tc>
                  <a:txBody>
                    <a:bodyPr/>
                    <a:lstStyle/>
                    <a:p>
                      <a:endParaRPr lang="zh-CN" altLang="en-US" dirty="0"/>
                    </a:p>
                  </a:txBody>
                  <a:tcPr/>
                </a:tc>
                <a:extLst>
                  <a:ext uri="{0D108BD9-81ED-4DB2-BD59-A6C34878D82A}">
                    <a16:rowId xmlns:a16="http://schemas.microsoft.com/office/drawing/2014/main" val="2369913955"/>
                  </a:ext>
                </a:extLst>
              </a:tr>
              <a:tr h="425133">
                <a:tc rowSpan="3">
                  <a:txBody>
                    <a:bodyPr/>
                    <a:lstStyle/>
                    <a:p>
                      <a:r>
                        <a:rPr lang="en-US" altLang="zh-CN" dirty="0"/>
                        <a:t>Static</a:t>
                      </a:r>
                    </a:p>
                    <a:p>
                      <a:r>
                        <a:rPr lang="en-US" altLang="zh-CN" dirty="0"/>
                        <a:t>(from 8)</a:t>
                      </a:r>
                      <a:endParaRPr lang="zh-CN" altLang="en-US" dirty="0"/>
                    </a:p>
                  </a:txBody>
                  <a:tcPr>
                    <a:solidFill>
                      <a:schemeClr val="bg1">
                        <a:lumMod val="75000"/>
                      </a:schemeClr>
                    </a:solidFill>
                  </a:tcPr>
                </a:tc>
                <a:tc>
                  <a:txBody>
                    <a:bodyPr/>
                    <a:lstStyle/>
                    <a:p>
                      <a:r>
                        <a:rPr lang="en-US" altLang="zh-CN" sz="1800" b="1" i="0" u="none" strike="noStrike" baseline="0" dirty="0">
                          <a:solidFill>
                            <a:srgbClr val="2239A8"/>
                          </a:solidFill>
                          <a:latin typeface="Consolas" panose="020B0609020204030204" pitchFamily="49" charset="0"/>
                        </a:rPr>
                        <a:t>public static</a:t>
                      </a:r>
                      <a:r>
                        <a:rPr lang="en-US" altLang="zh-CN" sz="1800" b="0" i="0" u="none" strike="noStrike" baseline="0" dirty="0">
                          <a:solidFill>
                            <a:srgbClr val="2239A8"/>
                          </a:solidFill>
                          <a:latin typeface="Consolas" panose="020B0609020204030204" pitchFamily="49" charset="0"/>
                        </a:rPr>
                        <a:t> </a:t>
                      </a:r>
                      <a:r>
                        <a:rPr lang="en-US" altLang="zh-CN" sz="1800" b="0" i="0" u="none" strike="noStrike" baseline="0" dirty="0">
                          <a:solidFill>
                            <a:srgbClr val="000000"/>
                          </a:solidFill>
                          <a:latin typeface="Consolas" panose="020B0609020204030204" pitchFamily="49" charset="0"/>
                        </a:rPr>
                        <a:t>Comparator&lt;T&gt; </a:t>
                      </a:r>
                      <a:r>
                        <a:rPr lang="en-US" altLang="zh-CN" sz="1800" b="0" i="0" u="none" strike="noStrike" baseline="0" dirty="0">
                          <a:solidFill>
                            <a:srgbClr val="A8227B"/>
                          </a:solidFill>
                          <a:latin typeface="Consolas" panose="020B0609020204030204" pitchFamily="49" charset="0"/>
                        </a:rPr>
                        <a:t>comparing</a:t>
                      </a:r>
                      <a:r>
                        <a:rPr lang="en-US" altLang="zh-CN" sz="1800" b="0" i="0" u="none" strike="noStrike" baseline="0" dirty="0">
                          <a:solidFill>
                            <a:srgbClr val="000000"/>
                          </a:solidFill>
                          <a:latin typeface="Consolas" panose="020B0609020204030204" pitchFamily="49" charset="0"/>
                        </a:rPr>
                        <a:t>(</a:t>
                      </a:r>
                    </a:p>
                    <a:p>
                      <a:r>
                        <a:rPr lang="en-US" altLang="zh-CN" sz="1800" b="0" i="0" u="none" strike="noStrike" baseline="0" dirty="0" err="1">
                          <a:solidFill>
                            <a:srgbClr val="000000"/>
                          </a:solidFill>
                          <a:latin typeface="Consolas" panose="020B0609020204030204" pitchFamily="49" charset="0"/>
                        </a:rPr>
                        <a:t>keyExtractor</a:t>
                      </a:r>
                      <a:r>
                        <a:rPr lang="en-US" altLang="zh-CN" sz="1800" b="0" i="0" u="none" strike="noStrike" baseline="0" dirty="0">
                          <a:solidFill>
                            <a:srgbClr val="000000"/>
                          </a:solidFill>
                          <a:latin typeface="Consolas" panose="020B0609020204030204" pitchFamily="49" charset="0"/>
                        </a:rPr>
                        <a:t>[, Comparator </a:t>
                      </a:r>
                      <a:r>
                        <a:rPr lang="en-US" altLang="zh-CN" sz="1800" b="0" i="0" u="none" strike="noStrike" baseline="0" dirty="0" err="1">
                          <a:solidFill>
                            <a:srgbClr val="000000"/>
                          </a:solidFill>
                          <a:latin typeface="Consolas" panose="020B0609020204030204" pitchFamily="49" charset="0"/>
                        </a:rPr>
                        <a:t>keyComparator</a:t>
                      </a:r>
                      <a:r>
                        <a:rPr lang="en-US" altLang="zh-CN" sz="1800" b="0" i="0" u="none" strike="noStrike" baseline="0" dirty="0">
                          <a:solidFill>
                            <a:srgbClr val="000000"/>
                          </a:solidFill>
                          <a:latin typeface="Consolas" panose="020B0609020204030204" pitchFamily="49" charset="0"/>
                        </a:rPr>
                        <a:t>])</a:t>
                      </a:r>
                      <a:endParaRPr lang="zh-CN" altLang="en-US" dirty="0"/>
                    </a:p>
                  </a:txBody>
                  <a:tcPr>
                    <a:solidFill>
                      <a:schemeClr val="bg1">
                        <a:lumMod val="75000"/>
                      </a:schemeClr>
                    </a:solidFill>
                  </a:tcPr>
                </a:tc>
                <a:tc>
                  <a:txBody>
                    <a:bodyPr/>
                    <a:lstStyle/>
                    <a:p>
                      <a:r>
                        <a:rPr lang="en-US" altLang="zh-CN" dirty="0"/>
                        <a:t>Compare selected keys</a:t>
                      </a:r>
                      <a:endParaRPr lang="zh-CN" altLang="en-US" dirty="0"/>
                    </a:p>
                  </a:txBody>
                  <a:tcPr>
                    <a:solidFill>
                      <a:schemeClr val="bg1">
                        <a:lumMod val="75000"/>
                      </a:schemeClr>
                    </a:solidFill>
                  </a:tcPr>
                </a:tc>
                <a:extLst>
                  <a:ext uri="{0D108BD9-81ED-4DB2-BD59-A6C34878D82A}">
                    <a16:rowId xmlns:a16="http://schemas.microsoft.com/office/drawing/2014/main" val="2398478338"/>
                  </a:ext>
                </a:extLst>
              </a:tr>
              <a:tr h="212567">
                <a:tc vMerge="1">
                  <a:txBody>
                    <a:bodyPr/>
                    <a:lstStyle/>
                    <a:p>
                      <a:endParaRPr lang="zh-CN" altLang="en-US" dirty="0"/>
                    </a:p>
                  </a:txBody>
                  <a:tcPr/>
                </a:tc>
                <a:tc>
                  <a:txBody>
                    <a:bodyPr/>
                    <a:lstStyle/>
                    <a:p>
                      <a:r>
                        <a:rPr lang="fr-FR" altLang="zh-CN" sz="1800" b="1" i="0" u="none" strike="noStrike" baseline="0" dirty="0">
                          <a:solidFill>
                            <a:srgbClr val="2239A8"/>
                          </a:solidFill>
                          <a:latin typeface="Consolas" panose="020B0609020204030204" pitchFamily="49" charset="0"/>
                        </a:rPr>
                        <a:t>public static</a:t>
                      </a:r>
                      <a:r>
                        <a:rPr lang="fr-FR" altLang="zh-CN" sz="1800" b="0" i="0" u="none" strike="noStrike" baseline="0" dirty="0">
                          <a:solidFill>
                            <a:srgbClr val="2239A8"/>
                          </a:solidFill>
                          <a:latin typeface="Consolas" panose="020B0609020204030204" pitchFamily="49" charset="0"/>
                        </a:rPr>
                        <a:t> </a:t>
                      </a:r>
                      <a:r>
                        <a:rPr lang="fr-FR" altLang="zh-CN" sz="1800" b="0" i="0" u="none" strike="noStrike" baseline="0" dirty="0">
                          <a:solidFill>
                            <a:srgbClr val="000000"/>
                          </a:solidFill>
                          <a:latin typeface="Consolas" panose="020B0609020204030204" pitchFamily="49" charset="0"/>
                        </a:rPr>
                        <a:t>Comparator&lt;T&gt; </a:t>
                      </a:r>
                      <a:r>
                        <a:rPr lang="fr-FR" altLang="zh-CN" sz="1800" b="0" i="0" u="none" strike="noStrike" baseline="0" dirty="0">
                          <a:solidFill>
                            <a:srgbClr val="A8227B"/>
                          </a:solidFill>
                          <a:latin typeface="Consolas" panose="020B0609020204030204" pitchFamily="49" charset="0"/>
                        </a:rPr>
                        <a:t>reverseOrder</a:t>
                      </a:r>
                      <a:r>
                        <a:rPr lang="fr-FR" altLang="zh-CN" sz="1800" b="0" i="0" u="none" strike="noStrike" baseline="0" dirty="0">
                          <a:solidFill>
                            <a:srgbClr val="000000"/>
                          </a:solidFill>
                          <a:latin typeface="Consolas" panose="020B0609020204030204" pitchFamily="49" charset="0"/>
                        </a:rPr>
                        <a:t>() </a:t>
                      </a:r>
                    </a:p>
                  </a:txBody>
                  <a:tcPr>
                    <a:solidFill>
                      <a:schemeClr val="bg1">
                        <a:lumMod val="75000"/>
                      </a:schemeClr>
                    </a:solidFill>
                  </a:tcPr>
                </a:tc>
                <a:tc>
                  <a:txBody>
                    <a:bodyPr/>
                    <a:lstStyle/>
                    <a:p>
                      <a:endParaRPr lang="zh-CN" altLang="en-US" dirty="0"/>
                    </a:p>
                  </a:txBody>
                  <a:tcPr>
                    <a:solidFill>
                      <a:schemeClr val="bg1">
                        <a:lumMod val="75000"/>
                      </a:schemeClr>
                    </a:solidFill>
                  </a:tcPr>
                </a:tc>
                <a:extLst>
                  <a:ext uri="{0D108BD9-81ED-4DB2-BD59-A6C34878D82A}">
                    <a16:rowId xmlns:a16="http://schemas.microsoft.com/office/drawing/2014/main" val="182674421"/>
                  </a:ext>
                </a:extLst>
              </a:tr>
              <a:tr h="274320">
                <a:tc vMerge="1">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zh-CN" sz="1800" b="1" i="0" u="none" strike="noStrike" baseline="0" dirty="0">
                          <a:solidFill>
                            <a:srgbClr val="2239A8"/>
                          </a:solidFill>
                          <a:latin typeface="Consolas" panose="020B0609020204030204" pitchFamily="49" charset="0"/>
                        </a:rPr>
                        <a:t>public static</a:t>
                      </a:r>
                      <a:r>
                        <a:rPr lang="fr-FR" altLang="zh-CN" sz="1800" b="0" i="0" u="none" strike="noStrike" baseline="0" dirty="0">
                          <a:solidFill>
                            <a:srgbClr val="2239A8"/>
                          </a:solidFill>
                          <a:latin typeface="Consolas" panose="020B0609020204030204" pitchFamily="49" charset="0"/>
                        </a:rPr>
                        <a:t> </a:t>
                      </a:r>
                      <a:r>
                        <a:rPr lang="fr-FR" altLang="zh-CN" sz="1800" b="0" i="0" u="none" strike="noStrike" baseline="0" dirty="0">
                          <a:solidFill>
                            <a:srgbClr val="000000"/>
                          </a:solidFill>
                          <a:latin typeface="Consolas" panose="020B0609020204030204" pitchFamily="49" charset="0"/>
                        </a:rPr>
                        <a:t>Comparator&lt;T&gt; </a:t>
                      </a:r>
                      <a:r>
                        <a:rPr lang="en-US" altLang="zh-CN" sz="1800" b="0" i="0" u="none" strike="noStrike" baseline="0" dirty="0">
                          <a:solidFill>
                            <a:srgbClr val="A8227B"/>
                          </a:solidFill>
                          <a:latin typeface="Consolas" panose="020B0609020204030204" pitchFamily="49" charset="0"/>
                        </a:rPr>
                        <a:t>natural</a:t>
                      </a:r>
                      <a:r>
                        <a:rPr lang="fr-FR" altLang="zh-CN" sz="1800" b="0" i="0" u="none" strike="noStrike" baseline="0" dirty="0">
                          <a:solidFill>
                            <a:srgbClr val="A8227B"/>
                          </a:solidFill>
                          <a:latin typeface="Consolas" panose="020B0609020204030204" pitchFamily="49" charset="0"/>
                        </a:rPr>
                        <a:t>Order</a:t>
                      </a:r>
                      <a:r>
                        <a:rPr lang="fr-FR" altLang="zh-CN" sz="1800" b="0" i="0" u="none" strike="noStrike" baseline="0" dirty="0">
                          <a:solidFill>
                            <a:srgbClr val="000000"/>
                          </a:solidFill>
                          <a:latin typeface="Consolas" panose="020B0609020204030204" pitchFamily="49" charset="0"/>
                        </a:rPr>
                        <a:t>() </a:t>
                      </a:r>
                    </a:p>
                  </a:txBody>
                  <a:tcPr>
                    <a:solidFill>
                      <a:schemeClr val="bg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solidFill>
                      <a:schemeClr val="bg1">
                        <a:lumMod val="75000"/>
                      </a:schemeClr>
                    </a:solidFill>
                  </a:tcPr>
                </a:tc>
                <a:extLst>
                  <a:ext uri="{0D108BD9-81ED-4DB2-BD59-A6C34878D82A}">
                    <a16:rowId xmlns:a16="http://schemas.microsoft.com/office/drawing/2014/main" val="255554915"/>
                  </a:ext>
                </a:extLst>
              </a:tr>
            </a:tbl>
          </a:graphicData>
        </a:graphic>
      </p:graphicFrame>
    </p:spTree>
    <p:extLst>
      <p:ext uri="{BB962C8B-B14F-4D97-AF65-F5344CB8AC3E}">
        <p14:creationId xmlns:p14="http://schemas.microsoft.com/office/powerpoint/2010/main" val="2474005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0383FB-B358-4F49-926F-C49DD48BE40E}"/>
              </a:ext>
            </a:extLst>
          </p:cNvPr>
          <p:cNvSpPr>
            <a:spLocks noGrp="1"/>
          </p:cNvSpPr>
          <p:nvPr>
            <p:ph idx="1"/>
          </p:nvPr>
        </p:nvSpPr>
        <p:spPr/>
        <p:txBody>
          <a:bodyPr>
            <a:normAutofit fontScale="55000" lnSpcReduction="20000"/>
          </a:bodyPr>
          <a:lstStyle/>
          <a:p>
            <a:r>
              <a:rPr lang="en-US" altLang="zh-CN" sz="3400" dirty="0"/>
              <a:t>Anonymous Class – A Class in place, without an explicit name</a:t>
            </a:r>
          </a:p>
          <a:p>
            <a:r>
              <a:rPr lang="en-US" altLang="zh-CN" sz="3400" dirty="0"/>
              <a:t>Can be new-ed directly</a:t>
            </a:r>
          </a:p>
          <a:p>
            <a:endParaRPr lang="en-US" altLang="zh-CN" sz="3400" dirty="0"/>
          </a:p>
          <a:p>
            <a:r>
              <a:rPr lang="en-US" altLang="zh-CN" sz="3400" dirty="0"/>
              <a:t>Example: Sorting a list with an anonymous Comparator</a:t>
            </a:r>
          </a:p>
          <a:p>
            <a:pPr marL="0" indent="0">
              <a:buNone/>
            </a:pPr>
            <a:endParaRPr lang="en-US" altLang="zh-CN" sz="2600" dirty="0">
              <a:solidFill>
                <a:srgbClr val="000000"/>
              </a:solidFill>
            </a:endParaRPr>
          </a:p>
          <a:p>
            <a:pPr marL="0" indent="0">
              <a:buNone/>
            </a:pPr>
            <a:r>
              <a:rPr lang="en-US" altLang="zh-CN" sz="2900" dirty="0" err="1">
                <a:solidFill>
                  <a:srgbClr val="000000"/>
                </a:solidFill>
              </a:rPr>
              <a:t>list.</a:t>
            </a:r>
            <a:r>
              <a:rPr lang="en-US" altLang="zh-CN" sz="2900" dirty="0" err="1">
                <a:solidFill>
                  <a:srgbClr val="A8227B"/>
                </a:solidFill>
              </a:rPr>
              <a:t>sort</a:t>
            </a:r>
            <a:r>
              <a:rPr lang="en-US" altLang="zh-CN" sz="2900" dirty="0">
                <a:solidFill>
                  <a:srgbClr val="000000"/>
                </a:solidFill>
              </a:rPr>
              <a:t>(</a:t>
            </a:r>
            <a:r>
              <a:rPr lang="en-US" altLang="zh-CN" sz="2900" b="1" dirty="0">
                <a:solidFill>
                  <a:srgbClr val="2239A8"/>
                </a:solidFill>
                <a:highlight>
                  <a:srgbClr val="FFFF00"/>
                </a:highlight>
              </a:rPr>
              <a:t>new</a:t>
            </a:r>
            <a:r>
              <a:rPr lang="en-US" altLang="zh-CN" sz="2900" dirty="0">
                <a:solidFill>
                  <a:srgbClr val="2239A8"/>
                </a:solidFill>
                <a:highlight>
                  <a:srgbClr val="FFFF00"/>
                </a:highlight>
              </a:rPr>
              <a:t> </a:t>
            </a:r>
            <a:r>
              <a:rPr lang="en-US" altLang="zh-CN" sz="2900" dirty="0">
                <a:solidFill>
                  <a:srgbClr val="000000"/>
                </a:solidFill>
                <a:highlight>
                  <a:srgbClr val="FFFF00"/>
                </a:highlight>
              </a:rPr>
              <a:t>Comparator&lt;Movie&gt;() {</a:t>
            </a:r>
          </a:p>
          <a:p>
            <a:pPr marL="0" indent="0">
              <a:buNone/>
            </a:pPr>
            <a:r>
              <a:rPr lang="en-US" altLang="zh-CN" sz="2900" dirty="0">
                <a:highlight>
                  <a:srgbClr val="FFFF00"/>
                </a:highlight>
              </a:rPr>
              <a:t>    </a:t>
            </a:r>
            <a:r>
              <a:rPr lang="en-US" altLang="zh-CN" sz="2900" b="1" dirty="0">
                <a:solidFill>
                  <a:srgbClr val="2239A8"/>
                </a:solidFill>
                <a:highlight>
                  <a:srgbClr val="FFFF00"/>
                </a:highlight>
              </a:rPr>
              <a:t>public int</a:t>
            </a:r>
            <a:r>
              <a:rPr lang="en-US" altLang="zh-CN" sz="2900" dirty="0">
                <a:solidFill>
                  <a:srgbClr val="2239A8"/>
                </a:solidFill>
                <a:highlight>
                  <a:srgbClr val="FFFF00"/>
                </a:highlight>
              </a:rPr>
              <a:t> </a:t>
            </a:r>
            <a:r>
              <a:rPr lang="en-US" altLang="zh-CN" sz="2900" dirty="0">
                <a:solidFill>
                  <a:srgbClr val="A8227B"/>
                </a:solidFill>
                <a:highlight>
                  <a:srgbClr val="FFFF00"/>
                </a:highlight>
              </a:rPr>
              <a:t>compare</a:t>
            </a:r>
            <a:r>
              <a:rPr lang="en-US" altLang="zh-CN" sz="2900" dirty="0">
                <a:solidFill>
                  <a:srgbClr val="000000"/>
                </a:solidFill>
                <a:highlight>
                  <a:srgbClr val="FFFF00"/>
                </a:highlight>
              </a:rPr>
              <a:t>(Movie m1, Movie m2) {</a:t>
            </a:r>
          </a:p>
          <a:p>
            <a:pPr marL="0" indent="0">
              <a:buNone/>
            </a:pPr>
            <a:r>
              <a:rPr lang="en-US" altLang="zh-CN" sz="2900" dirty="0">
                <a:highlight>
                  <a:srgbClr val="FFFF00"/>
                </a:highlight>
              </a:rPr>
              <a:t>        </a:t>
            </a:r>
            <a:r>
              <a:rPr lang="en-US" altLang="zh-CN" sz="2900" b="1" dirty="0">
                <a:solidFill>
                  <a:srgbClr val="2239A8"/>
                </a:solidFill>
                <a:highlight>
                  <a:srgbClr val="FFFF00"/>
                </a:highlight>
              </a:rPr>
              <a:t>return</a:t>
            </a:r>
            <a:r>
              <a:rPr lang="en-US" altLang="zh-CN" sz="2900" dirty="0">
                <a:solidFill>
                  <a:srgbClr val="2239A8"/>
                </a:solidFill>
                <a:highlight>
                  <a:srgbClr val="FFFF00"/>
                </a:highlight>
              </a:rPr>
              <a:t> </a:t>
            </a:r>
            <a:r>
              <a:rPr lang="en-US" altLang="zh-CN" sz="2900" dirty="0" err="1">
                <a:solidFill>
                  <a:srgbClr val="000000"/>
                </a:solidFill>
                <a:highlight>
                  <a:srgbClr val="FFFF00"/>
                </a:highlight>
              </a:rPr>
              <a:t>Double.</a:t>
            </a:r>
            <a:r>
              <a:rPr lang="en-US" altLang="zh-CN" sz="2900" dirty="0" err="1">
                <a:solidFill>
                  <a:srgbClr val="A8227B"/>
                </a:solidFill>
                <a:highlight>
                  <a:srgbClr val="FFFF00"/>
                </a:highlight>
              </a:rPr>
              <a:t>compare</a:t>
            </a:r>
            <a:r>
              <a:rPr lang="en-US" altLang="zh-CN" sz="2900" dirty="0">
                <a:solidFill>
                  <a:srgbClr val="000000"/>
                </a:solidFill>
                <a:highlight>
                  <a:srgbClr val="FFFF00"/>
                </a:highlight>
              </a:rPr>
              <a:t>(m1.</a:t>
            </a:r>
            <a:r>
              <a:rPr lang="en-US" altLang="zh-CN" sz="2900" dirty="0">
                <a:solidFill>
                  <a:srgbClr val="A8227B"/>
                </a:solidFill>
                <a:highlight>
                  <a:srgbClr val="FFFF00"/>
                </a:highlight>
              </a:rPr>
              <a:t>getRating</a:t>
            </a:r>
            <a:r>
              <a:rPr lang="en-US" altLang="zh-CN" sz="2900" dirty="0">
                <a:solidFill>
                  <a:srgbClr val="000000"/>
                </a:solidFill>
                <a:highlight>
                  <a:srgbClr val="FFFF00"/>
                </a:highlight>
              </a:rPr>
              <a:t>(), m2.</a:t>
            </a:r>
            <a:r>
              <a:rPr lang="en-US" altLang="zh-CN" sz="2900" dirty="0">
                <a:solidFill>
                  <a:srgbClr val="A8227B"/>
                </a:solidFill>
                <a:highlight>
                  <a:srgbClr val="FFFF00"/>
                </a:highlight>
              </a:rPr>
              <a:t>getRating</a:t>
            </a:r>
            <a:r>
              <a:rPr lang="en-US" altLang="zh-CN" sz="2900" dirty="0">
                <a:solidFill>
                  <a:srgbClr val="000000"/>
                </a:solidFill>
                <a:highlight>
                  <a:srgbClr val="FFFF00"/>
                </a:highlight>
              </a:rPr>
              <a:t>()); </a:t>
            </a:r>
          </a:p>
          <a:p>
            <a:pPr marL="0" indent="0">
              <a:buNone/>
            </a:pPr>
            <a:r>
              <a:rPr lang="zh-CN" altLang="en-US" sz="2900" dirty="0">
                <a:highlight>
                  <a:srgbClr val="FFFF00"/>
                </a:highlight>
              </a:rPr>
              <a:t>    </a:t>
            </a:r>
            <a:r>
              <a:rPr lang="en-US" altLang="zh-CN" sz="2900" dirty="0">
                <a:solidFill>
                  <a:srgbClr val="000000"/>
                </a:solidFill>
                <a:highlight>
                  <a:srgbClr val="FFFF00"/>
                </a:highlight>
              </a:rPr>
              <a:t>}</a:t>
            </a:r>
          </a:p>
          <a:p>
            <a:pPr marL="0" indent="0">
              <a:buNone/>
            </a:pPr>
            <a:r>
              <a:rPr lang="en-US" altLang="zh-CN" sz="2900" dirty="0">
                <a:solidFill>
                  <a:srgbClr val="000000"/>
                </a:solidFill>
                <a:highlight>
                  <a:srgbClr val="FFFF00"/>
                </a:highlight>
              </a:rPr>
              <a:t>}</a:t>
            </a:r>
            <a:r>
              <a:rPr lang="en-US" altLang="zh-CN" sz="2900" dirty="0">
                <a:solidFill>
                  <a:srgbClr val="000000"/>
                </a:solidFill>
              </a:rPr>
              <a:t>); </a:t>
            </a:r>
          </a:p>
          <a:p>
            <a:pPr marL="0" indent="0">
              <a:buNone/>
            </a:pPr>
            <a:endParaRPr lang="en-US" altLang="zh-CN" sz="3400" dirty="0">
              <a:solidFill>
                <a:srgbClr val="000000"/>
              </a:solidFill>
            </a:endParaRPr>
          </a:p>
          <a:p>
            <a:r>
              <a:rPr lang="en-US" altLang="zh-CN" sz="3400" dirty="0"/>
              <a:t>Equivalent to</a:t>
            </a:r>
            <a:endParaRPr lang="en-US" altLang="zh-CN" sz="3400" dirty="0">
              <a:solidFill>
                <a:srgbClr val="000000"/>
              </a:solidFill>
            </a:endParaRPr>
          </a:p>
          <a:p>
            <a:r>
              <a:rPr lang="en-US" altLang="zh-CN" sz="2900" dirty="0">
                <a:solidFill>
                  <a:srgbClr val="000000"/>
                </a:solidFill>
              </a:rPr>
              <a:t>1. Write class </a:t>
            </a:r>
            <a:r>
              <a:rPr lang="en-US" altLang="zh-CN" sz="2900" dirty="0" err="1">
                <a:solidFill>
                  <a:srgbClr val="000000"/>
                </a:solidFill>
              </a:rPr>
              <a:t>RatingCompare</a:t>
            </a:r>
            <a:r>
              <a:rPr lang="en-US" altLang="zh-CN" sz="2900" dirty="0">
                <a:solidFill>
                  <a:srgbClr val="000000"/>
                </a:solidFill>
              </a:rPr>
              <a:t> implementing Comparator&lt;Movie&gt;</a:t>
            </a:r>
          </a:p>
          <a:p>
            <a:pPr marL="457200" indent="-457200"/>
            <a:endParaRPr lang="en-US" altLang="zh-CN" sz="2900" dirty="0">
              <a:solidFill>
                <a:srgbClr val="000000"/>
              </a:solidFill>
            </a:endParaRPr>
          </a:p>
          <a:p>
            <a:pPr marL="0" indent="0">
              <a:buNone/>
            </a:pPr>
            <a:r>
              <a:rPr lang="en-US" altLang="zh-CN" sz="2600" b="1" dirty="0">
                <a:solidFill>
                  <a:srgbClr val="2239A8"/>
                </a:solidFill>
              </a:rPr>
              <a:t>class</a:t>
            </a:r>
            <a:r>
              <a:rPr lang="en-US" altLang="zh-CN" sz="2600" dirty="0">
                <a:solidFill>
                  <a:srgbClr val="2239A8"/>
                </a:solidFill>
              </a:rPr>
              <a:t> </a:t>
            </a:r>
            <a:r>
              <a:rPr lang="en-US" altLang="zh-CN" sz="2600" dirty="0" err="1">
                <a:solidFill>
                  <a:srgbClr val="000000"/>
                </a:solidFill>
              </a:rPr>
              <a:t>RatingCompare</a:t>
            </a:r>
            <a:r>
              <a:rPr lang="en-US" altLang="zh-CN" sz="2600" dirty="0">
                <a:solidFill>
                  <a:srgbClr val="000000"/>
                </a:solidFill>
              </a:rPr>
              <a:t> </a:t>
            </a:r>
            <a:r>
              <a:rPr lang="en-US" altLang="zh-CN" sz="2600" b="1" dirty="0">
                <a:solidFill>
                  <a:srgbClr val="2239A8"/>
                </a:solidFill>
              </a:rPr>
              <a:t>implements</a:t>
            </a:r>
            <a:r>
              <a:rPr lang="en-US" altLang="zh-CN" sz="2600" dirty="0">
                <a:solidFill>
                  <a:srgbClr val="2239A8"/>
                </a:solidFill>
              </a:rPr>
              <a:t> </a:t>
            </a:r>
            <a:r>
              <a:rPr lang="en-US" altLang="zh-CN" sz="2600" dirty="0">
                <a:solidFill>
                  <a:srgbClr val="000000"/>
                </a:solidFill>
              </a:rPr>
              <a:t>Comparator&lt;Movie&gt; {</a:t>
            </a:r>
          </a:p>
          <a:p>
            <a:pPr marL="0" indent="0">
              <a:buNone/>
            </a:pPr>
            <a:r>
              <a:rPr lang="en-US" altLang="zh-CN" sz="2600" dirty="0"/>
              <a:t>    </a:t>
            </a:r>
            <a:r>
              <a:rPr lang="en-US" altLang="zh-CN" sz="2600" b="1" dirty="0">
                <a:solidFill>
                  <a:srgbClr val="2239A8"/>
                </a:solidFill>
              </a:rPr>
              <a:t>public int</a:t>
            </a:r>
            <a:r>
              <a:rPr lang="en-US" altLang="zh-CN" sz="2600" dirty="0">
                <a:solidFill>
                  <a:srgbClr val="2239A8"/>
                </a:solidFill>
              </a:rPr>
              <a:t> </a:t>
            </a:r>
            <a:r>
              <a:rPr lang="en-US" altLang="zh-CN" sz="2600" dirty="0">
                <a:solidFill>
                  <a:srgbClr val="A8227B"/>
                </a:solidFill>
              </a:rPr>
              <a:t>compare</a:t>
            </a:r>
            <a:r>
              <a:rPr lang="en-US" altLang="zh-CN" sz="2600" dirty="0">
                <a:solidFill>
                  <a:srgbClr val="000000"/>
                </a:solidFill>
              </a:rPr>
              <a:t>(Movie m1, Movie m2) {</a:t>
            </a:r>
          </a:p>
          <a:p>
            <a:pPr marL="0" indent="0">
              <a:buNone/>
            </a:pPr>
            <a:r>
              <a:rPr lang="en-US" altLang="zh-CN" sz="2600" b="1" dirty="0">
                <a:solidFill>
                  <a:srgbClr val="2239A8"/>
                </a:solidFill>
              </a:rPr>
              <a:t>        return</a:t>
            </a:r>
            <a:r>
              <a:rPr lang="en-US" altLang="zh-CN" sz="2600" dirty="0">
                <a:solidFill>
                  <a:srgbClr val="2239A8"/>
                </a:solidFill>
              </a:rPr>
              <a:t> </a:t>
            </a:r>
            <a:r>
              <a:rPr lang="en-US" altLang="zh-CN" sz="2600" dirty="0" err="1">
                <a:solidFill>
                  <a:srgbClr val="000000"/>
                </a:solidFill>
              </a:rPr>
              <a:t>Double.</a:t>
            </a:r>
            <a:r>
              <a:rPr lang="en-US" altLang="zh-CN" sz="2600" dirty="0" err="1">
                <a:solidFill>
                  <a:srgbClr val="A8227B"/>
                </a:solidFill>
              </a:rPr>
              <a:t>compare</a:t>
            </a:r>
            <a:r>
              <a:rPr lang="en-US" altLang="zh-CN" sz="2600" dirty="0">
                <a:solidFill>
                  <a:srgbClr val="000000"/>
                </a:solidFill>
              </a:rPr>
              <a:t>(m1.</a:t>
            </a:r>
            <a:r>
              <a:rPr lang="en-US" altLang="zh-CN" sz="2600" dirty="0">
                <a:solidFill>
                  <a:srgbClr val="A8227B"/>
                </a:solidFill>
              </a:rPr>
              <a:t>getRating</a:t>
            </a:r>
            <a:r>
              <a:rPr lang="en-US" altLang="zh-CN" sz="2600" dirty="0">
                <a:solidFill>
                  <a:srgbClr val="000000"/>
                </a:solidFill>
              </a:rPr>
              <a:t>(), m2.</a:t>
            </a:r>
            <a:r>
              <a:rPr lang="en-US" altLang="zh-CN" sz="2600" dirty="0">
                <a:solidFill>
                  <a:srgbClr val="A8227B"/>
                </a:solidFill>
              </a:rPr>
              <a:t>getRating</a:t>
            </a:r>
            <a:r>
              <a:rPr lang="en-US" altLang="zh-CN" sz="2600" dirty="0">
                <a:solidFill>
                  <a:srgbClr val="000000"/>
                </a:solidFill>
              </a:rPr>
              <a:t>());</a:t>
            </a:r>
          </a:p>
          <a:p>
            <a:pPr marL="0" indent="0">
              <a:buNone/>
            </a:pPr>
            <a:r>
              <a:rPr lang="zh-CN" altLang="en-US" sz="2600" dirty="0"/>
              <a:t>    </a:t>
            </a:r>
            <a:r>
              <a:rPr lang="en-US" altLang="zh-CN" sz="2600" dirty="0">
                <a:solidFill>
                  <a:srgbClr val="000000"/>
                </a:solidFill>
              </a:rPr>
              <a:t>}</a:t>
            </a:r>
          </a:p>
          <a:p>
            <a:pPr marL="0" indent="0">
              <a:buNone/>
            </a:pPr>
            <a:r>
              <a:rPr lang="en-US" altLang="zh-CN" sz="2600" dirty="0">
                <a:solidFill>
                  <a:srgbClr val="000000"/>
                </a:solidFill>
              </a:rPr>
              <a:t>}</a:t>
            </a:r>
          </a:p>
          <a:p>
            <a:endParaRPr lang="en-US" altLang="zh-CN" sz="2600" dirty="0">
              <a:solidFill>
                <a:srgbClr val="000000"/>
              </a:solidFill>
            </a:endParaRPr>
          </a:p>
          <a:p>
            <a:r>
              <a:rPr lang="en-US" altLang="zh-CN" sz="2900" dirty="0">
                <a:solidFill>
                  <a:srgbClr val="000000"/>
                </a:solidFill>
              </a:rPr>
              <a:t>2. new</a:t>
            </a:r>
            <a:r>
              <a:rPr lang="zh-CN" altLang="en-US" sz="2900" dirty="0">
                <a:solidFill>
                  <a:srgbClr val="000000"/>
                </a:solidFill>
              </a:rPr>
              <a:t> </a:t>
            </a:r>
            <a:r>
              <a:rPr lang="en-US" altLang="zh-CN" sz="2900" dirty="0">
                <a:solidFill>
                  <a:srgbClr val="000000"/>
                </a:solidFill>
              </a:rPr>
              <a:t>an</a:t>
            </a:r>
            <a:r>
              <a:rPr lang="zh-CN" altLang="en-US" sz="2900" dirty="0">
                <a:solidFill>
                  <a:srgbClr val="000000"/>
                </a:solidFill>
              </a:rPr>
              <a:t> </a:t>
            </a:r>
            <a:r>
              <a:rPr lang="en-US" altLang="zh-CN" sz="2900" dirty="0" err="1">
                <a:solidFill>
                  <a:srgbClr val="000000"/>
                </a:solidFill>
              </a:rPr>
              <a:t>RatingCompare</a:t>
            </a:r>
            <a:r>
              <a:rPr lang="zh-CN" altLang="en-US" sz="2900" dirty="0">
                <a:solidFill>
                  <a:srgbClr val="000000"/>
                </a:solidFill>
              </a:rPr>
              <a:t> </a:t>
            </a:r>
            <a:r>
              <a:rPr lang="en-US" altLang="zh-CN" sz="2900" dirty="0">
                <a:solidFill>
                  <a:srgbClr val="000000"/>
                </a:solidFill>
              </a:rPr>
              <a:t>Object</a:t>
            </a:r>
          </a:p>
          <a:p>
            <a:endParaRPr lang="en-US" altLang="zh-CN" sz="2900" dirty="0">
              <a:solidFill>
                <a:srgbClr val="000000"/>
              </a:solidFill>
            </a:endParaRPr>
          </a:p>
          <a:p>
            <a:pPr marL="0" indent="0">
              <a:buNone/>
            </a:pPr>
            <a:r>
              <a:rPr lang="en-US" altLang="zh-CN" sz="2600" dirty="0" err="1">
                <a:solidFill>
                  <a:srgbClr val="000000"/>
                </a:solidFill>
              </a:rPr>
              <a:t>RatingCompare</a:t>
            </a:r>
            <a:r>
              <a:rPr lang="en-US" altLang="zh-CN" sz="2600" dirty="0">
                <a:solidFill>
                  <a:srgbClr val="000000"/>
                </a:solidFill>
              </a:rPr>
              <a:t> </a:t>
            </a:r>
            <a:r>
              <a:rPr lang="en-US" altLang="zh-CN" sz="2600" dirty="0" err="1">
                <a:solidFill>
                  <a:srgbClr val="000000"/>
                </a:solidFill>
              </a:rPr>
              <a:t>ratingCompare</a:t>
            </a:r>
            <a:r>
              <a:rPr lang="en-US" altLang="zh-CN" sz="2600" dirty="0">
                <a:solidFill>
                  <a:srgbClr val="000000"/>
                </a:solidFill>
              </a:rPr>
              <a:t> = </a:t>
            </a:r>
            <a:r>
              <a:rPr lang="en-US" altLang="zh-CN" sz="2600" b="1" dirty="0">
                <a:solidFill>
                  <a:srgbClr val="2239A8"/>
                </a:solidFill>
              </a:rPr>
              <a:t>new</a:t>
            </a:r>
            <a:r>
              <a:rPr lang="en-US" altLang="zh-CN" sz="2600" dirty="0">
                <a:solidFill>
                  <a:srgbClr val="2239A8"/>
                </a:solidFill>
              </a:rPr>
              <a:t> </a:t>
            </a:r>
            <a:r>
              <a:rPr lang="en-US" altLang="zh-CN" sz="2600" dirty="0" err="1">
                <a:solidFill>
                  <a:srgbClr val="A8227B"/>
                </a:solidFill>
              </a:rPr>
              <a:t>RatingCompare</a:t>
            </a:r>
            <a:r>
              <a:rPr lang="en-US" altLang="zh-CN" sz="2600" dirty="0">
                <a:solidFill>
                  <a:srgbClr val="000000"/>
                </a:solidFill>
              </a:rPr>
              <a:t>(); </a:t>
            </a:r>
          </a:p>
          <a:p>
            <a:pPr marL="0" indent="0">
              <a:buNone/>
            </a:pPr>
            <a:endParaRPr lang="en-US" altLang="zh-CN" sz="2600" dirty="0">
              <a:solidFill>
                <a:srgbClr val="000000"/>
              </a:solidFill>
            </a:endParaRPr>
          </a:p>
          <a:p>
            <a:pPr marL="0" indent="0">
              <a:buNone/>
            </a:pPr>
            <a:endParaRPr lang="en-US" altLang="zh-CN" sz="2600" dirty="0">
              <a:solidFill>
                <a:srgbClr val="000000"/>
              </a:solidFill>
            </a:endParaRPr>
          </a:p>
          <a:p>
            <a:r>
              <a:rPr lang="en-US" altLang="zh-CN" sz="2900" dirty="0">
                <a:solidFill>
                  <a:srgbClr val="000000"/>
                </a:solidFill>
              </a:rPr>
              <a:t>3. Using this object as an argument of the sort()</a:t>
            </a:r>
            <a:r>
              <a:rPr lang="zh-CN" altLang="en-US" sz="2900" dirty="0">
                <a:solidFill>
                  <a:srgbClr val="000000"/>
                </a:solidFill>
              </a:rPr>
              <a:t> </a:t>
            </a:r>
            <a:r>
              <a:rPr lang="en-US" altLang="zh-CN" sz="2900" dirty="0">
                <a:solidFill>
                  <a:srgbClr val="000000"/>
                </a:solidFill>
              </a:rPr>
              <a:t>method of </a:t>
            </a:r>
            <a:r>
              <a:rPr lang="en-US" altLang="zh-CN" sz="2900" dirty="0" err="1">
                <a:solidFill>
                  <a:srgbClr val="000000"/>
                </a:solidFill>
              </a:rPr>
              <a:t>ArrayList</a:t>
            </a:r>
            <a:endParaRPr lang="en-US" altLang="zh-CN" sz="2900" dirty="0">
              <a:solidFill>
                <a:srgbClr val="000000"/>
              </a:solidFill>
            </a:endParaRPr>
          </a:p>
          <a:p>
            <a:endParaRPr lang="en-US" altLang="zh-CN" sz="2900" dirty="0">
              <a:solidFill>
                <a:srgbClr val="000000"/>
              </a:solidFill>
            </a:endParaRPr>
          </a:p>
          <a:p>
            <a:pPr marL="0" indent="0">
              <a:buNone/>
            </a:pPr>
            <a:r>
              <a:rPr lang="en-US" altLang="zh-CN" sz="2600" dirty="0" err="1">
                <a:solidFill>
                  <a:srgbClr val="000000"/>
                </a:solidFill>
              </a:rPr>
              <a:t>list.</a:t>
            </a:r>
            <a:r>
              <a:rPr lang="en-US" altLang="zh-CN" sz="2600" dirty="0" err="1">
                <a:solidFill>
                  <a:srgbClr val="A8227B"/>
                </a:solidFill>
              </a:rPr>
              <a:t>sort</a:t>
            </a:r>
            <a:r>
              <a:rPr lang="en-US" altLang="zh-CN" sz="2600" dirty="0">
                <a:solidFill>
                  <a:srgbClr val="000000"/>
                </a:solidFill>
              </a:rPr>
              <a:t>(</a:t>
            </a:r>
            <a:r>
              <a:rPr lang="en-US" altLang="zh-CN" sz="2600" dirty="0" err="1">
                <a:solidFill>
                  <a:srgbClr val="000000"/>
                </a:solidFill>
              </a:rPr>
              <a:t>ratingCompare</a:t>
            </a:r>
            <a:r>
              <a:rPr lang="en-US" altLang="zh-CN" sz="2600" dirty="0">
                <a:solidFill>
                  <a:srgbClr val="000000"/>
                </a:solidFill>
              </a:rPr>
              <a:t>); </a:t>
            </a:r>
          </a:p>
          <a:p>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pPr marL="457200" indent="-457200">
              <a:buAutoNum type="arabicPeriod"/>
            </a:pPr>
            <a:endParaRPr lang="en-US" altLang="zh-CN" sz="2000" dirty="0">
              <a:solidFill>
                <a:srgbClr val="000000"/>
              </a:solidFill>
            </a:endParaRPr>
          </a:p>
          <a:p>
            <a:endParaRPr lang="en-US" altLang="zh-CN" sz="2800" dirty="0">
              <a:solidFill>
                <a:srgbClr val="000000"/>
              </a:solidFill>
            </a:endParaRPr>
          </a:p>
          <a:p>
            <a:endParaRPr lang="zh-CN" altLang="en-US" dirty="0"/>
          </a:p>
        </p:txBody>
      </p:sp>
      <p:sp>
        <p:nvSpPr>
          <p:cNvPr id="3" name="标题 2">
            <a:extLst>
              <a:ext uri="{FF2B5EF4-FFF2-40B4-BE49-F238E27FC236}">
                <a16:creationId xmlns:a16="http://schemas.microsoft.com/office/drawing/2014/main" id="{A3F7C3B1-ECAA-4F79-9DEF-4C1CCFF6124A}"/>
              </a:ext>
            </a:extLst>
          </p:cNvPr>
          <p:cNvSpPr>
            <a:spLocks noGrp="1"/>
          </p:cNvSpPr>
          <p:nvPr>
            <p:ph type="title"/>
          </p:nvPr>
        </p:nvSpPr>
        <p:spPr/>
        <p:txBody>
          <a:bodyPr/>
          <a:lstStyle/>
          <a:p>
            <a:r>
              <a:rPr lang="en-US" altLang="zh-CN" dirty="0"/>
              <a:t>Java 8 – Anonymous Comparators</a:t>
            </a:r>
            <a:endParaRPr lang="zh-CN" altLang="en-US" dirty="0"/>
          </a:p>
        </p:txBody>
      </p:sp>
      <p:sp>
        <p:nvSpPr>
          <p:cNvPr id="4" name="日期占位符 3">
            <a:extLst>
              <a:ext uri="{FF2B5EF4-FFF2-40B4-BE49-F238E27FC236}">
                <a16:creationId xmlns:a16="http://schemas.microsoft.com/office/drawing/2014/main" id="{2A5BF7F0-655F-43A3-9BB9-890C8D86B464}"/>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AB477C9D-4213-4B67-A297-73A2F3C9EFF1}"/>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06534984-1EC1-479D-B725-3FB8C90D69BD}"/>
              </a:ext>
            </a:extLst>
          </p:cNvPr>
          <p:cNvSpPr>
            <a:spLocks noGrp="1"/>
          </p:cNvSpPr>
          <p:nvPr>
            <p:ph type="sldNum" sz="quarter" idx="4"/>
          </p:nvPr>
        </p:nvSpPr>
        <p:spPr/>
        <p:txBody>
          <a:bodyPr/>
          <a:lstStyle/>
          <a:p>
            <a:fld id="{19B12225-5612-419B-A8D5-4B8EEE4C217E}" type="slidenum">
              <a:rPr lang="en-US" smtClean="0"/>
              <a:pPr/>
              <a:t>15</a:t>
            </a:fld>
            <a:endParaRPr lang="en-US" dirty="0"/>
          </a:p>
        </p:txBody>
      </p:sp>
    </p:spTree>
    <p:extLst>
      <p:ext uri="{BB962C8B-B14F-4D97-AF65-F5344CB8AC3E}">
        <p14:creationId xmlns:p14="http://schemas.microsoft.com/office/powerpoint/2010/main" val="165198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a:extLst>
              <a:ext uri="{FF2B5EF4-FFF2-40B4-BE49-F238E27FC236}">
                <a16:creationId xmlns:a16="http://schemas.microsoft.com/office/drawing/2014/main" id="{1E88EA53-F629-44A5-80E0-EE2325FAC2BF}"/>
              </a:ext>
            </a:extLst>
          </p:cNvPr>
          <p:cNvSpPr>
            <a:spLocks noGrp="1" noChangeArrowheads="1"/>
          </p:cNvSpPr>
          <p:nvPr>
            <p:ph type="title"/>
          </p:nvPr>
        </p:nvSpPr>
        <p:spPr/>
        <p:txBody>
          <a:bodyPr/>
          <a:lstStyle/>
          <a:p>
            <a:r>
              <a:rPr lang="en-US" altLang="zh-CN" dirty="0"/>
              <a:t>Sorting using One Key</a:t>
            </a:r>
            <a:endParaRPr lang="zh-CN" altLang="en-US" dirty="0"/>
          </a:p>
        </p:txBody>
      </p:sp>
      <p:sp>
        <p:nvSpPr>
          <p:cNvPr id="3" name="内容占位符 2">
            <a:extLst>
              <a:ext uri="{FF2B5EF4-FFF2-40B4-BE49-F238E27FC236}">
                <a16:creationId xmlns:a16="http://schemas.microsoft.com/office/drawing/2014/main" id="{3F0C3DA9-9C29-48B7-959B-27FD8E1261BA}"/>
              </a:ext>
            </a:extLst>
          </p:cNvPr>
          <p:cNvSpPr>
            <a:spLocks noGrp="1"/>
          </p:cNvSpPr>
          <p:nvPr>
            <p:ph idx="1"/>
          </p:nvPr>
        </p:nvSpPr>
        <p:spPr/>
        <p:txBody>
          <a:bodyPr/>
          <a:lstStyle/>
          <a:p>
            <a:r>
              <a:rPr lang="en-US" altLang="zh-CN" dirty="0"/>
              <a:t>Method Reference</a:t>
            </a:r>
          </a:p>
          <a:p>
            <a:pPr lvl="1"/>
            <a:r>
              <a:rPr lang="en-US" altLang="zh-CN" dirty="0" err="1"/>
              <a:t>ClassName</a:t>
            </a:r>
            <a:r>
              <a:rPr lang="en-US" altLang="zh-CN" dirty="0"/>
              <a:t>::</a:t>
            </a:r>
            <a:r>
              <a:rPr lang="en-US" altLang="zh-CN" dirty="0" err="1"/>
              <a:t>methodName</a:t>
            </a:r>
            <a:endParaRPr lang="en-US" altLang="zh-CN" dirty="0"/>
          </a:p>
          <a:p>
            <a:endParaRPr lang="en-US" altLang="zh-CN" dirty="0"/>
          </a:p>
          <a:p>
            <a:r>
              <a:rPr lang="en-US" altLang="zh-CN" dirty="0"/>
              <a:t>Using method reference as arguments</a:t>
            </a:r>
          </a:p>
          <a:p>
            <a:pPr lvl="1"/>
            <a:r>
              <a:rPr lang="en-US" altLang="zh-CN" dirty="0" err="1"/>
              <a:t>Comparator.comparing</a:t>
            </a:r>
            <a:r>
              <a:rPr lang="en-US" altLang="zh-CN" dirty="0"/>
              <a:t>(</a:t>
            </a:r>
            <a:r>
              <a:rPr lang="en-US" altLang="zh-CN" dirty="0" err="1"/>
              <a:t>ClassName</a:t>
            </a:r>
            <a:r>
              <a:rPr lang="en-US" altLang="zh-CN" dirty="0"/>
              <a:t>::</a:t>
            </a:r>
            <a:r>
              <a:rPr lang="en-US" altLang="zh-CN" dirty="0" err="1"/>
              <a:t>methodName</a:t>
            </a:r>
            <a:r>
              <a:rPr lang="en-US" altLang="zh-CN" dirty="0"/>
              <a:t>)</a:t>
            </a:r>
          </a:p>
          <a:p>
            <a:pPr algn="just">
              <a:buFontTx/>
              <a:buNone/>
            </a:pPr>
            <a:endPar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endParaRPr>
          </a:p>
          <a:p>
            <a:pPr algn="just">
              <a:buNone/>
            </a:pPr>
            <a:r>
              <a:rPr lang="en-US" altLang="zh-CN" sz="1800" dirty="0" err="1">
                <a:solidFill>
                  <a:srgbClr val="000000"/>
                </a:solidFill>
                <a:ea typeface="等线" panose="02010600030101010101" pitchFamily="2" charset="-122"/>
                <a:cs typeface="Consolas" panose="020B0609020204030204" pitchFamily="49" charset="0"/>
              </a:rPr>
              <a:t>list.</a:t>
            </a:r>
            <a:r>
              <a:rPr lang="en-US" altLang="zh-CN" sz="1800" i="1" dirty="0" err="1">
                <a:solidFill>
                  <a:srgbClr val="000000"/>
                </a:solidFill>
                <a:ea typeface="等线" panose="02010600030101010101" pitchFamily="2" charset="-122"/>
                <a:cs typeface="Consolas" panose="020B0609020204030204" pitchFamily="49" charset="0"/>
              </a:rPr>
              <a:t>sort</a:t>
            </a:r>
            <a:r>
              <a:rPr lang="en-US" altLang="zh-CN" sz="1800" dirty="0">
                <a:solidFill>
                  <a:srgbClr val="000000"/>
                </a:solidFill>
                <a:ea typeface="等线" panose="02010600030101010101" pitchFamily="2" charset="-122"/>
                <a:cs typeface="Consolas" panose="020B0609020204030204" pitchFamily="49" charset="0"/>
              </a:rPr>
              <a:t>(</a:t>
            </a:r>
            <a:r>
              <a:rPr lang="en-US" altLang="zh-CN" sz="1800" dirty="0" err="1">
                <a:solidFill>
                  <a:srgbClr val="000000"/>
                </a:solidFill>
                <a:ea typeface="等线" panose="02010600030101010101" pitchFamily="2" charset="-122"/>
                <a:cs typeface="Consolas" panose="020B0609020204030204" pitchFamily="49" charset="0"/>
              </a:rPr>
              <a:t>Comparator.</a:t>
            </a:r>
            <a:r>
              <a:rPr lang="en-US" altLang="zh-CN" sz="1800" i="1" dirty="0" err="1">
                <a:solidFill>
                  <a:srgbClr val="000000"/>
                </a:solidFill>
                <a:ea typeface="等线" panose="02010600030101010101" pitchFamily="2" charset="-122"/>
                <a:cs typeface="Consolas" panose="020B0609020204030204" pitchFamily="49" charset="0"/>
              </a:rPr>
              <a:t>comparing</a:t>
            </a:r>
            <a:r>
              <a:rPr lang="en-US" altLang="zh-CN" sz="1800" dirty="0">
                <a:solidFill>
                  <a:srgbClr val="000000"/>
                </a:solidFill>
                <a:ea typeface="等线" panose="02010600030101010101" pitchFamily="2" charset="-122"/>
                <a:cs typeface="Consolas" panose="020B0609020204030204" pitchFamily="49" charset="0"/>
              </a:rPr>
              <a:t>(Movie::</a:t>
            </a:r>
            <a:r>
              <a:rPr lang="en-US" altLang="zh-CN" sz="1800" dirty="0" err="1">
                <a:solidFill>
                  <a:srgbClr val="000000"/>
                </a:solidFill>
                <a:ea typeface="等线" panose="02010600030101010101" pitchFamily="2" charset="-122"/>
                <a:cs typeface="Consolas" panose="020B0609020204030204" pitchFamily="49" charset="0"/>
              </a:rPr>
              <a:t>getRating</a:t>
            </a:r>
            <a:r>
              <a:rPr lang="en-US" altLang="zh-CN" sz="1800" dirty="0">
                <a:solidFill>
                  <a:srgbClr val="000000"/>
                </a:solidFill>
                <a:ea typeface="等线" panose="02010600030101010101" pitchFamily="2" charset="-122"/>
                <a:cs typeface="Consolas" panose="020B0609020204030204" pitchFamily="49" charset="0"/>
              </a:rPr>
              <a:t>));</a:t>
            </a:r>
          </a:p>
          <a:p>
            <a:pPr algn="just">
              <a:buFontTx/>
              <a:buNone/>
            </a:pPr>
            <a:endPar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endParaRPr>
          </a:p>
          <a:p>
            <a:pPr algn="just">
              <a:buFontTx/>
              <a:buNone/>
            </a:pPr>
            <a:r>
              <a:rPr lang="en-US" altLang="zh-CN" sz="1800" dirty="0" err="1">
                <a:solidFill>
                  <a:srgbClr val="000000"/>
                </a:solidFill>
                <a:latin typeface="Consolas" panose="020B0609020204030204" pitchFamily="49" charset="0"/>
                <a:ea typeface="等线" panose="02010600030101010101" pitchFamily="2" charset="-122"/>
                <a:cs typeface="Consolas" panose="020B0609020204030204" pitchFamily="49" charset="0"/>
              </a:rPr>
              <a:t>list.</a:t>
            </a:r>
            <a:r>
              <a:rPr lang="en-US" altLang="zh-CN" sz="1800" i="1" dirty="0" err="1">
                <a:solidFill>
                  <a:srgbClr val="000000"/>
                </a:solidFill>
                <a:latin typeface="Consolas" panose="020B0609020204030204" pitchFamily="49" charset="0"/>
                <a:ea typeface="等线" panose="02010600030101010101" pitchFamily="2" charset="-122"/>
                <a:cs typeface="Consolas" panose="020B0609020204030204" pitchFamily="49" charset="0"/>
              </a:rPr>
              <a:t>sort</a:t>
            </a:r>
            <a:r>
              <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rPr>
              <a:t>(</a:t>
            </a:r>
            <a:r>
              <a:rPr lang="en-US" altLang="zh-CN" sz="1800" dirty="0" err="1">
                <a:solidFill>
                  <a:srgbClr val="000000"/>
                </a:solidFill>
                <a:latin typeface="Consolas" panose="020B0609020204030204" pitchFamily="49" charset="0"/>
                <a:ea typeface="等线" panose="02010600030101010101" pitchFamily="2" charset="-122"/>
                <a:cs typeface="Consolas" panose="020B0609020204030204" pitchFamily="49" charset="0"/>
              </a:rPr>
              <a:t>Comparator.</a:t>
            </a:r>
            <a:r>
              <a:rPr lang="en-US" altLang="zh-CN" sz="1800" i="1" dirty="0" err="1">
                <a:solidFill>
                  <a:srgbClr val="000000"/>
                </a:solidFill>
                <a:latin typeface="Consolas" panose="020B0609020204030204" pitchFamily="49" charset="0"/>
                <a:ea typeface="等线" panose="02010600030101010101" pitchFamily="2" charset="-122"/>
                <a:cs typeface="Consolas" panose="020B0609020204030204" pitchFamily="49" charset="0"/>
              </a:rPr>
              <a:t>comparing</a:t>
            </a:r>
            <a:r>
              <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rPr>
              <a:t>(Movie::</a:t>
            </a:r>
            <a:r>
              <a:rPr lang="en-US" altLang="zh-CN" sz="1800" dirty="0" err="1">
                <a:solidFill>
                  <a:srgbClr val="000000"/>
                </a:solidFill>
                <a:latin typeface="Consolas" panose="020B0609020204030204" pitchFamily="49" charset="0"/>
                <a:ea typeface="等线" panose="02010600030101010101" pitchFamily="2" charset="-122"/>
                <a:cs typeface="Consolas" panose="020B0609020204030204" pitchFamily="49" charset="0"/>
              </a:rPr>
              <a:t>getName</a:t>
            </a:r>
            <a:r>
              <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rPr>
              <a:t>));</a:t>
            </a:r>
          </a:p>
          <a:p>
            <a:endParaRPr lang="en-US" altLang="zh-CN" dirty="0"/>
          </a:p>
          <a:p>
            <a:r>
              <a:rPr lang="en-US" altLang="zh-CN" dirty="0" err="1">
                <a:solidFill>
                  <a:srgbClr val="000000"/>
                </a:solidFill>
                <a:ea typeface="等线" panose="02010600030101010101" pitchFamily="2" charset="-122"/>
                <a:cs typeface="Consolas" panose="020B0609020204030204" pitchFamily="49" charset="0"/>
              </a:rPr>
              <a:t>Arrays.</a:t>
            </a:r>
            <a:r>
              <a:rPr lang="en-US" altLang="zh-CN" i="1" dirty="0" err="1">
                <a:solidFill>
                  <a:srgbClr val="000000"/>
                </a:solidFill>
                <a:ea typeface="等线" panose="02010600030101010101" pitchFamily="2" charset="-122"/>
                <a:cs typeface="Consolas" panose="020B0609020204030204" pitchFamily="49" charset="0"/>
              </a:rPr>
              <a:t>sort</a:t>
            </a:r>
            <a:r>
              <a:rPr lang="en-US" altLang="zh-CN" dirty="0">
                <a:solidFill>
                  <a:srgbClr val="000000"/>
                </a:solidFill>
                <a:ea typeface="等线" panose="02010600030101010101" pitchFamily="2" charset="-122"/>
                <a:cs typeface="Consolas" panose="020B0609020204030204" pitchFamily="49" charset="0"/>
              </a:rPr>
              <a:t>(</a:t>
            </a:r>
            <a:r>
              <a:rPr lang="en-US" altLang="zh-CN" dirty="0">
                <a:solidFill>
                  <a:srgbClr val="6A3E3E"/>
                </a:solidFill>
                <a:ea typeface="等线" panose="02010600030101010101" pitchFamily="2" charset="-122"/>
                <a:cs typeface="Consolas" panose="020B0609020204030204" pitchFamily="49" charset="0"/>
              </a:rPr>
              <a:t>list</a:t>
            </a:r>
            <a:r>
              <a:rPr lang="en-US" altLang="zh-CN" dirty="0">
                <a:solidFill>
                  <a:srgbClr val="000000"/>
                </a:solidFill>
                <a:ea typeface="等线" panose="02010600030101010101" pitchFamily="2" charset="-122"/>
                <a:cs typeface="Consolas" panose="020B0609020204030204" pitchFamily="49" charset="0"/>
              </a:rPr>
              <a:t>, </a:t>
            </a:r>
            <a:r>
              <a:rPr lang="en-US" altLang="zh-CN" dirty="0" err="1">
                <a:solidFill>
                  <a:srgbClr val="000000"/>
                </a:solidFill>
                <a:ea typeface="等线" panose="02010600030101010101" pitchFamily="2" charset="-122"/>
                <a:cs typeface="Consolas" panose="020B0609020204030204" pitchFamily="49" charset="0"/>
              </a:rPr>
              <a:t>Comparator.</a:t>
            </a:r>
            <a:r>
              <a:rPr lang="en-US" altLang="zh-CN" i="1" dirty="0" err="1">
                <a:solidFill>
                  <a:srgbClr val="000000"/>
                </a:solidFill>
                <a:ea typeface="等线" panose="02010600030101010101" pitchFamily="2" charset="-122"/>
                <a:cs typeface="Consolas" panose="020B0609020204030204" pitchFamily="49" charset="0"/>
              </a:rPr>
              <a:t>comparing</a:t>
            </a:r>
            <a:r>
              <a:rPr lang="en-US" altLang="zh-CN" dirty="0">
                <a:solidFill>
                  <a:srgbClr val="000000"/>
                </a:solidFill>
                <a:ea typeface="等线" panose="02010600030101010101" pitchFamily="2" charset="-122"/>
                <a:cs typeface="Consolas" panose="020B0609020204030204" pitchFamily="49" charset="0"/>
              </a:rPr>
              <a:t>(Movie::</a:t>
            </a:r>
            <a:r>
              <a:rPr lang="en-US" altLang="zh-CN" dirty="0" err="1">
                <a:solidFill>
                  <a:srgbClr val="000000"/>
                </a:solidFill>
                <a:ea typeface="等线" panose="02010600030101010101" pitchFamily="2" charset="-122"/>
                <a:cs typeface="Consolas" panose="020B0609020204030204" pitchFamily="49" charset="0"/>
              </a:rPr>
              <a:t>getRating</a:t>
            </a:r>
            <a:r>
              <a:rPr lang="en-US" altLang="zh-CN" dirty="0">
                <a:solidFill>
                  <a:srgbClr val="000000"/>
                </a:solidFill>
                <a:ea typeface="等线" panose="02010600030101010101" pitchFamily="2" charset="-122"/>
                <a:cs typeface="Consolas" panose="020B0609020204030204" pitchFamily="49" charset="0"/>
              </a:rPr>
              <a:t>));</a:t>
            </a:r>
          </a:p>
          <a:p>
            <a:endParaRPr lang="en-US" altLang="zh-CN" dirty="0"/>
          </a:p>
          <a:p>
            <a:r>
              <a:rPr lang="en-US" altLang="zh-CN" dirty="0"/>
              <a:t>Example: </a:t>
            </a:r>
            <a:r>
              <a:rPr lang="en-US" altLang="zh-CN" dirty="0" err="1"/>
              <a:t>demofunctionalcomparator</a:t>
            </a:r>
            <a:r>
              <a:rPr lang="en-US" altLang="zh-CN" dirty="0"/>
              <a:t>. </a:t>
            </a:r>
            <a:r>
              <a:rPr lang="en-US" altLang="zh-CN" dirty="0" err="1"/>
              <a:t>MovieListComparartorSortApp</a:t>
            </a:r>
            <a:endParaRPr lang="zh-CN" altLang="en-US" dirty="0"/>
          </a:p>
        </p:txBody>
      </p:sp>
    </p:spTree>
    <p:extLst>
      <p:ext uri="{BB962C8B-B14F-4D97-AF65-F5344CB8AC3E}">
        <p14:creationId xmlns:p14="http://schemas.microsoft.com/office/powerpoint/2010/main" val="1662090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5CA3F630-138C-4710-86A6-059AB77CB277}"/>
              </a:ext>
            </a:extLst>
          </p:cNvPr>
          <p:cNvSpPr>
            <a:spLocks noGrp="1" noChangeArrowheads="1"/>
          </p:cNvSpPr>
          <p:nvPr>
            <p:ph type="title"/>
          </p:nvPr>
        </p:nvSpPr>
        <p:spPr/>
        <p:txBody>
          <a:bodyPr/>
          <a:lstStyle/>
          <a:p>
            <a:r>
              <a:rPr lang="en-US" altLang="zh-CN" dirty="0"/>
              <a:t>The Comparator Interface</a:t>
            </a:r>
            <a:endParaRPr lang="zh-CN" altLang="en-US" dirty="0"/>
          </a:p>
        </p:txBody>
      </p:sp>
      <p:sp>
        <p:nvSpPr>
          <p:cNvPr id="86019" name="内容占位符 2">
            <a:extLst>
              <a:ext uri="{FF2B5EF4-FFF2-40B4-BE49-F238E27FC236}">
                <a16:creationId xmlns:a16="http://schemas.microsoft.com/office/drawing/2014/main" id="{E2261557-B305-4E49-954F-EF1E3CE95FDE}"/>
              </a:ext>
            </a:extLst>
          </p:cNvPr>
          <p:cNvSpPr>
            <a:spLocks noGrp="1" noChangeArrowheads="1"/>
          </p:cNvSpPr>
          <p:nvPr>
            <p:ph idx="1"/>
          </p:nvPr>
        </p:nvSpPr>
        <p:spPr/>
        <p:txBody>
          <a:bodyPr>
            <a:normAutofit/>
          </a:bodyPr>
          <a:lstStyle/>
          <a:p>
            <a:pPr marL="216000" lvl="1" indent="0">
              <a:buClr>
                <a:srgbClr val="60B5CC"/>
              </a:buClr>
              <a:buNone/>
            </a:pPr>
            <a:r>
              <a:rPr lang="en-US" altLang="zh-CN" b="1" dirty="0">
                <a:solidFill>
                  <a:srgbClr val="A89222"/>
                </a:solidFill>
              </a:rPr>
              <a:t>@</a:t>
            </a:r>
            <a:r>
              <a:rPr lang="en-US" altLang="zh-CN" b="1" dirty="0" err="1">
                <a:solidFill>
                  <a:srgbClr val="A89222"/>
                </a:solidFill>
              </a:rPr>
              <a:t>FunctionalInterface</a:t>
            </a:r>
            <a:endParaRPr lang="en-US" altLang="zh-CN" dirty="0">
              <a:solidFill>
                <a:prstClr val="black"/>
              </a:solidFill>
            </a:endParaRPr>
          </a:p>
          <a:p>
            <a:pPr marL="324000" lvl="1" indent="0">
              <a:buClr>
                <a:srgbClr val="F0AD00"/>
              </a:buClr>
              <a:buNone/>
            </a:pPr>
            <a:r>
              <a:rPr lang="en-US" altLang="zh-CN" b="1" dirty="0">
                <a:solidFill>
                  <a:srgbClr val="2239A8"/>
                </a:solidFill>
              </a:rPr>
              <a:t>public interface</a:t>
            </a:r>
            <a:r>
              <a:rPr lang="en-US" altLang="zh-CN" dirty="0">
                <a:solidFill>
                  <a:srgbClr val="2239A8"/>
                </a:solidFill>
              </a:rPr>
              <a:t> </a:t>
            </a:r>
            <a:r>
              <a:rPr lang="en-US" altLang="zh-CN" dirty="0">
                <a:solidFill>
                  <a:srgbClr val="000000"/>
                </a:solidFill>
              </a:rPr>
              <a:t>Comparator&lt;T&gt; {</a:t>
            </a:r>
          </a:p>
          <a:p>
            <a:pPr marL="324000" lvl="1" indent="0">
              <a:buClr>
                <a:srgbClr val="F0AD00"/>
              </a:buClr>
              <a:buNone/>
            </a:pPr>
            <a:r>
              <a:rPr lang="zh-CN" altLang="en-US" dirty="0">
                <a:solidFill>
                  <a:prstClr val="black"/>
                </a:solidFill>
              </a:rPr>
              <a:t> </a:t>
            </a:r>
            <a:r>
              <a:rPr lang="fr-FR" altLang="zh-CN" dirty="0">
                <a:solidFill>
                  <a:prstClr val="black"/>
                </a:solidFill>
              </a:rPr>
              <a:t>   </a:t>
            </a:r>
            <a:r>
              <a:rPr lang="fr-FR" altLang="zh-CN" b="1" dirty="0">
                <a:solidFill>
                  <a:srgbClr val="2239A8"/>
                </a:solidFill>
              </a:rPr>
              <a:t>int</a:t>
            </a:r>
            <a:r>
              <a:rPr lang="fr-FR" altLang="zh-CN" dirty="0">
                <a:solidFill>
                  <a:srgbClr val="2239A8"/>
                </a:solidFill>
              </a:rPr>
              <a:t> </a:t>
            </a:r>
            <a:r>
              <a:rPr lang="fr-FR" altLang="zh-CN" dirty="0">
                <a:solidFill>
                  <a:srgbClr val="A8227B"/>
                </a:solidFill>
              </a:rPr>
              <a:t>compare</a:t>
            </a:r>
            <a:r>
              <a:rPr lang="fr-FR" altLang="zh-CN" dirty="0">
                <a:solidFill>
                  <a:srgbClr val="000000"/>
                </a:solidFill>
              </a:rPr>
              <a:t>(T o1, T o2);</a:t>
            </a:r>
          </a:p>
          <a:p>
            <a:pPr marL="324000" lvl="1" indent="0">
              <a:buClr>
                <a:srgbClr val="F0AD00"/>
              </a:buClr>
              <a:buNone/>
            </a:pPr>
            <a:r>
              <a:rPr lang="en-US" altLang="zh-CN" dirty="0">
                <a:solidFill>
                  <a:srgbClr val="000000"/>
                </a:solidFill>
              </a:rPr>
              <a:t>}</a:t>
            </a:r>
          </a:p>
          <a:p>
            <a:endParaRPr lang="en-US" altLang="zh-CN" dirty="0">
              <a:solidFill>
                <a:srgbClr val="000000"/>
              </a:solidFill>
            </a:endParaRPr>
          </a:p>
          <a:p>
            <a:r>
              <a:rPr lang="en-US" altLang="zh-CN" dirty="0">
                <a:solidFill>
                  <a:srgbClr val="000000"/>
                </a:solidFill>
              </a:rPr>
              <a:t>Comparator</a:t>
            </a:r>
            <a:r>
              <a:rPr lang="zh-CN" altLang="en-US" dirty="0">
                <a:solidFill>
                  <a:srgbClr val="000000"/>
                </a:solidFill>
              </a:rPr>
              <a:t> </a:t>
            </a:r>
            <a:r>
              <a:rPr lang="en-US" altLang="zh-CN" dirty="0">
                <a:solidFill>
                  <a:srgbClr val="000000"/>
                </a:solidFill>
              </a:rPr>
              <a:t>is an Interface</a:t>
            </a:r>
          </a:p>
          <a:p>
            <a:pPr lvl="1"/>
            <a:r>
              <a:rPr lang="en-US" altLang="zh-CN" dirty="0">
                <a:solidFill>
                  <a:srgbClr val="000000"/>
                </a:solidFill>
                <a:latin typeface="Consolas" panose="020B0609020204030204" pitchFamily="49" charset="0"/>
              </a:rPr>
              <a:t>An anonymous object can be created from an interface</a:t>
            </a:r>
          </a:p>
          <a:p>
            <a:endParaRPr lang="en-US" altLang="zh-CN" dirty="0">
              <a:solidFill>
                <a:srgbClr val="000000"/>
              </a:solidFill>
              <a:latin typeface="Consolas" panose="020B0609020204030204" pitchFamily="49" charset="0"/>
            </a:endParaRPr>
          </a:p>
          <a:p>
            <a:r>
              <a:rPr lang="en-US" altLang="zh-CN" dirty="0">
                <a:solidFill>
                  <a:srgbClr val="000000"/>
                </a:solidFill>
              </a:rPr>
              <a:t>Comparator</a:t>
            </a:r>
            <a:r>
              <a:rPr lang="zh-CN" altLang="en-US" dirty="0">
                <a:solidFill>
                  <a:srgbClr val="000000"/>
                </a:solidFill>
              </a:rPr>
              <a:t> </a:t>
            </a:r>
            <a:r>
              <a:rPr lang="en-US" altLang="zh-CN" dirty="0">
                <a:solidFill>
                  <a:srgbClr val="000000"/>
                </a:solidFill>
              </a:rPr>
              <a:t>is a Functional Interface</a:t>
            </a:r>
          </a:p>
          <a:p>
            <a:pPr lvl="1"/>
            <a:r>
              <a:rPr lang="en-US" altLang="zh-CN" dirty="0">
                <a:solidFill>
                  <a:srgbClr val="000000"/>
                </a:solidFill>
                <a:latin typeface="Consolas" panose="020B0609020204030204" pitchFamily="49" charset="0"/>
              </a:rPr>
              <a:t>Only one abstract method</a:t>
            </a:r>
          </a:p>
          <a:p>
            <a:pPr lvl="1"/>
            <a:r>
              <a:rPr lang="en-US" altLang="zh-CN" dirty="0">
                <a:solidFill>
                  <a:srgbClr val="000000"/>
                </a:solidFill>
              </a:rPr>
              <a:t>Can be described as a Method Reference or Lambda function</a:t>
            </a:r>
            <a:endParaRPr lang="en-US" altLang="zh-CN" sz="2000" dirty="0">
              <a:solidFill>
                <a:srgbClr val="000000"/>
              </a:solidFill>
              <a:latin typeface="Consolas" panose="020B0609020204030204" pitchFamily="49" charset="0"/>
            </a:endParaRPr>
          </a:p>
          <a:p>
            <a:endParaRPr lang="en-US" altLang="zh-CN"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769848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D8CBEF3A-C769-46C1-B156-3B4D670B0DD9}"/>
              </a:ext>
            </a:extLst>
          </p:cNvPr>
          <p:cNvSpPr>
            <a:spLocks noGrp="1" noChangeArrowheads="1"/>
          </p:cNvSpPr>
          <p:nvPr>
            <p:ph type="title"/>
          </p:nvPr>
        </p:nvSpPr>
        <p:spPr/>
        <p:txBody>
          <a:bodyPr/>
          <a:lstStyle/>
          <a:p>
            <a:r>
              <a:rPr lang="en-US" altLang="zh-CN" dirty="0"/>
              <a:t>Comparator using Method Reference</a:t>
            </a:r>
            <a:endParaRPr lang="zh-CN" altLang="en-US" dirty="0"/>
          </a:p>
        </p:txBody>
      </p:sp>
      <p:sp>
        <p:nvSpPr>
          <p:cNvPr id="3" name="内容占位符 2">
            <a:extLst>
              <a:ext uri="{FF2B5EF4-FFF2-40B4-BE49-F238E27FC236}">
                <a16:creationId xmlns:a16="http://schemas.microsoft.com/office/drawing/2014/main" id="{AD79F53B-C380-4921-814F-E3380B2D16A3}"/>
              </a:ext>
            </a:extLst>
          </p:cNvPr>
          <p:cNvSpPr>
            <a:spLocks noGrp="1"/>
          </p:cNvSpPr>
          <p:nvPr>
            <p:ph idx="1"/>
          </p:nvPr>
        </p:nvSpPr>
        <p:spPr/>
        <p:txBody>
          <a:bodyPr>
            <a:normAutofit fontScale="70000" lnSpcReduction="20000"/>
          </a:bodyPr>
          <a:lstStyle/>
          <a:p>
            <a:r>
              <a:rPr lang="en-US" altLang="zh-CN" dirty="0"/>
              <a:t>Method</a:t>
            </a:r>
            <a:r>
              <a:rPr lang="zh-CN" altLang="en-US" dirty="0"/>
              <a:t> </a:t>
            </a:r>
            <a:r>
              <a:rPr lang="en-US" altLang="zh-CN" dirty="0"/>
              <a:t>Reference</a:t>
            </a:r>
          </a:p>
          <a:p>
            <a:pPr lvl="1"/>
            <a:r>
              <a:rPr lang="en-US" altLang="zh-CN" dirty="0" err="1"/>
              <a:t>ClassName</a:t>
            </a:r>
            <a:r>
              <a:rPr lang="en-US" altLang="zh-CN" dirty="0"/>
              <a:t>::</a:t>
            </a:r>
            <a:r>
              <a:rPr lang="en-US" altLang="zh-CN" dirty="0" err="1"/>
              <a:t>methodName</a:t>
            </a:r>
            <a:endParaRPr lang="en-US" altLang="zh-CN" dirty="0"/>
          </a:p>
          <a:p>
            <a:pPr lvl="1"/>
            <a:endParaRPr lang="en-US" altLang="zh-CN" dirty="0"/>
          </a:p>
          <a:p>
            <a:r>
              <a:rPr lang="en-US" altLang="zh-CN" dirty="0"/>
              <a:t>Method Reference </a:t>
            </a:r>
          </a:p>
          <a:p>
            <a:pPr lvl="1"/>
            <a:r>
              <a:rPr lang="en-US" altLang="zh-CN" dirty="0" err="1"/>
              <a:t>Comparator.comparing</a:t>
            </a:r>
            <a:r>
              <a:rPr lang="en-US" altLang="zh-CN" dirty="0"/>
              <a:t>(</a:t>
            </a:r>
            <a:r>
              <a:rPr lang="en-US" altLang="zh-CN" dirty="0" err="1"/>
              <a:t>ClassName</a:t>
            </a:r>
            <a:r>
              <a:rPr lang="en-US" altLang="zh-CN" dirty="0"/>
              <a:t>::</a:t>
            </a:r>
            <a:r>
              <a:rPr lang="en-US" altLang="zh-CN" dirty="0" err="1"/>
              <a:t>methodName</a:t>
            </a:r>
            <a:r>
              <a:rPr lang="en-US" altLang="zh-CN" dirty="0"/>
              <a:t>)</a:t>
            </a:r>
          </a:p>
          <a:p>
            <a:endParaRPr lang="en-US" altLang="zh-CN" dirty="0"/>
          </a:p>
          <a:p>
            <a:r>
              <a:rPr lang="en-US" altLang="zh-CN" dirty="0"/>
              <a:t>Example</a:t>
            </a:r>
          </a:p>
          <a:p>
            <a:endParaRPr lang="en-US" altLang="zh-CN" dirty="0"/>
          </a:p>
          <a:p>
            <a:pPr marL="216000" lvl="1" indent="0">
              <a:buNone/>
            </a:pPr>
            <a:r>
              <a:rPr lang="en-US" altLang="zh-CN" dirty="0" err="1">
                <a:solidFill>
                  <a:srgbClr val="000000"/>
                </a:solidFill>
              </a:rPr>
              <a:t>ArrayList</a:t>
            </a:r>
            <a:r>
              <a:rPr lang="en-US" altLang="zh-CN" dirty="0">
                <a:solidFill>
                  <a:srgbClr val="000000"/>
                </a:solidFill>
              </a:rPr>
              <a:t>&lt;Movie&gt; list = </a:t>
            </a:r>
            <a:r>
              <a:rPr lang="en-US" altLang="zh-CN" b="1" dirty="0">
                <a:solidFill>
                  <a:srgbClr val="2239A8"/>
                </a:solidFill>
              </a:rPr>
              <a:t>new</a:t>
            </a:r>
            <a:r>
              <a:rPr lang="en-US" altLang="zh-CN" dirty="0">
                <a:solidFill>
                  <a:srgbClr val="2239A8"/>
                </a:solidFill>
              </a:rPr>
              <a:t> </a:t>
            </a:r>
            <a:r>
              <a:rPr lang="en-US" altLang="zh-CN" dirty="0" err="1">
                <a:solidFill>
                  <a:srgbClr val="000000"/>
                </a:solidFill>
              </a:rPr>
              <a:t>ArrayList</a:t>
            </a:r>
            <a:r>
              <a:rPr lang="en-US" altLang="zh-CN" dirty="0">
                <a:solidFill>
                  <a:srgbClr val="000000"/>
                </a:solidFill>
              </a:rPr>
              <a:t>&lt;Movie&gt;();</a:t>
            </a:r>
          </a:p>
          <a:p>
            <a:pPr marL="216000" lvl="1" indent="0">
              <a:buNone/>
            </a:pPr>
            <a:endParaRPr lang="en-US" altLang="zh-CN" dirty="0"/>
          </a:p>
          <a:p>
            <a:pPr marL="216000" lvl="1" indent="0">
              <a:buNone/>
            </a:pPr>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r>
              <a:rPr lang="en-US" altLang="zh-CN" b="1" dirty="0">
                <a:solidFill>
                  <a:srgbClr val="2239A8"/>
                </a:solidFill>
              </a:rPr>
              <a:t>new</a:t>
            </a:r>
            <a:r>
              <a:rPr lang="en-US" altLang="zh-CN" dirty="0">
                <a:solidFill>
                  <a:srgbClr val="2239A8"/>
                </a:solidFill>
              </a:rPr>
              <a:t> </a:t>
            </a:r>
            <a:r>
              <a:rPr lang="en-US" altLang="zh-CN" dirty="0">
                <a:solidFill>
                  <a:srgbClr val="000000"/>
                </a:solidFill>
              </a:rPr>
              <a:t>Comparator&lt;Movie&gt;() {</a:t>
            </a:r>
          </a:p>
          <a:p>
            <a:pPr marL="216000" lvl="1" indent="0">
              <a:buNone/>
            </a:pPr>
            <a:r>
              <a:rPr lang="en-US" altLang="zh-CN" dirty="0"/>
              <a:t>      </a:t>
            </a:r>
            <a:r>
              <a:rPr lang="en-US" altLang="zh-CN" b="1" dirty="0">
                <a:solidFill>
                  <a:srgbClr val="2239A8"/>
                </a:solidFill>
              </a:rPr>
              <a:t>public int</a:t>
            </a:r>
            <a:r>
              <a:rPr lang="en-US" altLang="zh-CN" dirty="0">
                <a:solidFill>
                  <a:srgbClr val="2239A8"/>
                </a:solidFill>
              </a:rPr>
              <a:t> </a:t>
            </a:r>
            <a:r>
              <a:rPr lang="en-US" altLang="zh-CN" dirty="0">
                <a:solidFill>
                  <a:srgbClr val="A8227B"/>
                </a:solidFill>
              </a:rPr>
              <a:t>compare</a:t>
            </a:r>
            <a:r>
              <a:rPr lang="en-US" altLang="zh-CN" dirty="0">
                <a:solidFill>
                  <a:srgbClr val="000000"/>
                </a:solidFill>
              </a:rPr>
              <a:t>(Movie m1, Movie m2) {</a:t>
            </a:r>
          </a:p>
          <a:p>
            <a:pPr marL="216000" lvl="1" indent="0">
              <a:buNone/>
            </a:pPr>
            <a:r>
              <a:rPr lang="en-US" altLang="zh-CN" dirty="0"/>
              <a:t>         </a:t>
            </a:r>
            <a:r>
              <a:rPr lang="en-US" altLang="zh-CN" b="1" dirty="0">
                <a:solidFill>
                  <a:srgbClr val="2239A8"/>
                </a:solidFill>
              </a:rPr>
              <a:t>return</a:t>
            </a:r>
            <a:r>
              <a:rPr lang="en-US" altLang="zh-CN" dirty="0">
                <a:solidFill>
                  <a:srgbClr val="2239A8"/>
                </a:solidFill>
              </a:rPr>
              <a:t> </a:t>
            </a:r>
            <a:r>
              <a:rPr lang="en-US" altLang="zh-CN" dirty="0" err="1">
                <a:solidFill>
                  <a:srgbClr val="000000"/>
                </a:solidFill>
              </a:rPr>
              <a:t>Double.</a:t>
            </a:r>
            <a:r>
              <a:rPr lang="en-US" altLang="zh-CN" dirty="0" err="1">
                <a:solidFill>
                  <a:srgbClr val="A8227B"/>
                </a:solidFill>
              </a:rPr>
              <a:t>compare</a:t>
            </a:r>
            <a:r>
              <a:rPr lang="en-US" altLang="zh-CN" dirty="0">
                <a:solidFill>
                  <a:srgbClr val="000000"/>
                </a:solidFill>
              </a:rPr>
              <a:t>(m1.</a:t>
            </a:r>
            <a:r>
              <a:rPr lang="en-US" altLang="zh-CN" dirty="0">
                <a:solidFill>
                  <a:srgbClr val="A8227B"/>
                </a:solidFill>
              </a:rPr>
              <a:t>getRating</a:t>
            </a:r>
            <a:r>
              <a:rPr lang="en-US" altLang="zh-CN" dirty="0">
                <a:solidFill>
                  <a:srgbClr val="000000"/>
                </a:solidFill>
              </a:rPr>
              <a:t>(), m1.</a:t>
            </a:r>
            <a:r>
              <a:rPr lang="en-US" altLang="zh-CN" dirty="0">
                <a:solidFill>
                  <a:srgbClr val="A8227B"/>
                </a:solidFill>
              </a:rPr>
              <a:t>getRating</a:t>
            </a:r>
            <a:r>
              <a:rPr lang="en-US" altLang="zh-CN" dirty="0">
                <a:solidFill>
                  <a:srgbClr val="000000"/>
                </a:solidFill>
              </a:rPr>
              <a:t>());</a:t>
            </a:r>
          </a:p>
          <a:p>
            <a:pPr marL="216000" lvl="1" indent="0">
              <a:buNone/>
            </a:pPr>
            <a:r>
              <a:rPr lang="zh-CN" altLang="en-US" dirty="0"/>
              <a:t>      </a:t>
            </a:r>
            <a:r>
              <a:rPr lang="en-US" altLang="zh-CN" dirty="0">
                <a:solidFill>
                  <a:srgbClr val="000000"/>
                </a:solidFill>
              </a:rPr>
              <a:t>}</a:t>
            </a:r>
          </a:p>
          <a:p>
            <a:pPr marL="216000" lvl="1" indent="0">
              <a:buNone/>
            </a:pPr>
            <a:r>
              <a:rPr lang="zh-CN" altLang="en-US" dirty="0"/>
              <a:t>   </a:t>
            </a:r>
            <a:r>
              <a:rPr lang="en-US" altLang="zh-CN" dirty="0">
                <a:solidFill>
                  <a:srgbClr val="000000"/>
                </a:solidFill>
              </a:rPr>
              <a:t>}); </a:t>
            </a:r>
          </a:p>
          <a:p>
            <a:pPr marL="216000" lvl="1" indent="0">
              <a:buNone/>
            </a:pPr>
            <a:r>
              <a:rPr lang="en-US" altLang="zh-CN" dirty="0">
                <a:solidFill>
                  <a:srgbClr val="000000"/>
                </a:solidFill>
              </a:rPr>
              <a:t>} </a:t>
            </a:r>
          </a:p>
          <a:p>
            <a:pPr marL="216000" lvl="1" indent="0">
              <a:buNone/>
            </a:pPr>
            <a:endParaRPr lang="zh-CN" altLang="en-US" dirty="0"/>
          </a:p>
          <a:p>
            <a:pPr lvl="1"/>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r>
              <a:rPr lang="en-US" altLang="zh-CN" dirty="0" err="1">
                <a:solidFill>
                  <a:srgbClr val="000000"/>
                </a:solidFill>
              </a:rPr>
              <a:t>Comparator.</a:t>
            </a:r>
            <a:r>
              <a:rPr lang="en-US" altLang="zh-CN" dirty="0" err="1">
                <a:solidFill>
                  <a:srgbClr val="A8227B"/>
                </a:solidFill>
              </a:rPr>
              <a:t>comparing</a:t>
            </a:r>
            <a:r>
              <a:rPr lang="en-US" altLang="zh-CN" dirty="0">
                <a:solidFill>
                  <a:srgbClr val="000000"/>
                </a:solidFill>
              </a:rPr>
              <a:t>(Movie::</a:t>
            </a:r>
            <a:r>
              <a:rPr lang="en-US" altLang="zh-CN" dirty="0" err="1">
                <a:solidFill>
                  <a:srgbClr val="000000"/>
                </a:solidFill>
              </a:rPr>
              <a:t>getRating</a:t>
            </a:r>
            <a:r>
              <a:rPr lang="en-US" altLang="zh-CN" dirty="0">
                <a:solidFill>
                  <a:srgbClr val="000000"/>
                </a:solidFill>
              </a:rPr>
              <a:t>)); </a:t>
            </a:r>
            <a:r>
              <a:rPr lang="en-US" altLang="zh-CN" dirty="0">
                <a:solidFill>
                  <a:srgbClr val="558817"/>
                </a:solidFill>
              </a:rPr>
              <a:t>// sorted by rating </a:t>
            </a:r>
          </a:p>
          <a:p>
            <a:pPr lvl="1"/>
            <a:endParaRPr lang="en-US" altLang="zh-CN" dirty="0">
              <a:solidFill>
                <a:srgbClr val="000000"/>
              </a:solidFill>
            </a:endParaRPr>
          </a:p>
          <a:p>
            <a:pPr lvl="1"/>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r>
              <a:rPr lang="en-US" altLang="zh-CN" dirty="0" err="1">
                <a:solidFill>
                  <a:srgbClr val="000000"/>
                </a:solidFill>
              </a:rPr>
              <a:t>Comparator.</a:t>
            </a:r>
            <a:r>
              <a:rPr lang="en-US" altLang="zh-CN" dirty="0" err="1">
                <a:solidFill>
                  <a:srgbClr val="A8227B"/>
                </a:solidFill>
              </a:rPr>
              <a:t>comparing</a:t>
            </a:r>
            <a:r>
              <a:rPr lang="en-US" altLang="zh-CN" dirty="0">
                <a:solidFill>
                  <a:srgbClr val="000000"/>
                </a:solidFill>
              </a:rPr>
              <a:t>(Movie::</a:t>
            </a:r>
            <a:r>
              <a:rPr lang="en-US" altLang="zh-CN" dirty="0" err="1">
                <a:solidFill>
                  <a:srgbClr val="000000"/>
                </a:solidFill>
              </a:rPr>
              <a:t>getName</a:t>
            </a:r>
            <a:r>
              <a:rPr lang="en-US" altLang="zh-CN" dirty="0">
                <a:solidFill>
                  <a:srgbClr val="000000"/>
                </a:solidFill>
              </a:rPr>
              <a:t>)); </a:t>
            </a:r>
            <a:r>
              <a:rPr lang="en-US" altLang="zh-CN" dirty="0">
                <a:solidFill>
                  <a:srgbClr val="558817"/>
                </a:solidFill>
              </a:rPr>
              <a:t>// sorted by name </a:t>
            </a:r>
            <a:endParaRPr lang="zh-CN" altLang="en-US" dirty="0"/>
          </a:p>
          <a:p>
            <a:pPr lvl="1"/>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r>
              <a:rPr lang="en-US" altLang="zh-CN" dirty="0" err="1">
                <a:solidFill>
                  <a:srgbClr val="000000"/>
                </a:solidFill>
              </a:rPr>
              <a:t>Comparator.</a:t>
            </a:r>
            <a:r>
              <a:rPr lang="en-US" altLang="zh-CN" dirty="0" err="1">
                <a:solidFill>
                  <a:srgbClr val="A8227B"/>
                </a:solidFill>
              </a:rPr>
              <a:t>comparing</a:t>
            </a:r>
            <a:r>
              <a:rPr lang="en-US" altLang="zh-CN" dirty="0">
                <a:solidFill>
                  <a:srgbClr val="000000"/>
                </a:solidFill>
              </a:rPr>
              <a:t>(Movie::</a:t>
            </a:r>
            <a:r>
              <a:rPr lang="en-US" altLang="zh-CN" dirty="0" err="1">
                <a:solidFill>
                  <a:srgbClr val="000000"/>
                </a:solidFill>
              </a:rPr>
              <a:t>getYear</a:t>
            </a:r>
            <a:r>
              <a:rPr lang="en-US" altLang="zh-CN" dirty="0">
                <a:solidFill>
                  <a:srgbClr val="000000"/>
                </a:solidFill>
              </a:rPr>
              <a:t>)); </a:t>
            </a:r>
            <a:r>
              <a:rPr lang="en-US" altLang="zh-CN" dirty="0">
                <a:solidFill>
                  <a:srgbClr val="558817"/>
                </a:solidFill>
              </a:rPr>
              <a:t>// sorted by year </a:t>
            </a:r>
          </a:p>
          <a:p>
            <a:pPr marL="216000" lvl="1" indent="0">
              <a:buNone/>
            </a:pPr>
            <a:endParaRPr lang="en-US" altLang="zh-CN" dirty="0">
              <a:solidFill>
                <a:srgbClr val="000000"/>
              </a:solidFill>
            </a:endParaRPr>
          </a:p>
          <a:p>
            <a:endParaRPr lang="en-US" altLang="zh-CN" dirty="0"/>
          </a:p>
          <a:p>
            <a:r>
              <a:rPr lang="en-US" altLang="zh-CN" dirty="0"/>
              <a:t>Example</a:t>
            </a:r>
            <a:r>
              <a:rPr lang="zh-CN" altLang="en-US" dirty="0"/>
              <a:t> </a:t>
            </a:r>
            <a:r>
              <a:rPr lang="en-US" altLang="zh-CN" dirty="0"/>
              <a:t>Code</a:t>
            </a:r>
          </a:p>
          <a:p>
            <a:r>
              <a:rPr lang="en-US" altLang="zh-CN" dirty="0"/>
              <a:t>demofunctionalcomparator.MovieListComparartorSortApp.java</a:t>
            </a:r>
          </a:p>
          <a:p>
            <a:pPr algn="just">
              <a:buFontTx/>
              <a:buNone/>
            </a:pPr>
            <a:endPar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endParaRPr>
          </a:p>
          <a:p>
            <a:pPr algn="just">
              <a:buFontTx/>
              <a:buNone/>
            </a:pPr>
            <a:endParaRPr lang="en-US" altLang="zh-CN" sz="1800" dirty="0">
              <a:solidFill>
                <a:srgbClr val="000000"/>
              </a:solidFill>
              <a:latin typeface="Consolas" panose="020B0609020204030204" pitchFamily="49" charset="0"/>
              <a:ea typeface="等线" panose="02010600030101010101" pitchFamily="2" charset="-122"/>
              <a:cs typeface="Consolas" panose="020B0609020204030204" pitchFamily="49" charset="0"/>
            </a:endParaRPr>
          </a:p>
          <a:p>
            <a:endParaRPr lang="zh-CN" altLang="en-US" dirty="0"/>
          </a:p>
        </p:txBody>
      </p:sp>
    </p:spTree>
    <p:extLst>
      <p:ext uri="{BB962C8B-B14F-4D97-AF65-F5344CB8AC3E}">
        <p14:creationId xmlns:p14="http://schemas.microsoft.com/office/powerpoint/2010/main" val="3359523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a:extLst>
              <a:ext uri="{FF2B5EF4-FFF2-40B4-BE49-F238E27FC236}">
                <a16:creationId xmlns:a16="http://schemas.microsoft.com/office/drawing/2014/main" id="{64011E00-54C6-43DB-A964-AD8FBC74EFE4}"/>
              </a:ext>
            </a:extLst>
          </p:cNvPr>
          <p:cNvSpPr>
            <a:spLocks noGrp="1" noChangeArrowheads="1"/>
          </p:cNvSpPr>
          <p:nvPr>
            <p:ph type="title"/>
          </p:nvPr>
        </p:nvSpPr>
        <p:spPr/>
        <p:txBody>
          <a:bodyPr/>
          <a:lstStyle/>
          <a:p>
            <a:r>
              <a:rPr lang="en-US" altLang="zh-CN" dirty="0"/>
              <a:t>Sorting Using Multiple Keys</a:t>
            </a:r>
            <a:endParaRPr lang="zh-CN" altLang="en-US" dirty="0"/>
          </a:p>
        </p:txBody>
      </p:sp>
      <p:sp>
        <p:nvSpPr>
          <p:cNvPr id="73731" name="内容占位符 2">
            <a:extLst>
              <a:ext uri="{FF2B5EF4-FFF2-40B4-BE49-F238E27FC236}">
                <a16:creationId xmlns:a16="http://schemas.microsoft.com/office/drawing/2014/main" id="{DAF51927-9EA0-4237-A8D7-7503EE11D473}"/>
              </a:ext>
            </a:extLst>
          </p:cNvPr>
          <p:cNvSpPr>
            <a:spLocks noGrp="1" noChangeArrowheads="1"/>
          </p:cNvSpPr>
          <p:nvPr>
            <p:ph idx="1"/>
          </p:nvPr>
        </p:nvSpPr>
        <p:spPr/>
        <p:txBody>
          <a:bodyPr>
            <a:normAutofit fontScale="77500" lnSpcReduction="20000"/>
          </a:bodyPr>
          <a:lstStyle/>
          <a:p>
            <a:pPr>
              <a:defRPr/>
            </a:pPr>
            <a:r>
              <a:rPr lang="en-US" altLang="zh-CN" dirty="0" err="1"/>
              <a:t>Comparator.thenComparing</a:t>
            </a:r>
            <a:r>
              <a:rPr lang="en-US" altLang="zh-CN" dirty="0"/>
              <a:t>(CLASS_NAME::</a:t>
            </a:r>
            <a:r>
              <a:rPr lang="en-US" altLang="zh-CN" dirty="0" err="1"/>
              <a:t>methodName</a:t>
            </a:r>
            <a:r>
              <a:rPr lang="en-US" altLang="zh-CN" dirty="0"/>
              <a:t>)</a:t>
            </a:r>
          </a:p>
          <a:p>
            <a:pPr>
              <a:defRPr/>
            </a:pPr>
            <a:endParaRPr lang="en-US" altLang="zh-CN" dirty="0"/>
          </a:p>
          <a:p>
            <a:pPr marL="0" indent="0">
              <a:buNone/>
            </a:pPr>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p>
          <a:p>
            <a:pPr marL="0" indent="0">
              <a:buNone/>
            </a:pPr>
            <a:r>
              <a:rPr lang="en-US" altLang="zh-CN" dirty="0">
                <a:solidFill>
                  <a:srgbClr val="000000"/>
                </a:solidFill>
              </a:rPr>
              <a:t>    </a:t>
            </a:r>
            <a:r>
              <a:rPr lang="en-US" altLang="zh-CN" dirty="0" err="1">
                <a:solidFill>
                  <a:srgbClr val="000000"/>
                </a:solidFill>
              </a:rPr>
              <a:t>Comparator.</a:t>
            </a:r>
            <a:r>
              <a:rPr lang="en-US" altLang="zh-CN" dirty="0" err="1">
                <a:solidFill>
                  <a:srgbClr val="A8227B"/>
                </a:solidFill>
              </a:rPr>
              <a:t>comparing</a:t>
            </a:r>
            <a:r>
              <a:rPr lang="en-US" altLang="zh-CN" dirty="0">
                <a:solidFill>
                  <a:srgbClr val="000000"/>
                </a:solidFill>
              </a:rPr>
              <a:t>(Movie::</a:t>
            </a:r>
            <a:r>
              <a:rPr lang="en-US" altLang="zh-CN" dirty="0" err="1">
                <a:solidFill>
                  <a:srgbClr val="000000"/>
                </a:solidFill>
              </a:rPr>
              <a:t>getRating</a:t>
            </a:r>
            <a:r>
              <a:rPr lang="en-US" altLang="zh-CN" dirty="0">
                <a:solidFill>
                  <a:srgbClr val="000000"/>
                </a:solidFill>
              </a:rPr>
              <a:t>)</a:t>
            </a:r>
          </a:p>
          <a:p>
            <a:pPr marL="0" indent="0">
              <a:buNone/>
            </a:pPr>
            <a:r>
              <a:rPr lang="en-US" altLang="zh-CN" dirty="0"/>
              <a:t>        </a:t>
            </a:r>
            <a:r>
              <a:rPr lang="en-US" altLang="zh-CN" dirty="0">
                <a:solidFill>
                  <a:srgbClr val="000000"/>
                </a:solidFill>
              </a:rPr>
              <a:t>.</a:t>
            </a:r>
            <a:r>
              <a:rPr lang="en-US" altLang="zh-CN" dirty="0" err="1">
                <a:solidFill>
                  <a:srgbClr val="A8227B"/>
                </a:solidFill>
              </a:rPr>
              <a:t>thenComparing</a:t>
            </a:r>
            <a:r>
              <a:rPr lang="en-US" altLang="zh-CN" dirty="0">
                <a:solidFill>
                  <a:srgbClr val="000000"/>
                </a:solidFill>
              </a:rPr>
              <a:t>(Movie::</a:t>
            </a:r>
            <a:r>
              <a:rPr lang="en-US" altLang="zh-CN" dirty="0" err="1">
                <a:solidFill>
                  <a:srgbClr val="000000"/>
                </a:solidFill>
              </a:rPr>
              <a:t>getYear</a:t>
            </a:r>
            <a:r>
              <a:rPr lang="en-US" altLang="zh-CN" dirty="0">
                <a:solidFill>
                  <a:srgbClr val="000000"/>
                </a:solidFill>
              </a:rPr>
              <a:t>)</a:t>
            </a:r>
          </a:p>
          <a:p>
            <a:pPr marL="0" indent="0">
              <a:buNone/>
            </a:pPr>
            <a:r>
              <a:rPr lang="en-US" altLang="zh-CN" dirty="0">
                <a:solidFill>
                  <a:srgbClr val="000000"/>
                </a:solidFill>
              </a:rPr>
              <a:t>);</a:t>
            </a:r>
          </a:p>
          <a:p>
            <a:endParaRPr lang="en-US" altLang="zh-CN" dirty="0">
              <a:solidFill>
                <a:srgbClr val="000000"/>
              </a:solidFill>
            </a:endParaRPr>
          </a:p>
          <a:p>
            <a:r>
              <a:rPr lang="en-US" altLang="zh-CN" i="1" dirty="0" err="1"/>
              <a:t>democomparatormultiplesort.</a:t>
            </a:r>
            <a:r>
              <a:rPr lang="en-US" altLang="zh-CN" dirty="0" err="1"/>
              <a:t>MovieListComparartorSortApp</a:t>
            </a:r>
            <a:endParaRPr lang="en-US" altLang="zh-CN" dirty="0"/>
          </a:p>
          <a:p>
            <a:endParaRPr lang="en-US" altLang="zh-CN" dirty="0">
              <a:solidFill>
                <a:srgbClr val="000000"/>
              </a:solidFill>
            </a:endParaRPr>
          </a:p>
          <a:p>
            <a:r>
              <a:rPr lang="en-US" altLang="zh-CN" dirty="0">
                <a:solidFill>
                  <a:srgbClr val="000000"/>
                </a:solidFill>
              </a:rPr>
              <a:t>Equivalent</a:t>
            </a:r>
            <a:r>
              <a:rPr lang="zh-CN" altLang="en-US" dirty="0">
                <a:solidFill>
                  <a:srgbClr val="000000"/>
                </a:solidFill>
              </a:rPr>
              <a:t> </a:t>
            </a:r>
            <a:r>
              <a:rPr lang="en-US" altLang="zh-CN" dirty="0">
                <a:solidFill>
                  <a:srgbClr val="000000"/>
                </a:solidFill>
              </a:rPr>
              <a:t>to</a:t>
            </a:r>
          </a:p>
          <a:p>
            <a:endParaRPr lang="en-US" altLang="zh-CN" dirty="0">
              <a:solidFill>
                <a:srgbClr val="000000"/>
              </a:solidFill>
            </a:endParaRPr>
          </a:p>
          <a:p>
            <a:pPr marL="0" indent="0">
              <a:buNone/>
            </a:pPr>
            <a:r>
              <a:rPr lang="en-US" altLang="zh-CN" sz="2300" dirty="0" err="1">
                <a:solidFill>
                  <a:srgbClr val="000000"/>
                </a:solidFill>
              </a:rPr>
              <a:t>list.</a:t>
            </a:r>
            <a:r>
              <a:rPr lang="en-US" altLang="zh-CN" sz="2300" dirty="0" err="1">
                <a:solidFill>
                  <a:srgbClr val="A8227B"/>
                </a:solidFill>
              </a:rPr>
              <a:t>sort</a:t>
            </a:r>
            <a:r>
              <a:rPr lang="en-US" altLang="zh-CN" sz="2300" dirty="0">
                <a:solidFill>
                  <a:srgbClr val="000000"/>
                </a:solidFill>
              </a:rPr>
              <a:t>(</a:t>
            </a:r>
            <a:r>
              <a:rPr lang="en-US" altLang="zh-CN" sz="2300" b="1" dirty="0">
                <a:solidFill>
                  <a:srgbClr val="2239A8"/>
                </a:solidFill>
              </a:rPr>
              <a:t>new</a:t>
            </a:r>
            <a:r>
              <a:rPr lang="en-US" altLang="zh-CN" sz="2300" dirty="0">
                <a:solidFill>
                  <a:srgbClr val="2239A8"/>
                </a:solidFill>
              </a:rPr>
              <a:t> </a:t>
            </a:r>
            <a:r>
              <a:rPr lang="en-US" altLang="zh-CN" sz="2300" dirty="0">
                <a:solidFill>
                  <a:srgbClr val="000000"/>
                </a:solidFill>
              </a:rPr>
              <a:t>Comparator&lt;Movie&gt;() {</a:t>
            </a:r>
          </a:p>
          <a:p>
            <a:pPr marL="0" indent="0">
              <a:buNone/>
            </a:pPr>
            <a:r>
              <a:rPr lang="en-US" altLang="zh-CN" sz="2300" dirty="0"/>
              <a:t>  </a:t>
            </a:r>
            <a:r>
              <a:rPr lang="en-US" altLang="zh-CN" sz="2300" b="1" dirty="0">
                <a:solidFill>
                  <a:srgbClr val="2239A8"/>
                </a:solidFill>
              </a:rPr>
              <a:t>public int</a:t>
            </a:r>
            <a:r>
              <a:rPr lang="en-US" altLang="zh-CN" sz="2300" dirty="0">
                <a:solidFill>
                  <a:srgbClr val="2239A8"/>
                </a:solidFill>
              </a:rPr>
              <a:t> </a:t>
            </a:r>
            <a:r>
              <a:rPr lang="en-US" altLang="zh-CN" sz="2300" dirty="0">
                <a:solidFill>
                  <a:srgbClr val="A8227B"/>
                </a:solidFill>
              </a:rPr>
              <a:t>compare</a:t>
            </a:r>
            <a:r>
              <a:rPr lang="en-US" altLang="zh-CN" sz="2300" dirty="0">
                <a:solidFill>
                  <a:srgbClr val="000000"/>
                </a:solidFill>
              </a:rPr>
              <a:t>(Movie m1, Movie m2) {</a:t>
            </a:r>
          </a:p>
          <a:p>
            <a:pPr marL="0" indent="0">
              <a:buNone/>
            </a:pPr>
            <a:r>
              <a:rPr lang="en-US" altLang="zh-CN" sz="2300" dirty="0"/>
              <a:t>    </a:t>
            </a:r>
            <a:r>
              <a:rPr lang="en-US" altLang="zh-CN" sz="2300" b="1" dirty="0">
                <a:solidFill>
                  <a:srgbClr val="2239A8"/>
                </a:solidFill>
              </a:rPr>
              <a:t>int</a:t>
            </a:r>
            <a:r>
              <a:rPr lang="en-US" altLang="zh-CN" sz="2300" dirty="0">
                <a:solidFill>
                  <a:srgbClr val="2239A8"/>
                </a:solidFill>
              </a:rPr>
              <a:t> </a:t>
            </a:r>
            <a:r>
              <a:rPr lang="en-US" altLang="zh-CN" sz="2300" dirty="0" err="1">
                <a:solidFill>
                  <a:srgbClr val="000000"/>
                </a:solidFill>
              </a:rPr>
              <a:t>cmpRating</a:t>
            </a:r>
            <a:r>
              <a:rPr lang="en-US" altLang="zh-CN" sz="2300" dirty="0">
                <a:solidFill>
                  <a:srgbClr val="000000"/>
                </a:solidFill>
              </a:rPr>
              <a:t> = </a:t>
            </a:r>
            <a:r>
              <a:rPr lang="en-US" altLang="zh-CN" sz="2300" dirty="0" err="1">
                <a:solidFill>
                  <a:srgbClr val="000000"/>
                </a:solidFill>
              </a:rPr>
              <a:t>Double.</a:t>
            </a:r>
            <a:r>
              <a:rPr lang="en-US" altLang="zh-CN" sz="2300" dirty="0" err="1">
                <a:solidFill>
                  <a:srgbClr val="A8227B"/>
                </a:solidFill>
              </a:rPr>
              <a:t>compare</a:t>
            </a:r>
            <a:r>
              <a:rPr lang="en-US" altLang="zh-CN" sz="2300" dirty="0">
                <a:solidFill>
                  <a:srgbClr val="000000"/>
                </a:solidFill>
              </a:rPr>
              <a:t>(m1.</a:t>
            </a:r>
            <a:r>
              <a:rPr lang="en-US" altLang="zh-CN" sz="2300" dirty="0">
                <a:solidFill>
                  <a:srgbClr val="A8227B"/>
                </a:solidFill>
              </a:rPr>
              <a:t>getRating</a:t>
            </a:r>
            <a:r>
              <a:rPr lang="en-US" altLang="zh-CN" sz="2300" dirty="0">
                <a:solidFill>
                  <a:srgbClr val="000000"/>
                </a:solidFill>
              </a:rPr>
              <a:t>(), m2.</a:t>
            </a:r>
            <a:r>
              <a:rPr lang="en-US" altLang="zh-CN" sz="2300" dirty="0">
                <a:solidFill>
                  <a:srgbClr val="A8227B"/>
                </a:solidFill>
              </a:rPr>
              <a:t>getRating</a:t>
            </a:r>
            <a:r>
              <a:rPr lang="en-US" altLang="zh-CN" sz="2300" dirty="0">
                <a:solidFill>
                  <a:srgbClr val="000000"/>
                </a:solidFill>
              </a:rPr>
              <a:t>());</a:t>
            </a:r>
          </a:p>
          <a:p>
            <a:pPr marL="0" indent="0">
              <a:buNone/>
            </a:pPr>
            <a:r>
              <a:rPr lang="en-US" altLang="zh-CN" sz="2300" dirty="0"/>
              <a:t>    </a:t>
            </a:r>
            <a:r>
              <a:rPr lang="en-US" altLang="zh-CN" sz="2300" b="1" dirty="0">
                <a:solidFill>
                  <a:srgbClr val="2239A8"/>
                </a:solidFill>
              </a:rPr>
              <a:t>if</a:t>
            </a:r>
            <a:r>
              <a:rPr lang="en-US" altLang="zh-CN" sz="2300" dirty="0">
                <a:solidFill>
                  <a:srgbClr val="2239A8"/>
                </a:solidFill>
              </a:rPr>
              <a:t> </a:t>
            </a:r>
            <a:r>
              <a:rPr lang="en-US" altLang="zh-CN" sz="2300" dirty="0">
                <a:solidFill>
                  <a:srgbClr val="000000"/>
                </a:solidFill>
              </a:rPr>
              <a:t>(</a:t>
            </a:r>
            <a:r>
              <a:rPr lang="en-US" altLang="zh-CN" sz="2300" dirty="0" err="1">
                <a:solidFill>
                  <a:srgbClr val="000000"/>
                </a:solidFill>
              </a:rPr>
              <a:t>cmpRating</a:t>
            </a:r>
            <a:r>
              <a:rPr lang="en-US" altLang="zh-CN" sz="2300" dirty="0">
                <a:solidFill>
                  <a:srgbClr val="000000"/>
                </a:solidFill>
              </a:rPr>
              <a:t> != </a:t>
            </a:r>
            <a:r>
              <a:rPr lang="en-US" altLang="zh-CN" sz="2300" dirty="0">
                <a:solidFill>
                  <a:srgbClr val="A8660D"/>
                </a:solidFill>
              </a:rPr>
              <a:t>0</a:t>
            </a:r>
            <a:r>
              <a:rPr lang="en-US" altLang="zh-CN" sz="2300" dirty="0">
                <a:solidFill>
                  <a:srgbClr val="000000"/>
                </a:solidFill>
              </a:rPr>
              <a:t>) {</a:t>
            </a:r>
          </a:p>
          <a:p>
            <a:pPr marL="0" indent="0">
              <a:buNone/>
            </a:pPr>
            <a:r>
              <a:rPr lang="en-US" altLang="zh-CN" sz="2300" dirty="0"/>
              <a:t>      </a:t>
            </a:r>
            <a:r>
              <a:rPr lang="en-US" altLang="zh-CN" sz="2300" b="1" dirty="0">
                <a:solidFill>
                  <a:srgbClr val="2239A8"/>
                </a:solidFill>
              </a:rPr>
              <a:t>return</a:t>
            </a:r>
            <a:r>
              <a:rPr lang="en-US" altLang="zh-CN" sz="2300" dirty="0">
                <a:solidFill>
                  <a:srgbClr val="2239A8"/>
                </a:solidFill>
              </a:rPr>
              <a:t> </a:t>
            </a:r>
            <a:r>
              <a:rPr lang="en-US" altLang="zh-CN" sz="2300" dirty="0" err="1">
                <a:solidFill>
                  <a:srgbClr val="000000"/>
                </a:solidFill>
              </a:rPr>
              <a:t>cmpRating</a:t>
            </a:r>
            <a:r>
              <a:rPr lang="en-US" altLang="zh-CN" sz="2300" dirty="0">
                <a:solidFill>
                  <a:srgbClr val="000000"/>
                </a:solidFill>
              </a:rPr>
              <a:t>;</a:t>
            </a:r>
          </a:p>
          <a:p>
            <a:pPr marL="0" indent="0">
              <a:buNone/>
            </a:pPr>
            <a:r>
              <a:rPr lang="en-US" altLang="zh-CN" sz="2300" dirty="0"/>
              <a:t>    </a:t>
            </a:r>
            <a:r>
              <a:rPr lang="en-US" altLang="zh-CN" sz="2300" dirty="0">
                <a:solidFill>
                  <a:srgbClr val="000000"/>
                </a:solidFill>
              </a:rPr>
              <a:t>} </a:t>
            </a:r>
            <a:r>
              <a:rPr lang="en-US" altLang="zh-CN" sz="2300" b="1" dirty="0">
                <a:solidFill>
                  <a:srgbClr val="2239A8"/>
                </a:solidFill>
              </a:rPr>
              <a:t>else</a:t>
            </a:r>
            <a:r>
              <a:rPr lang="en-US" altLang="zh-CN" sz="2300" dirty="0">
                <a:solidFill>
                  <a:srgbClr val="2239A8"/>
                </a:solidFill>
              </a:rPr>
              <a:t> </a:t>
            </a:r>
            <a:r>
              <a:rPr lang="en-US" altLang="zh-CN" sz="2300" dirty="0">
                <a:solidFill>
                  <a:srgbClr val="000000"/>
                </a:solidFill>
              </a:rPr>
              <a:t>{</a:t>
            </a:r>
          </a:p>
          <a:p>
            <a:pPr marL="0" indent="0">
              <a:buNone/>
            </a:pPr>
            <a:r>
              <a:rPr lang="en-US" altLang="zh-CN" sz="2300" dirty="0"/>
              <a:t>      </a:t>
            </a:r>
            <a:r>
              <a:rPr lang="en-US" altLang="zh-CN" sz="2300" b="1" dirty="0">
                <a:solidFill>
                  <a:srgbClr val="2239A8"/>
                </a:solidFill>
              </a:rPr>
              <a:t>return</a:t>
            </a:r>
            <a:r>
              <a:rPr lang="en-US" altLang="zh-CN" sz="2300" dirty="0">
                <a:solidFill>
                  <a:srgbClr val="2239A8"/>
                </a:solidFill>
              </a:rPr>
              <a:t> </a:t>
            </a:r>
            <a:r>
              <a:rPr lang="en-US" altLang="zh-CN" sz="2300" dirty="0" err="1">
                <a:solidFill>
                  <a:srgbClr val="000000"/>
                </a:solidFill>
              </a:rPr>
              <a:t>Integer.</a:t>
            </a:r>
            <a:r>
              <a:rPr lang="en-US" altLang="zh-CN" sz="2300" dirty="0" err="1">
                <a:solidFill>
                  <a:srgbClr val="A8227B"/>
                </a:solidFill>
              </a:rPr>
              <a:t>compare</a:t>
            </a:r>
            <a:r>
              <a:rPr lang="en-US" altLang="zh-CN" sz="2300" dirty="0">
                <a:solidFill>
                  <a:srgbClr val="000000"/>
                </a:solidFill>
              </a:rPr>
              <a:t>(m1.</a:t>
            </a:r>
            <a:r>
              <a:rPr lang="en-US" altLang="zh-CN" sz="2300" dirty="0">
                <a:solidFill>
                  <a:srgbClr val="A8227B"/>
                </a:solidFill>
              </a:rPr>
              <a:t>getYear</a:t>
            </a:r>
            <a:r>
              <a:rPr lang="en-US" altLang="zh-CN" sz="2300" dirty="0">
                <a:solidFill>
                  <a:srgbClr val="000000"/>
                </a:solidFill>
              </a:rPr>
              <a:t>(), m2.</a:t>
            </a:r>
            <a:r>
              <a:rPr lang="en-US" altLang="zh-CN" sz="2300" dirty="0">
                <a:solidFill>
                  <a:srgbClr val="A8227B"/>
                </a:solidFill>
              </a:rPr>
              <a:t>getYear</a:t>
            </a:r>
            <a:r>
              <a:rPr lang="en-US" altLang="zh-CN" sz="2300" dirty="0">
                <a:solidFill>
                  <a:srgbClr val="000000"/>
                </a:solidFill>
              </a:rPr>
              <a:t>());</a:t>
            </a:r>
          </a:p>
          <a:p>
            <a:pPr marL="0" indent="0">
              <a:buNone/>
            </a:pPr>
            <a:r>
              <a:rPr lang="zh-CN" altLang="en-US" sz="2300" dirty="0"/>
              <a:t>    </a:t>
            </a:r>
            <a:r>
              <a:rPr lang="en-US" altLang="zh-CN" sz="2300" dirty="0">
                <a:solidFill>
                  <a:srgbClr val="000000"/>
                </a:solidFill>
              </a:rPr>
              <a:t>}</a:t>
            </a:r>
          </a:p>
          <a:p>
            <a:pPr marL="0" indent="0">
              <a:buNone/>
            </a:pPr>
            <a:r>
              <a:rPr lang="zh-CN" altLang="en-US" sz="2300" dirty="0"/>
              <a:t>  </a:t>
            </a:r>
            <a:r>
              <a:rPr lang="en-US" altLang="zh-CN" sz="2300" dirty="0">
                <a:solidFill>
                  <a:srgbClr val="000000"/>
                </a:solidFill>
              </a:rPr>
              <a:t>}</a:t>
            </a:r>
          </a:p>
          <a:p>
            <a:pPr marL="0" indent="0">
              <a:buNone/>
            </a:pPr>
            <a:r>
              <a:rPr lang="en-US" altLang="zh-CN" sz="2300" dirty="0">
                <a:solidFill>
                  <a:srgbClr val="000000"/>
                </a:solidFill>
              </a:rPr>
              <a:t>});</a:t>
            </a:r>
          </a:p>
          <a:p>
            <a:endParaRPr lang="en-US" altLang="zh-CN" dirty="0">
              <a:solidFill>
                <a:srgbClr val="000000"/>
              </a:solidFill>
            </a:endParaRPr>
          </a:p>
          <a:p>
            <a:r>
              <a:rPr lang="en-US" altLang="zh-CN" i="1" dirty="0" err="1"/>
              <a:t>democomparatormultiplesort</a:t>
            </a:r>
            <a:r>
              <a:rPr lang="en-US" altLang="zh-CN" dirty="0" err="1">
                <a:solidFill>
                  <a:srgbClr val="000000"/>
                </a:solidFill>
              </a:rPr>
              <a:t>.</a:t>
            </a:r>
            <a:r>
              <a:rPr lang="en-US" altLang="zh-CN" dirty="0" err="1"/>
              <a:t>MovieListAnonymousComparartorSortApp</a:t>
            </a:r>
            <a:endParaRPr lang="en-US" altLang="zh-CN" dirty="0">
              <a:solidFill>
                <a:srgbClr val="000000"/>
              </a:solidFill>
            </a:endParaRPr>
          </a:p>
          <a:p>
            <a:endParaRPr lang="en-US" altLang="zh-CN" dirty="0">
              <a:solidFill>
                <a:srgbClr val="000000"/>
              </a:solidFill>
            </a:endParaRPr>
          </a:p>
        </p:txBody>
      </p:sp>
    </p:spTree>
    <p:extLst>
      <p:ext uri="{BB962C8B-B14F-4D97-AF65-F5344CB8AC3E}">
        <p14:creationId xmlns:p14="http://schemas.microsoft.com/office/powerpoint/2010/main" val="70849890"/>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0E8ECF6-958B-4CCB-AFD5-41B4CCBE868A}"/>
              </a:ext>
            </a:extLst>
          </p:cNvPr>
          <p:cNvSpPr>
            <a:spLocks noGrp="1"/>
          </p:cNvSpPr>
          <p:nvPr>
            <p:ph idx="1"/>
          </p:nvPr>
        </p:nvSpPr>
        <p:spPr/>
        <p:txBody>
          <a:bodyPr/>
          <a:lstStyle/>
          <a:p>
            <a:r>
              <a:rPr lang="en-US" altLang="zh-CN" dirty="0"/>
              <a:t>Method Reference</a:t>
            </a:r>
          </a:p>
          <a:p>
            <a:pPr lvl="1"/>
            <a:r>
              <a:rPr lang="en-US" altLang="zh-CN" dirty="0"/>
              <a:t>Need to define classes and methods first</a:t>
            </a:r>
          </a:p>
          <a:p>
            <a:endParaRPr lang="en-US" altLang="zh-CN" dirty="0"/>
          </a:p>
          <a:p>
            <a:r>
              <a:rPr lang="en-US" altLang="zh-CN" dirty="0"/>
              <a:t>If I like to change the sorting conditions or use multiple key sorting</a:t>
            </a:r>
          </a:p>
          <a:p>
            <a:pPr lvl="1"/>
            <a:r>
              <a:rPr lang="en-US" altLang="zh-CN" dirty="0"/>
              <a:t>You need to have access to the class source code to make revisions</a:t>
            </a:r>
          </a:p>
          <a:p>
            <a:endParaRPr lang="en-US" altLang="zh-CN" dirty="0"/>
          </a:p>
          <a:p>
            <a:r>
              <a:rPr lang="en-US" altLang="zh-CN" dirty="0"/>
              <a:t>Can it be more flexible methods?</a:t>
            </a:r>
          </a:p>
          <a:p>
            <a:r>
              <a:rPr lang="en-US" altLang="zh-CN" dirty="0"/>
              <a:t>Yes</a:t>
            </a:r>
            <a:r>
              <a:rPr lang="zh-CN" altLang="en-US" dirty="0"/>
              <a:t>，</a:t>
            </a:r>
            <a:r>
              <a:rPr lang="en-US" altLang="zh-CN" dirty="0"/>
              <a:t>using Lambda</a:t>
            </a:r>
            <a:r>
              <a:rPr lang="zh-CN" altLang="en-US" dirty="0"/>
              <a:t> </a:t>
            </a:r>
            <a:r>
              <a:rPr lang="en-US" altLang="zh-CN" dirty="0"/>
              <a:t>expressions</a:t>
            </a:r>
            <a:r>
              <a:rPr lang="zh-CN" altLang="en-US" dirty="0"/>
              <a:t> </a:t>
            </a:r>
            <a:r>
              <a:rPr lang="en-US" altLang="zh-CN" dirty="0"/>
              <a:t>(anonymous functions)</a:t>
            </a:r>
          </a:p>
          <a:p>
            <a:pPr lvl="1"/>
            <a:r>
              <a:rPr lang="en-US" altLang="zh-CN" dirty="0"/>
              <a:t>Lambda expressions define anonymous functions</a:t>
            </a:r>
          </a:p>
          <a:p>
            <a:pPr lvl="1"/>
            <a:r>
              <a:rPr lang="en-US" altLang="zh-CN" dirty="0"/>
              <a:t>Can replace method reference</a:t>
            </a:r>
          </a:p>
          <a:p>
            <a:pPr lvl="1"/>
            <a:r>
              <a:rPr lang="en-US" altLang="zh-CN" dirty="0"/>
              <a:t>More flexible</a:t>
            </a:r>
            <a:endParaRPr lang="zh-CN" altLang="en-US" dirty="0"/>
          </a:p>
          <a:p>
            <a:endParaRPr lang="en-US" altLang="zh-CN" dirty="0"/>
          </a:p>
        </p:txBody>
      </p:sp>
      <p:sp>
        <p:nvSpPr>
          <p:cNvPr id="3" name="标题 2">
            <a:extLst>
              <a:ext uri="{FF2B5EF4-FFF2-40B4-BE49-F238E27FC236}">
                <a16:creationId xmlns:a16="http://schemas.microsoft.com/office/drawing/2014/main" id="{AAC03F7D-FB00-4757-B8D9-332182DD516E}"/>
              </a:ext>
            </a:extLst>
          </p:cNvPr>
          <p:cNvSpPr>
            <a:spLocks noGrp="1"/>
          </p:cNvSpPr>
          <p:nvPr>
            <p:ph type="title"/>
          </p:nvPr>
        </p:nvSpPr>
        <p:spPr/>
        <p:txBody>
          <a:bodyPr/>
          <a:lstStyle/>
          <a:p>
            <a:r>
              <a:rPr lang="en-US" altLang="zh-CN" dirty="0"/>
              <a:t>Can it be More Flexible ?</a:t>
            </a:r>
            <a:endParaRPr lang="zh-CN" altLang="en-US" dirty="0"/>
          </a:p>
        </p:txBody>
      </p:sp>
      <p:sp>
        <p:nvSpPr>
          <p:cNvPr id="4" name="日期占位符 3">
            <a:extLst>
              <a:ext uri="{FF2B5EF4-FFF2-40B4-BE49-F238E27FC236}">
                <a16:creationId xmlns:a16="http://schemas.microsoft.com/office/drawing/2014/main" id="{B2A81D6C-F5BD-4FE8-B984-BB8D8A61073B}"/>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6938726D-C076-4BCB-AB32-AD7CA1A7221F}"/>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4D315988-3D8E-4DD1-B9C0-87258E722FF2}"/>
              </a:ext>
            </a:extLst>
          </p:cNvPr>
          <p:cNvSpPr>
            <a:spLocks noGrp="1"/>
          </p:cNvSpPr>
          <p:nvPr>
            <p:ph type="sldNum" sz="quarter" idx="4"/>
          </p:nvPr>
        </p:nvSpPr>
        <p:spPr/>
        <p:txBody>
          <a:bodyPr/>
          <a:lstStyle/>
          <a:p>
            <a:fld id="{19B12225-5612-419B-A8D5-4B8EEE4C217E}" type="slidenum">
              <a:rPr lang="en-US" smtClean="0"/>
              <a:pPr/>
              <a:t>20</a:t>
            </a:fld>
            <a:endParaRPr lang="en-US" dirty="0"/>
          </a:p>
        </p:txBody>
      </p:sp>
    </p:spTree>
    <p:extLst>
      <p:ext uri="{BB962C8B-B14F-4D97-AF65-F5344CB8AC3E}">
        <p14:creationId xmlns:p14="http://schemas.microsoft.com/office/powerpoint/2010/main" val="3648465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90CE1E-8C97-408E-9E3B-59881DDFDC2D}"/>
              </a:ext>
            </a:extLst>
          </p:cNvPr>
          <p:cNvSpPr>
            <a:spLocks noGrp="1"/>
          </p:cNvSpPr>
          <p:nvPr>
            <p:ph idx="1"/>
          </p:nvPr>
        </p:nvSpPr>
        <p:spPr/>
        <p:txBody>
          <a:bodyPr/>
          <a:lstStyle/>
          <a:p>
            <a:pPr lvl="0">
              <a:buClr>
                <a:srgbClr val="F0AD00"/>
              </a:buClr>
            </a:pPr>
            <a:r>
              <a:rPr lang="en-US" altLang="zh-CN" dirty="0">
                <a:solidFill>
                  <a:prstClr val="black"/>
                </a:solidFill>
              </a:rPr>
              <a:t>Example</a:t>
            </a:r>
            <a:r>
              <a:rPr lang="zh-CN" altLang="en-US" dirty="0">
                <a:solidFill>
                  <a:prstClr val="black"/>
                </a:solidFill>
              </a:rPr>
              <a:t>：</a:t>
            </a:r>
            <a:r>
              <a:rPr lang="en-US" altLang="zh-CN" dirty="0">
                <a:solidFill>
                  <a:prstClr val="black"/>
                </a:solidFill>
              </a:rPr>
              <a:t>Apple Selection</a:t>
            </a:r>
          </a:p>
          <a:p>
            <a:pPr lvl="0">
              <a:buClr>
                <a:srgbClr val="F0AD00"/>
              </a:buClr>
            </a:pPr>
            <a:endParaRPr lang="en-US" altLang="zh-CN" dirty="0">
              <a:solidFill>
                <a:prstClr val="black"/>
              </a:solidFill>
            </a:endParaRPr>
          </a:p>
          <a:p>
            <a:pPr lvl="0">
              <a:buClr>
                <a:srgbClr val="F0AD00"/>
              </a:buClr>
            </a:pPr>
            <a:r>
              <a:rPr lang="en-US" altLang="zh-CN" dirty="0">
                <a:solidFill>
                  <a:prstClr val="black"/>
                </a:solidFill>
              </a:rPr>
              <a:t>With Method Reference</a:t>
            </a:r>
          </a:p>
          <a:p>
            <a:pPr marL="0" lvl="0" indent="0">
              <a:buClr>
                <a:srgbClr val="F0AD00"/>
              </a:buClr>
              <a:buNone/>
            </a:pPr>
            <a:r>
              <a:rPr lang="en-US" altLang="zh-CN" sz="1800" dirty="0" err="1">
                <a:solidFill>
                  <a:srgbClr val="000000"/>
                </a:solidFill>
              </a:rPr>
              <a:t>ArrayList</a:t>
            </a:r>
            <a:r>
              <a:rPr lang="en-US" altLang="zh-CN" sz="1800" dirty="0">
                <a:solidFill>
                  <a:srgbClr val="000000"/>
                </a:solidFill>
              </a:rPr>
              <a:t>&lt;Apple&gt; list = </a:t>
            </a:r>
            <a:r>
              <a:rPr lang="en-US" altLang="zh-CN" sz="1800" b="1" dirty="0">
                <a:solidFill>
                  <a:srgbClr val="2239A8"/>
                </a:solidFill>
              </a:rPr>
              <a:t>new</a:t>
            </a:r>
            <a:r>
              <a:rPr lang="en-US" altLang="zh-CN" sz="1800" dirty="0">
                <a:solidFill>
                  <a:srgbClr val="2239A8"/>
                </a:solidFill>
              </a:rPr>
              <a:t> </a:t>
            </a:r>
            <a:r>
              <a:rPr lang="en-US" altLang="zh-CN" sz="1800" dirty="0" err="1">
                <a:solidFill>
                  <a:srgbClr val="000000"/>
                </a:solidFill>
              </a:rPr>
              <a:t>ArrayList</a:t>
            </a:r>
            <a:r>
              <a:rPr lang="en-US" altLang="zh-CN" sz="1800" dirty="0">
                <a:solidFill>
                  <a:srgbClr val="000000"/>
                </a:solidFill>
              </a:rPr>
              <a:t>&lt;&gt;();</a:t>
            </a:r>
          </a:p>
          <a:p>
            <a:pPr marL="0" lvl="0" indent="0">
              <a:buClr>
                <a:srgbClr val="F0AD00"/>
              </a:buClr>
              <a:buNone/>
            </a:pPr>
            <a:endParaRPr lang="en-US" altLang="zh-CN" sz="1800" dirty="0">
              <a:solidFill>
                <a:srgbClr val="000000"/>
              </a:solidFill>
            </a:endParaRPr>
          </a:p>
          <a:p>
            <a:pPr marL="0" lvl="0" indent="0">
              <a:buClr>
                <a:srgbClr val="F0AD00"/>
              </a:buClr>
              <a:buNone/>
            </a:pPr>
            <a:r>
              <a:rPr lang="en-US" altLang="zh-CN" sz="1800" b="1" dirty="0">
                <a:solidFill>
                  <a:srgbClr val="2239A8"/>
                </a:solidFill>
              </a:rPr>
              <a:t>public class</a:t>
            </a:r>
            <a:r>
              <a:rPr lang="en-US" altLang="zh-CN" sz="1800" dirty="0">
                <a:solidFill>
                  <a:srgbClr val="2239A8"/>
                </a:solidFill>
              </a:rPr>
              <a:t> </a:t>
            </a:r>
            <a:r>
              <a:rPr lang="en-US" altLang="zh-CN" sz="1800" dirty="0" err="1">
                <a:solidFill>
                  <a:srgbClr val="000000"/>
                </a:solidFill>
              </a:rPr>
              <a:t>AppleSelector</a:t>
            </a:r>
            <a:r>
              <a:rPr lang="en-US" altLang="zh-CN" sz="1800" dirty="0">
                <a:solidFill>
                  <a:srgbClr val="000000"/>
                </a:solidFill>
              </a:rPr>
              <a:t> {</a:t>
            </a:r>
          </a:p>
          <a:p>
            <a:pPr marL="0" lvl="0" indent="0">
              <a:buClr>
                <a:srgbClr val="F0AD00"/>
              </a:buClr>
              <a:buNone/>
            </a:pPr>
            <a:r>
              <a:rPr lang="en-US" altLang="zh-CN" sz="1800" dirty="0">
                <a:solidFill>
                  <a:prstClr val="black"/>
                </a:solidFill>
              </a:rPr>
              <a:t>    </a:t>
            </a:r>
            <a:r>
              <a:rPr lang="en-US" altLang="zh-CN" sz="1800" b="1" dirty="0">
                <a:solidFill>
                  <a:srgbClr val="2239A8"/>
                </a:solidFill>
              </a:rPr>
              <a:t>public static </a:t>
            </a:r>
            <a:r>
              <a:rPr lang="en-US" altLang="zh-CN" sz="1800" b="1" dirty="0" err="1">
                <a:solidFill>
                  <a:srgbClr val="2239A8"/>
                </a:solidFill>
              </a:rPr>
              <a:t>boolean</a:t>
            </a:r>
            <a:r>
              <a:rPr lang="en-US" altLang="zh-CN" sz="1800" dirty="0">
                <a:solidFill>
                  <a:srgbClr val="2239A8"/>
                </a:solidFill>
              </a:rPr>
              <a:t> </a:t>
            </a:r>
            <a:r>
              <a:rPr lang="en-US" altLang="zh-CN" sz="1800" dirty="0">
                <a:solidFill>
                  <a:srgbClr val="A8227B"/>
                </a:solidFill>
              </a:rPr>
              <a:t>reject</a:t>
            </a:r>
            <a:r>
              <a:rPr lang="en-US" altLang="zh-CN" sz="1800" dirty="0">
                <a:solidFill>
                  <a:srgbClr val="000000"/>
                </a:solidFill>
              </a:rPr>
              <a:t>(Apple a)  {</a:t>
            </a:r>
          </a:p>
          <a:p>
            <a:pPr marL="0" lvl="0" indent="0">
              <a:buClr>
                <a:srgbClr val="F0AD00"/>
              </a:buClr>
              <a:buNone/>
            </a:pPr>
            <a:r>
              <a:rPr lang="en-US" altLang="zh-CN" sz="1800" dirty="0">
                <a:solidFill>
                  <a:prstClr val="black"/>
                </a:solidFill>
              </a:rPr>
              <a:t>        </a:t>
            </a:r>
            <a:r>
              <a:rPr lang="en-US" altLang="zh-CN" sz="1800" b="1" dirty="0">
                <a:solidFill>
                  <a:srgbClr val="2239A8"/>
                </a:solidFill>
              </a:rPr>
              <a:t>if</a:t>
            </a:r>
            <a:r>
              <a:rPr lang="en-US" altLang="zh-CN" sz="1800" dirty="0">
                <a:solidFill>
                  <a:srgbClr val="2239A8"/>
                </a:solidFill>
              </a:rPr>
              <a:t> </a:t>
            </a:r>
            <a:r>
              <a:rPr lang="en-US" altLang="zh-CN" sz="1800" dirty="0">
                <a:solidFill>
                  <a:srgbClr val="000000"/>
                </a:solidFill>
              </a:rPr>
              <a:t>(</a:t>
            </a:r>
            <a:r>
              <a:rPr lang="en-US" altLang="zh-CN" sz="1800" dirty="0" err="1">
                <a:solidFill>
                  <a:srgbClr val="000000"/>
                </a:solidFill>
              </a:rPr>
              <a:t>a.</a:t>
            </a:r>
            <a:r>
              <a:rPr lang="en-US" altLang="zh-CN" sz="1800" dirty="0" err="1">
                <a:solidFill>
                  <a:srgbClr val="A8227B"/>
                </a:solidFill>
              </a:rPr>
              <a:t>getWeight</a:t>
            </a:r>
            <a:r>
              <a:rPr lang="en-US" altLang="zh-CN" sz="1800" dirty="0">
                <a:solidFill>
                  <a:srgbClr val="000000"/>
                </a:solidFill>
              </a:rPr>
              <a:t>() &lt; </a:t>
            </a:r>
            <a:r>
              <a:rPr lang="en-US" altLang="zh-CN" sz="1800" dirty="0">
                <a:solidFill>
                  <a:srgbClr val="A8660D"/>
                </a:solidFill>
              </a:rPr>
              <a:t>150</a:t>
            </a:r>
            <a:r>
              <a:rPr lang="en-US" altLang="zh-CN" sz="1800" dirty="0">
                <a:solidFill>
                  <a:srgbClr val="000000"/>
                </a:solidFill>
              </a:rPr>
              <a:t>) {</a:t>
            </a:r>
          </a:p>
          <a:p>
            <a:pPr marL="0" lvl="0" indent="0">
              <a:buClr>
                <a:srgbClr val="F0AD00"/>
              </a:buClr>
              <a:buNone/>
            </a:pPr>
            <a:r>
              <a:rPr lang="en-US" altLang="zh-CN" sz="1800" dirty="0">
                <a:solidFill>
                  <a:prstClr val="black"/>
                </a:solidFill>
              </a:rPr>
              <a:t>            </a:t>
            </a:r>
            <a:r>
              <a:rPr lang="en-US" altLang="zh-CN" sz="1800" b="1" dirty="0">
                <a:solidFill>
                  <a:srgbClr val="2239A8"/>
                </a:solidFill>
              </a:rPr>
              <a:t>return</a:t>
            </a:r>
            <a:r>
              <a:rPr lang="en-US" altLang="zh-CN" sz="1800" dirty="0">
                <a:solidFill>
                  <a:srgbClr val="2239A8"/>
                </a:solidFill>
              </a:rPr>
              <a:t> </a:t>
            </a:r>
            <a:r>
              <a:rPr lang="en-US" altLang="zh-CN" sz="1800" b="1" dirty="0">
                <a:solidFill>
                  <a:srgbClr val="8C1D69"/>
                </a:solidFill>
              </a:rPr>
              <a:t>false</a:t>
            </a:r>
            <a:r>
              <a:rPr lang="en-US" altLang="zh-CN" sz="1800" dirty="0">
                <a:solidFill>
                  <a:srgbClr val="000000"/>
                </a:solidFill>
              </a:rPr>
              <a:t>;</a:t>
            </a:r>
          </a:p>
          <a:p>
            <a:pPr marL="0" lvl="0" indent="0">
              <a:buClr>
                <a:srgbClr val="F0AD00"/>
              </a:buClr>
              <a:buNone/>
            </a:pPr>
            <a:r>
              <a:rPr lang="en-US" altLang="zh-CN" sz="1800" dirty="0">
                <a:solidFill>
                  <a:prstClr val="black"/>
                </a:solidFill>
              </a:rPr>
              <a:t>        </a:t>
            </a:r>
            <a:r>
              <a:rPr lang="en-US" altLang="zh-CN" sz="1800" dirty="0">
                <a:solidFill>
                  <a:srgbClr val="000000"/>
                </a:solidFill>
              </a:rPr>
              <a:t>} </a:t>
            </a:r>
            <a:r>
              <a:rPr lang="en-US" altLang="zh-CN" sz="1800" b="1" dirty="0">
                <a:solidFill>
                  <a:srgbClr val="2239A8"/>
                </a:solidFill>
              </a:rPr>
              <a:t>else</a:t>
            </a:r>
            <a:r>
              <a:rPr lang="en-US" altLang="zh-CN" sz="1800" dirty="0">
                <a:solidFill>
                  <a:srgbClr val="2239A8"/>
                </a:solidFill>
              </a:rPr>
              <a:t> </a:t>
            </a:r>
            <a:r>
              <a:rPr lang="en-US" altLang="zh-CN" sz="1800" dirty="0">
                <a:solidFill>
                  <a:srgbClr val="000000"/>
                </a:solidFill>
              </a:rPr>
              <a:t>{</a:t>
            </a:r>
          </a:p>
          <a:p>
            <a:pPr marL="0" lvl="0" indent="0">
              <a:buClr>
                <a:srgbClr val="F0AD00"/>
              </a:buClr>
              <a:buNone/>
            </a:pPr>
            <a:r>
              <a:rPr lang="en-US" altLang="zh-CN" sz="1800" dirty="0">
                <a:solidFill>
                  <a:prstClr val="black"/>
                </a:solidFill>
              </a:rPr>
              <a:t>            </a:t>
            </a:r>
            <a:r>
              <a:rPr lang="en-US" altLang="zh-CN" sz="1800" b="1" dirty="0">
                <a:solidFill>
                  <a:srgbClr val="2239A8"/>
                </a:solidFill>
              </a:rPr>
              <a:t>return</a:t>
            </a:r>
            <a:r>
              <a:rPr lang="en-US" altLang="zh-CN" sz="1800" dirty="0">
                <a:solidFill>
                  <a:srgbClr val="2239A8"/>
                </a:solidFill>
              </a:rPr>
              <a:t> </a:t>
            </a:r>
            <a:r>
              <a:rPr lang="en-US" altLang="zh-CN" sz="1800" b="1" dirty="0">
                <a:solidFill>
                  <a:srgbClr val="8C1D69"/>
                </a:solidFill>
              </a:rPr>
              <a:t>true</a:t>
            </a:r>
            <a:r>
              <a:rPr lang="en-US" altLang="zh-CN" sz="1800" dirty="0">
                <a:solidFill>
                  <a:srgbClr val="000000"/>
                </a:solidFill>
              </a:rPr>
              <a:t>;</a:t>
            </a:r>
          </a:p>
          <a:p>
            <a:pPr marL="0" lvl="0" indent="0">
              <a:buClr>
                <a:srgbClr val="F0AD00"/>
              </a:buClr>
              <a:buNone/>
            </a:pPr>
            <a:r>
              <a:rPr lang="zh-CN" altLang="en-US" sz="1800" dirty="0">
                <a:solidFill>
                  <a:prstClr val="black"/>
                </a:solidFill>
              </a:rPr>
              <a:t>        </a:t>
            </a:r>
            <a:r>
              <a:rPr lang="en-US" altLang="zh-CN" sz="1800" dirty="0">
                <a:solidFill>
                  <a:srgbClr val="000000"/>
                </a:solidFill>
              </a:rPr>
              <a:t>}</a:t>
            </a:r>
          </a:p>
          <a:p>
            <a:pPr marL="0" lvl="0" indent="0">
              <a:buClr>
                <a:srgbClr val="F0AD00"/>
              </a:buClr>
              <a:buNone/>
            </a:pPr>
            <a:r>
              <a:rPr lang="zh-CN" altLang="en-US" sz="1800" dirty="0">
                <a:solidFill>
                  <a:prstClr val="black"/>
                </a:solidFill>
              </a:rPr>
              <a:t>    </a:t>
            </a:r>
            <a:r>
              <a:rPr lang="en-US" altLang="zh-CN" sz="1800" dirty="0">
                <a:solidFill>
                  <a:srgbClr val="000000"/>
                </a:solidFill>
              </a:rPr>
              <a:t>}</a:t>
            </a:r>
          </a:p>
          <a:p>
            <a:pPr marL="0" lvl="0" indent="0">
              <a:buClr>
                <a:srgbClr val="F0AD00"/>
              </a:buClr>
              <a:buNone/>
            </a:pPr>
            <a:r>
              <a:rPr lang="en-US" altLang="zh-CN" sz="1800" dirty="0">
                <a:solidFill>
                  <a:srgbClr val="000000"/>
                </a:solidFill>
              </a:rPr>
              <a:t>}</a:t>
            </a:r>
          </a:p>
          <a:p>
            <a:pPr marL="0" lvl="0" indent="0">
              <a:buClr>
                <a:srgbClr val="F0AD00"/>
              </a:buClr>
              <a:buNone/>
            </a:pPr>
            <a:r>
              <a:rPr lang="zh-CN" altLang="en-US" sz="1800" dirty="0">
                <a:solidFill>
                  <a:prstClr val="black"/>
                </a:solidFill>
              </a:rPr>
              <a:t> </a:t>
            </a:r>
          </a:p>
          <a:p>
            <a:pPr marL="0" lvl="0" indent="0">
              <a:buClr>
                <a:srgbClr val="F0AD00"/>
              </a:buClr>
              <a:buNone/>
            </a:pPr>
            <a:r>
              <a:rPr lang="en-US" altLang="zh-CN" sz="1800" dirty="0" err="1">
                <a:solidFill>
                  <a:srgbClr val="000000"/>
                </a:solidFill>
              </a:rPr>
              <a:t>list.</a:t>
            </a:r>
            <a:r>
              <a:rPr lang="en-US" altLang="zh-CN" sz="1800" dirty="0" err="1">
                <a:solidFill>
                  <a:srgbClr val="A8227B"/>
                </a:solidFill>
              </a:rPr>
              <a:t>removeIf</a:t>
            </a:r>
            <a:r>
              <a:rPr lang="en-US" altLang="zh-CN" sz="1800" dirty="0">
                <a:solidFill>
                  <a:srgbClr val="000000"/>
                </a:solidFill>
              </a:rPr>
              <a:t>(</a:t>
            </a:r>
            <a:r>
              <a:rPr lang="en-US" altLang="zh-CN" sz="1800" dirty="0" err="1">
                <a:solidFill>
                  <a:srgbClr val="000000"/>
                </a:solidFill>
              </a:rPr>
              <a:t>AppleSelector</a:t>
            </a:r>
            <a:r>
              <a:rPr lang="en-US" altLang="zh-CN" sz="1800" dirty="0">
                <a:solidFill>
                  <a:srgbClr val="000000"/>
                </a:solidFill>
              </a:rPr>
              <a:t>::reject);</a:t>
            </a:r>
          </a:p>
          <a:p>
            <a:pPr marL="0" lvl="0" indent="0">
              <a:buClr>
                <a:srgbClr val="F0AD00"/>
              </a:buClr>
              <a:buNone/>
            </a:pPr>
            <a:endParaRPr lang="en-US" altLang="zh-CN" sz="1800" dirty="0">
              <a:solidFill>
                <a:srgbClr val="000000"/>
              </a:solidFill>
            </a:endParaRPr>
          </a:p>
          <a:p>
            <a:pPr marL="285750" indent="-285750">
              <a:buClr>
                <a:srgbClr val="F0AD00"/>
              </a:buClr>
            </a:pPr>
            <a:r>
              <a:rPr lang="en-US" altLang="zh-CN" sz="2000" dirty="0">
                <a:solidFill>
                  <a:srgbClr val="000000"/>
                </a:solidFill>
              </a:rPr>
              <a:t>With Lambda</a:t>
            </a:r>
            <a:r>
              <a:rPr lang="zh-CN" altLang="en-US" sz="2000" dirty="0">
                <a:solidFill>
                  <a:srgbClr val="000000"/>
                </a:solidFill>
              </a:rPr>
              <a:t> </a:t>
            </a:r>
            <a:r>
              <a:rPr lang="en-US" altLang="zh-CN" sz="2000" dirty="0">
                <a:solidFill>
                  <a:srgbClr val="000000"/>
                </a:solidFill>
              </a:rPr>
              <a:t>Expressions</a:t>
            </a:r>
          </a:p>
          <a:p>
            <a:pPr marL="0" lvl="0" indent="0">
              <a:buClr>
                <a:srgbClr val="F0AD00"/>
              </a:buClr>
              <a:buNone/>
            </a:pPr>
            <a:r>
              <a:rPr lang="en-US" altLang="zh-CN" sz="1800" dirty="0" err="1">
                <a:solidFill>
                  <a:srgbClr val="000000"/>
                </a:solidFill>
              </a:rPr>
              <a:t>list.</a:t>
            </a:r>
            <a:r>
              <a:rPr lang="en-US" altLang="zh-CN" sz="1800" dirty="0" err="1">
                <a:solidFill>
                  <a:srgbClr val="A8227B"/>
                </a:solidFill>
              </a:rPr>
              <a:t>removeIf</a:t>
            </a:r>
            <a:r>
              <a:rPr lang="en-US" altLang="zh-CN" sz="1800" dirty="0">
                <a:solidFill>
                  <a:srgbClr val="000000"/>
                </a:solidFill>
              </a:rPr>
              <a:t>(a -&gt; </a:t>
            </a:r>
            <a:r>
              <a:rPr lang="en-US" altLang="zh-CN" sz="1800" dirty="0" err="1">
                <a:solidFill>
                  <a:srgbClr val="000000"/>
                </a:solidFill>
              </a:rPr>
              <a:t>a.</a:t>
            </a:r>
            <a:r>
              <a:rPr lang="en-US" altLang="zh-CN" sz="1800" dirty="0" err="1">
                <a:solidFill>
                  <a:srgbClr val="A8227B"/>
                </a:solidFill>
              </a:rPr>
              <a:t>getWeight</a:t>
            </a:r>
            <a:r>
              <a:rPr lang="en-US" altLang="zh-CN" sz="1800" dirty="0">
                <a:solidFill>
                  <a:srgbClr val="000000"/>
                </a:solidFill>
              </a:rPr>
              <a:t>() &lt; </a:t>
            </a:r>
            <a:r>
              <a:rPr lang="en-US" altLang="zh-CN" sz="1800" dirty="0">
                <a:solidFill>
                  <a:srgbClr val="A8660D"/>
                </a:solidFill>
              </a:rPr>
              <a:t>150.0</a:t>
            </a:r>
            <a:r>
              <a:rPr lang="en-US" altLang="zh-CN" sz="1800" dirty="0">
                <a:solidFill>
                  <a:srgbClr val="000000"/>
                </a:solidFill>
              </a:rPr>
              <a:t>);</a:t>
            </a:r>
          </a:p>
          <a:p>
            <a:endParaRPr lang="zh-CN" altLang="en-US" dirty="0"/>
          </a:p>
        </p:txBody>
      </p:sp>
      <p:sp>
        <p:nvSpPr>
          <p:cNvPr id="3" name="标题 2">
            <a:extLst>
              <a:ext uri="{FF2B5EF4-FFF2-40B4-BE49-F238E27FC236}">
                <a16:creationId xmlns:a16="http://schemas.microsoft.com/office/drawing/2014/main" id="{8E127AA4-7BF4-4C43-8246-4A7FEA0F5CB6}"/>
              </a:ext>
            </a:extLst>
          </p:cNvPr>
          <p:cNvSpPr>
            <a:spLocks noGrp="1"/>
          </p:cNvSpPr>
          <p:nvPr>
            <p:ph type="title"/>
          </p:nvPr>
        </p:nvSpPr>
        <p:spPr/>
        <p:txBody>
          <a:bodyPr/>
          <a:lstStyle/>
          <a:p>
            <a:r>
              <a:rPr lang="en-US" altLang="zh-CN" dirty="0"/>
              <a:t>Lambda</a:t>
            </a:r>
            <a:r>
              <a:rPr lang="zh-CN" altLang="en-US" dirty="0"/>
              <a:t> </a:t>
            </a:r>
            <a:r>
              <a:rPr lang="en-US" altLang="zh-CN" dirty="0"/>
              <a:t>Expressions Make Life Easier</a:t>
            </a:r>
            <a:endParaRPr lang="zh-CN" altLang="en-US" dirty="0"/>
          </a:p>
        </p:txBody>
      </p:sp>
      <p:sp>
        <p:nvSpPr>
          <p:cNvPr id="4" name="日期占位符 3">
            <a:extLst>
              <a:ext uri="{FF2B5EF4-FFF2-40B4-BE49-F238E27FC236}">
                <a16:creationId xmlns:a16="http://schemas.microsoft.com/office/drawing/2014/main" id="{44665089-9A9C-41B0-AF07-DB460E597C13}"/>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DA2DD3C1-C5F8-464F-A60E-E1ABC22F25E1}"/>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120829D8-25E7-4826-839F-B25D7FE096C3}"/>
              </a:ext>
            </a:extLst>
          </p:cNvPr>
          <p:cNvSpPr>
            <a:spLocks noGrp="1"/>
          </p:cNvSpPr>
          <p:nvPr>
            <p:ph type="sldNum" sz="quarter" idx="4"/>
          </p:nvPr>
        </p:nvSpPr>
        <p:spPr/>
        <p:txBody>
          <a:bodyPr/>
          <a:lstStyle/>
          <a:p>
            <a:fld id="{19B12225-5612-419B-A8D5-4B8EEE4C217E}" type="slidenum">
              <a:rPr lang="en-US" smtClean="0"/>
              <a:pPr/>
              <a:t>21</a:t>
            </a:fld>
            <a:endParaRPr lang="en-US" dirty="0"/>
          </a:p>
        </p:txBody>
      </p:sp>
    </p:spTree>
    <p:extLst>
      <p:ext uri="{BB962C8B-B14F-4D97-AF65-F5344CB8AC3E}">
        <p14:creationId xmlns:p14="http://schemas.microsoft.com/office/powerpoint/2010/main" val="2971550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1DAE840-A7F8-456C-BFC8-4382B79EF90A}"/>
              </a:ext>
            </a:extLst>
          </p:cNvPr>
          <p:cNvSpPr>
            <a:spLocks noGrp="1"/>
          </p:cNvSpPr>
          <p:nvPr>
            <p:ph type="title"/>
          </p:nvPr>
        </p:nvSpPr>
        <p:spPr/>
        <p:txBody>
          <a:bodyPr/>
          <a:lstStyle/>
          <a:p>
            <a:r>
              <a:rPr lang="en-US" altLang="zh-CN" dirty="0"/>
              <a:t>Lambda Sorting</a:t>
            </a:r>
            <a:endParaRPr lang="zh-CN" altLang="en-US" dirty="0"/>
          </a:p>
        </p:txBody>
      </p:sp>
      <p:sp>
        <p:nvSpPr>
          <p:cNvPr id="8" name="文本占位符 7">
            <a:extLst>
              <a:ext uri="{FF2B5EF4-FFF2-40B4-BE49-F238E27FC236}">
                <a16:creationId xmlns:a16="http://schemas.microsoft.com/office/drawing/2014/main" id="{30CABD1A-BFE1-4FE0-A6E1-720274D16B37}"/>
              </a:ext>
            </a:extLst>
          </p:cNvPr>
          <p:cNvSpPr>
            <a:spLocks noGrp="1"/>
          </p:cNvSpPr>
          <p:nvPr>
            <p:ph type="body" idx="1"/>
          </p:nvPr>
        </p:nvSpPr>
        <p:spPr/>
        <p:txBody>
          <a:bodyPr/>
          <a:lstStyle/>
          <a:p>
            <a:r>
              <a:rPr lang="en-US" altLang="zh-CN" dirty="0"/>
              <a:t>(x, y) -&gt; x + y</a:t>
            </a:r>
          </a:p>
          <a:p>
            <a:endParaRPr lang="zh-CN" altLang="en-US" dirty="0"/>
          </a:p>
        </p:txBody>
      </p:sp>
      <p:sp>
        <p:nvSpPr>
          <p:cNvPr id="4" name="日期占位符 3">
            <a:extLst>
              <a:ext uri="{FF2B5EF4-FFF2-40B4-BE49-F238E27FC236}">
                <a16:creationId xmlns:a16="http://schemas.microsoft.com/office/drawing/2014/main" id="{BAEEE778-9027-473A-ADB4-61B961F11EA8}"/>
              </a:ext>
            </a:extLst>
          </p:cNvPr>
          <p:cNvSpPr>
            <a:spLocks noGrp="1"/>
          </p:cNvSpPr>
          <p:nvPr>
            <p:ph type="dt" sz="half" idx="4294967295"/>
          </p:nvPr>
        </p:nvSpPr>
        <p:spPr>
          <a:xfrm>
            <a:off x="0" y="6705600"/>
            <a:ext cx="1087438" cy="152400"/>
          </a:xfrm>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AA64257B-481C-44BE-BBE6-C9DCFE58D209}"/>
              </a:ext>
            </a:extLst>
          </p:cNvPr>
          <p:cNvSpPr>
            <a:spLocks noGrp="1"/>
          </p:cNvSpPr>
          <p:nvPr>
            <p:ph type="ftr" sz="quarter" idx="4294967295"/>
          </p:nvPr>
        </p:nvSpPr>
        <p:spPr>
          <a:xfrm>
            <a:off x="2159000" y="6705600"/>
            <a:ext cx="6985000" cy="152400"/>
          </a:xfrm>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884D9900-5BFB-4582-A278-317EECAA8F97}"/>
              </a:ext>
            </a:extLst>
          </p:cNvPr>
          <p:cNvSpPr>
            <a:spLocks noGrp="1"/>
          </p:cNvSpPr>
          <p:nvPr>
            <p:ph type="sldNum" sz="quarter" idx="4294967295"/>
          </p:nvPr>
        </p:nvSpPr>
        <p:spPr>
          <a:xfrm>
            <a:off x="8509000" y="6705600"/>
            <a:ext cx="635000" cy="152400"/>
          </a:xfrm>
        </p:spPr>
        <p:txBody>
          <a:bodyPr/>
          <a:lstStyle/>
          <a:p>
            <a:fld id="{19B12225-5612-419B-A8D5-4B8EEE4C217E}" type="slidenum">
              <a:rPr lang="en-US" smtClean="0"/>
              <a:pPr/>
              <a:t>22</a:t>
            </a:fld>
            <a:endParaRPr lang="en-US" dirty="0"/>
          </a:p>
        </p:txBody>
      </p:sp>
    </p:spTree>
    <p:extLst>
      <p:ext uri="{BB962C8B-B14F-4D97-AF65-F5344CB8AC3E}">
        <p14:creationId xmlns:p14="http://schemas.microsoft.com/office/powerpoint/2010/main" val="4028231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a:extLst>
              <a:ext uri="{FF2B5EF4-FFF2-40B4-BE49-F238E27FC236}">
                <a16:creationId xmlns:a16="http://schemas.microsoft.com/office/drawing/2014/main" id="{9BC27ECE-C1BC-4B47-BC6B-D63A82531145}"/>
              </a:ext>
            </a:extLst>
          </p:cNvPr>
          <p:cNvSpPr>
            <a:spLocks noGrp="1" noChangeArrowheads="1"/>
          </p:cNvSpPr>
          <p:nvPr>
            <p:ph type="title"/>
          </p:nvPr>
        </p:nvSpPr>
        <p:spPr/>
        <p:txBody>
          <a:bodyPr/>
          <a:lstStyle/>
          <a:p>
            <a:r>
              <a:rPr lang="en-US" altLang="zh-CN" dirty="0"/>
              <a:t>Java Lambda Expressions</a:t>
            </a:r>
            <a:endParaRPr lang="zh-CN" altLang="en-US" dirty="0"/>
          </a:p>
        </p:txBody>
      </p:sp>
      <p:sp>
        <p:nvSpPr>
          <p:cNvPr id="80899" name="内容占位符 2">
            <a:extLst>
              <a:ext uri="{FF2B5EF4-FFF2-40B4-BE49-F238E27FC236}">
                <a16:creationId xmlns:a16="http://schemas.microsoft.com/office/drawing/2014/main" id="{6BBB2900-6D8D-43AD-ADDA-DFBB8778C631}"/>
              </a:ext>
            </a:extLst>
          </p:cNvPr>
          <p:cNvSpPr>
            <a:spLocks noGrp="1" noChangeArrowheads="1"/>
          </p:cNvSpPr>
          <p:nvPr>
            <p:ph idx="1"/>
          </p:nvPr>
        </p:nvSpPr>
        <p:spPr/>
        <p:txBody>
          <a:bodyPr>
            <a:normAutofit lnSpcReduction="10000"/>
          </a:bodyPr>
          <a:lstStyle/>
          <a:p>
            <a:r>
              <a:rPr lang="en-US" altLang="zh-CN" dirty="0"/>
              <a:t>(parameters) </a:t>
            </a:r>
            <a:r>
              <a:rPr lang="en-US" altLang="zh-CN" dirty="0">
                <a:solidFill>
                  <a:srgbClr val="FF0000"/>
                </a:solidFill>
              </a:rPr>
              <a:t>-&gt;</a:t>
            </a:r>
            <a:r>
              <a:rPr lang="en-US" altLang="zh-CN" dirty="0"/>
              <a:t> expression</a:t>
            </a:r>
          </a:p>
          <a:p>
            <a:pPr lvl="1"/>
            <a:r>
              <a:rPr lang="en-US" altLang="zh-CN" dirty="0"/>
              <a:t>(x,</a:t>
            </a:r>
            <a:r>
              <a:rPr lang="zh-CN" altLang="en-US" dirty="0"/>
              <a:t> </a:t>
            </a:r>
            <a:r>
              <a:rPr lang="en-US" altLang="zh-CN" dirty="0"/>
              <a:t>y)</a:t>
            </a:r>
            <a:r>
              <a:rPr lang="zh-CN" altLang="en-US" dirty="0"/>
              <a:t> </a:t>
            </a:r>
            <a:r>
              <a:rPr lang="en-US" altLang="zh-CN" dirty="0"/>
              <a:t>-&gt; x + y</a:t>
            </a:r>
          </a:p>
          <a:p>
            <a:r>
              <a:rPr lang="en-US" altLang="zh-CN" dirty="0"/>
              <a:t>(parameters) </a:t>
            </a:r>
            <a:r>
              <a:rPr lang="en-US" altLang="zh-CN" dirty="0">
                <a:solidFill>
                  <a:srgbClr val="FF0000"/>
                </a:solidFill>
              </a:rPr>
              <a:t>-&gt;</a:t>
            </a:r>
            <a:r>
              <a:rPr lang="en-US" altLang="zh-CN" dirty="0"/>
              <a:t> { statements; }</a:t>
            </a:r>
          </a:p>
          <a:p>
            <a:pPr lvl="1"/>
            <a:r>
              <a:rPr lang="es-ES" altLang="zh-CN" dirty="0">
                <a:solidFill>
                  <a:srgbClr val="000000"/>
                </a:solidFill>
              </a:rPr>
              <a:t>(x, y) -&gt; { </a:t>
            </a:r>
            <a:r>
              <a:rPr lang="es-ES" altLang="zh-CN" b="1" dirty="0">
                <a:solidFill>
                  <a:srgbClr val="2239A8"/>
                </a:solidFill>
              </a:rPr>
              <a:t>return</a:t>
            </a:r>
            <a:r>
              <a:rPr lang="es-ES" altLang="zh-CN" dirty="0">
                <a:solidFill>
                  <a:srgbClr val="2239A8"/>
                </a:solidFill>
              </a:rPr>
              <a:t> </a:t>
            </a:r>
            <a:r>
              <a:rPr lang="es-ES" altLang="zh-CN" dirty="0">
                <a:solidFill>
                  <a:srgbClr val="000000"/>
                </a:solidFill>
              </a:rPr>
              <a:t>x + y; }</a:t>
            </a:r>
          </a:p>
          <a:p>
            <a:pPr>
              <a:tabLst>
                <a:tab pos="8034338" algn="l"/>
              </a:tabLst>
            </a:pPr>
            <a:endParaRPr lang="en-US" altLang="zh-CN" dirty="0"/>
          </a:p>
          <a:p>
            <a:r>
              <a:rPr lang="en-US" altLang="zh-CN" dirty="0"/>
              <a:t>Examples</a:t>
            </a:r>
          </a:p>
          <a:p>
            <a:pPr lvl="1"/>
            <a:r>
              <a:rPr lang="en-US" altLang="zh-CN" dirty="0"/>
              <a:t>(x, y) -&gt; x + y</a:t>
            </a:r>
          </a:p>
          <a:p>
            <a:pPr lvl="1"/>
            <a:r>
              <a:rPr lang="en-US" altLang="zh-CN" dirty="0"/>
              <a:t>() -&gt; </a:t>
            </a:r>
            <a:r>
              <a:rPr lang="en-US" altLang="zh-CN" dirty="0" err="1"/>
              <a:t>System.out.println</a:t>
            </a:r>
            <a:r>
              <a:rPr lang="en-US" altLang="zh-CN" dirty="0"/>
              <a:t>("Hello")</a:t>
            </a:r>
          </a:p>
          <a:p>
            <a:pPr lvl="1"/>
            <a:r>
              <a:rPr lang="en-US" altLang="zh-CN" dirty="0">
                <a:solidFill>
                  <a:srgbClr val="000000"/>
                </a:solidFill>
              </a:rPr>
              <a:t>e -&gt; </a:t>
            </a:r>
            <a:r>
              <a:rPr lang="en-US" altLang="zh-CN" dirty="0" err="1">
                <a:solidFill>
                  <a:srgbClr val="000000"/>
                </a:solidFill>
              </a:rPr>
              <a:t>System.out.</a:t>
            </a:r>
            <a:r>
              <a:rPr lang="en-US" altLang="zh-CN" dirty="0" err="1">
                <a:solidFill>
                  <a:srgbClr val="A8227B"/>
                </a:solidFill>
              </a:rPr>
              <a:t>println</a:t>
            </a:r>
            <a:r>
              <a:rPr lang="en-US" altLang="zh-CN" dirty="0">
                <a:solidFill>
                  <a:srgbClr val="000000"/>
                </a:solidFill>
              </a:rPr>
              <a:t>(e)</a:t>
            </a:r>
            <a:endParaRPr lang="en-US" altLang="zh-CN" dirty="0"/>
          </a:p>
          <a:p>
            <a:pPr lvl="1"/>
            <a:endParaRPr lang="en-US" altLang="zh-CN" dirty="0"/>
          </a:p>
          <a:p>
            <a:r>
              <a:rPr lang="en-US" altLang="zh-CN" dirty="0">
                <a:solidFill>
                  <a:srgbClr val="000000"/>
                </a:solidFill>
              </a:rPr>
              <a:t>Which are valid Lambda functions in the following ?</a:t>
            </a:r>
          </a:p>
          <a:p>
            <a:pPr lvl="1"/>
            <a:r>
              <a:rPr lang="en-US" altLang="zh-CN" dirty="0">
                <a:solidFill>
                  <a:srgbClr val="000000"/>
                </a:solidFill>
              </a:rPr>
              <a:t>() -&gt; { }</a:t>
            </a:r>
          </a:p>
          <a:p>
            <a:pPr lvl="1"/>
            <a:r>
              <a:rPr lang="en-US" altLang="zh-CN" dirty="0">
                <a:solidFill>
                  <a:srgbClr val="000000"/>
                </a:solidFill>
              </a:rPr>
              <a:t>() -&gt; </a:t>
            </a:r>
            <a:r>
              <a:rPr lang="en-US" altLang="zh-CN" dirty="0">
                <a:solidFill>
                  <a:srgbClr val="A8660D"/>
                </a:solidFill>
              </a:rPr>
              <a:t>"Core Java"</a:t>
            </a:r>
          </a:p>
          <a:p>
            <a:pPr lvl="1"/>
            <a:r>
              <a:rPr lang="en-US" altLang="zh-CN" dirty="0">
                <a:solidFill>
                  <a:srgbClr val="000000"/>
                </a:solidFill>
              </a:rPr>
              <a:t>() -&gt; { </a:t>
            </a:r>
            <a:r>
              <a:rPr lang="en-US" altLang="zh-CN" b="1" dirty="0">
                <a:solidFill>
                  <a:srgbClr val="2239A8"/>
                </a:solidFill>
              </a:rPr>
              <a:t>return</a:t>
            </a:r>
            <a:r>
              <a:rPr lang="en-US" altLang="zh-CN" dirty="0">
                <a:solidFill>
                  <a:srgbClr val="2239A8"/>
                </a:solidFill>
              </a:rPr>
              <a:t> </a:t>
            </a:r>
            <a:r>
              <a:rPr lang="en-US" altLang="zh-CN" dirty="0">
                <a:solidFill>
                  <a:srgbClr val="A8660D"/>
                </a:solidFill>
              </a:rPr>
              <a:t>"Core Java"</a:t>
            </a:r>
            <a:r>
              <a:rPr lang="en-US" altLang="zh-CN" dirty="0">
                <a:solidFill>
                  <a:srgbClr val="000000"/>
                </a:solidFill>
              </a:rPr>
              <a:t>; }</a:t>
            </a:r>
          </a:p>
          <a:p>
            <a:pPr lvl="1"/>
            <a:r>
              <a:rPr lang="en-US" altLang="zh-CN" dirty="0">
                <a:solidFill>
                  <a:srgbClr val="000000"/>
                </a:solidFill>
              </a:rPr>
              <a:t>(Integer </a:t>
            </a:r>
            <a:r>
              <a:rPr lang="en-US" altLang="zh-CN" dirty="0" err="1">
                <a:solidFill>
                  <a:srgbClr val="000000"/>
                </a:solidFill>
              </a:rPr>
              <a:t>i</a:t>
            </a:r>
            <a:r>
              <a:rPr lang="en-US" altLang="zh-CN" dirty="0">
                <a:solidFill>
                  <a:srgbClr val="000000"/>
                </a:solidFill>
              </a:rPr>
              <a:t>) -&gt; </a:t>
            </a:r>
            <a:r>
              <a:rPr lang="en-US" altLang="zh-CN" b="1" dirty="0">
                <a:solidFill>
                  <a:srgbClr val="2239A8"/>
                </a:solidFill>
              </a:rPr>
              <a:t>return</a:t>
            </a:r>
            <a:r>
              <a:rPr lang="en-US" altLang="zh-CN" dirty="0">
                <a:solidFill>
                  <a:srgbClr val="2239A8"/>
                </a:solidFill>
              </a:rPr>
              <a:t> </a:t>
            </a:r>
            <a:r>
              <a:rPr lang="en-US" altLang="zh-CN" dirty="0" err="1">
                <a:solidFill>
                  <a:srgbClr val="000000"/>
                </a:solidFill>
              </a:rPr>
              <a:t>i</a:t>
            </a:r>
            <a:r>
              <a:rPr lang="en-US" altLang="zh-CN" dirty="0">
                <a:solidFill>
                  <a:srgbClr val="000000"/>
                </a:solidFill>
              </a:rPr>
              <a:t> * </a:t>
            </a:r>
            <a:r>
              <a:rPr lang="en-US" altLang="zh-CN" dirty="0">
                <a:solidFill>
                  <a:srgbClr val="A8660D"/>
                </a:solidFill>
              </a:rPr>
              <a:t>2</a:t>
            </a:r>
            <a:r>
              <a:rPr lang="en-US" altLang="zh-CN" dirty="0">
                <a:solidFill>
                  <a:srgbClr val="000000"/>
                </a:solidFill>
              </a:rPr>
              <a:t>;</a:t>
            </a:r>
          </a:p>
          <a:p>
            <a:pPr lvl="1"/>
            <a:r>
              <a:rPr lang="en-US" altLang="zh-CN" dirty="0">
                <a:solidFill>
                  <a:srgbClr val="000000"/>
                </a:solidFill>
              </a:rPr>
              <a:t>(String s) -&gt; { s + </a:t>
            </a:r>
            <a:r>
              <a:rPr lang="en-US" altLang="zh-CN" dirty="0">
                <a:solidFill>
                  <a:srgbClr val="A8660D"/>
                </a:solidFill>
              </a:rPr>
              <a:t>": Core Java"</a:t>
            </a:r>
            <a:r>
              <a:rPr lang="en-US" altLang="zh-CN" dirty="0">
                <a:solidFill>
                  <a:srgbClr val="000000"/>
                </a:solidFill>
              </a:rPr>
              <a:t>; }</a:t>
            </a:r>
            <a:br>
              <a:rPr lang="en-US" altLang="zh-CN" dirty="0"/>
            </a:br>
            <a:endParaRPr lang="zh-CN" altLang="en-US" dirty="0"/>
          </a:p>
        </p:txBody>
      </p:sp>
    </p:spTree>
    <p:extLst>
      <p:ext uri="{BB962C8B-B14F-4D97-AF65-F5344CB8AC3E}">
        <p14:creationId xmlns:p14="http://schemas.microsoft.com/office/powerpoint/2010/main" val="2666487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0383FB-B358-4F49-926F-C49DD48BE40E}"/>
              </a:ext>
            </a:extLst>
          </p:cNvPr>
          <p:cNvSpPr>
            <a:spLocks noGrp="1"/>
          </p:cNvSpPr>
          <p:nvPr>
            <p:ph idx="1"/>
          </p:nvPr>
        </p:nvSpPr>
        <p:spPr/>
        <p:txBody>
          <a:bodyPr>
            <a:normAutofit fontScale="62500" lnSpcReduction="20000"/>
          </a:bodyPr>
          <a:lstStyle/>
          <a:p>
            <a:r>
              <a:rPr lang="en-US" altLang="zh-CN" sz="3400" dirty="0"/>
              <a:t>Sorting Movies using method reference comparators</a:t>
            </a:r>
          </a:p>
          <a:p>
            <a:endParaRPr lang="zh-CN" altLang="en-US" sz="3400" dirty="0"/>
          </a:p>
          <a:p>
            <a:pPr marL="0" indent="0">
              <a:buNone/>
            </a:pPr>
            <a:r>
              <a:rPr lang="en-US" altLang="zh-CN" sz="2500" b="1" dirty="0">
                <a:solidFill>
                  <a:srgbClr val="2239A8"/>
                </a:solidFill>
              </a:rPr>
              <a:t>public class</a:t>
            </a:r>
            <a:r>
              <a:rPr lang="en-US" altLang="zh-CN" sz="2500" dirty="0">
                <a:solidFill>
                  <a:srgbClr val="2239A8"/>
                </a:solidFill>
              </a:rPr>
              <a:t> </a:t>
            </a:r>
            <a:r>
              <a:rPr lang="en-US" altLang="zh-CN" sz="2500" dirty="0">
                <a:solidFill>
                  <a:srgbClr val="000000"/>
                </a:solidFill>
              </a:rPr>
              <a:t>Movie { </a:t>
            </a:r>
          </a:p>
          <a:p>
            <a:pPr marL="0" indent="0">
              <a:buNone/>
            </a:pPr>
            <a:r>
              <a:rPr lang="en-US" altLang="zh-CN" sz="2500" dirty="0"/>
              <a:t>    </a:t>
            </a:r>
            <a:r>
              <a:rPr lang="en-US" altLang="zh-CN" sz="2500" b="1" dirty="0">
                <a:solidFill>
                  <a:srgbClr val="2239A8"/>
                </a:solidFill>
              </a:rPr>
              <a:t>private double</a:t>
            </a:r>
            <a:r>
              <a:rPr lang="en-US" altLang="zh-CN" sz="2500" dirty="0">
                <a:solidFill>
                  <a:srgbClr val="2239A8"/>
                </a:solidFill>
              </a:rPr>
              <a:t> </a:t>
            </a:r>
            <a:r>
              <a:rPr lang="en-US" altLang="zh-CN" sz="2500" dirty="0">
                <a:solidFill>
                  <a:srgbClr val="000000"/>
                </a:solidFill>
              </a:rPr>
              <a:t>rating; </a:t>
            </a:r>
          </a:p>
          <a:p>
            <a:pPr marL="0" indent="0">
              <a:buNone/>
            </a:pPr>
            <a:r>
              <a:rPr lang="en-US" altLang="zh-CN" sz="2500" dirty="0"/>
              <a:t>    </a:t>
            </a:r>
            <a:r>
              <a:rPr lang="en-US" altLang="zh-CN" sz="2500" b="1" dirty="0">
                <a:solidFill>
                  <a:srgbClr val="2239A8"/>
                </a:solidFill>
              </a:rPr>
              <a:t>private</a:t>
            </a:r>
            <a:r>
              <a:rPr lang="en-US" altLang="zh-CN" sz="2500" dirty="0">
                <a:solidFill>
                  <a:srgbClr val="2239A8"/>
                </a:solidFill>
              </a:rPr>
              <a:t> </a:t>
            </a:r>
            <a:r>
              <a:rPr lang="en-US" altLang="zh-CN" sz="2500" dirty="0">
                <a:solidFill>
                  <a:srgbClr val="000000"/>
                </a:solidFill>
              </a:rPr>
              <a:t>String name; </a:t>
            </a:r>
          </a:p>
          <a:p>
            <a:pPr marL="0" indent="0">
              <a:buNone/>
            </a:pPr>
            <a:r>
              <a:rPr lang="en-US" altLang="zh-CN" sz="2500" dirty="0"/>
              <a:t>    </a:t>
            </a:r>
            <a:r>
              <a:rPr lang="en-US" altLang="zh-CN" sz="2500" b="1" dirty="0">
                <a:solidFill>
                  <a:srgbClr val="2239A8"/>
                </a:solidFill>
              </a:rPr>
              <a:t>private int</a:t>
            </a:r>
            <a:r>
              <a:rPr lang="en-US" altLang="zh-CN" sz="2500" dirty="0">
                <a:solidFill>
                  <a:srgbClr val="2239A8"/>
                </a:solidFill>
              </a:rPr>
              <a:t> </a:t>
            </a:r>
            <a:r>
              <a:rPr lang="en-US" altLang="zh-CN" sz="2500" dirty="0">
                <a:solidFill>
                  <a:srgbClr val="000000"/>
                </a:solidFill>
              </a:rPr>
              <a:t>year; </a:t>
            </a:r>
          </a:p>
          <a:p>
            <a:pPr marL="0" indent="0">
              <a:buNone/>
            </a:pPr>
            <a:r>
              <a:rPr lang="zh-CN" altLang="en-US" sz="2500" dirty="0"/>
              <a:t>   </a:t>
            </a:r>
          </a:p>
          <a:p>
            <a:pPr marL="0" indent="0">
              <a:buNone/>
            </a:pPr>
            <a:r>
              <a:rPr lang="en-US" altLang="zh-CN" sz="2500" dirty="0"/>
              <a:t>    </a:t>
            </a:r>
            <a:r>
              <a:rPr lang="en-US" altLang="zh-CN" sz="2500" dirty="0">
                <a:solidFill>
                  <a:srgbClr val="558817"/>
                </a:solidFill>
              </a:rPr>
              <a:t>// Constructor </a:t>
            </a:r>
          </a:p>
          <a:p>
            <a:pPr marL="0" indent="0">
              <a:buNone/>
            </a:pPr>
            <a:r>
              <a:rPr lang="en-US" altLang="zh-CN" sz="2500" dirty="0"/>
              <a:t>    </a:t>
            </a:r>
            <a:r>
              <a:rPr lang="en-US" altLang="zh-CN" sz="2500" b="1" dirty="0">
                <a:solidFill>
                  <a:srgbClr val="2239A8"/>
                </a:solidFill>
              </a:rPr>
              <a:t>public</a:t>
            </a:r>
            <a:r>
              <a:rPr lang="en-US" altLang="zh-CN" sz="2500" dirty="0">
                <a:solidFill>
                  <a:srgbClr val="2239A8"/>
                </a:solidFill>
              </a:rPr>
              <a:t> </a:t>
            </a:r>
            <a:r>
              <a:rPr lang="en-US" altLang="zh-CN" sz="2500" dirty="0">
                <a:solidFill>
                  <a:srgbClr val="A8227B"/>
                </a:solidFill>
              </a:rPr>
              <a:t>Movie</a:t>
            </a:r>
            <a:r>
              <a:rPr lang="en-US" altLang="zh-CN" sz="2500" dirty="0">
                <a:solidFill>
                  <a:srgbClr val="000000"/>
                </a:solidFill>
              </a:rPr>
              <a:t>(String name, </a:t>
            </a:r>
            <a:r>
              <a:rPr lang="en-US" altLang="zh-CN" sz="2500" b="1" dirty="0">
                <a:solidFill>
                  <a:srgbClr val="2239A8"/>
                </a:solidFill>
              </a:rPr>
              <a:t>double</a:t>
            </a:r>
            <a:r>
              <a:rPr lang="en-US" altLang="zh-CN" sz="2500" dirty="0">
                <a:solidFill>
                  <a:srgbClr val="2239A8"/>
                </a:solidFill>
              </a:rPr>
              <a:t> </a:t>
            </a:r>
            <a:r>
              <a:rPr lang="en-US" altLang="zh-CN" sz="2500" dirty="0">
                <a:solidFill>
                  <a:srgbClr val="000000"/>
                </a:solidFill>
              </a:rPr>
              <a:t>rating, </a:t>
            </a:r>
            <a:r>
              <a:rPr lang="en-US" altLang="zh-CN" sz="2500" b="1" dirty="0">
                <a:solidFill>
                  <a:srgbClr val="2239A8"/>
                </a:solidFill>
              </a:rPr>
              <a:t>int</a:t>
            </a:r>
            <a:r>
              <a:rPr lang="en-US" altLang="zh-CN" sz="2500" dirty="0">
                <a:solidFill>
                  <a:srgbClr val="2239A8"/>
                </a:solidFill>
              </a:rPr>
              <a:t> </a:t>
            </a:r>
            <a:r>
              <a:rPr lang="en-US" altLang="zh-CN" sz="2500" dirty="0">
                <a:solidFill>
                  <a:srgbClr val="000000"/>
                </a:solidFill>
              </a:rPr>
              <a:t>year)  { </a:t>
            </a:r>
          </a:p>
          <a:p>
            <a:pPr marL="0" indent="0">
              <a:buNone/>
            </a:pPr>
            <a:r>
              <a:rPr lang="en-US" altLang="zh-CN" sz="2500" dirty="0"/>
              <a:t>        </a:t>
            </a:r>
            <a:r>
              <a:rPr lang="en-US" altLang="zh-CN" sz="2500" b="1" dirty="0">
                <a:solidFill>
                  <a:srgbClr val="2239A8"/>
                </a:solidFill>
              </a:rPr>
              <a:t>this</a:t>
            </a:r>
            <a:r>
              <a:rPr lang="en-US" altLang="zh-CN" sz="2500" dirty="0">
                <a:solidFill>
                  <a:srgbClr val="000000"/>
                </a:solidFill>
              </a:rPr>
              <a:t>.name = name; </a:t>
            </a:r>
          </a:p>
          <a:p>
            <a:pPr marL="0" indent="0">
              <a:buNone/>
            </a:pPr>
            <a:r>
              <a:rPr lang="en-US" altLang="zh-CN" sz="2500" dirty="0"/>
              <a:t>        </a:t>
            </a:r>
            <a:r>
              <a:rPr lang="en-US" altLang="zh-CN" sz="2500" b="1" dirty="0" err="1">
                <a:solidFill>
                  <a:srgbClr val="2239A8"/>
                </a:solidFill>
              </a:rPr>
              <a:t>this</a:t>
            </a:r>
            <a:r>
              <a:rPr lang="en-US" altLang="zh-CN" sz="2500" dirty="0" err="1">
                <a:solidFill>
                  <a:srgbClr val="000000"/>
                </a:solidFill>
              </a:rPr>
              <a:t>.rating</a:t>
            </a:r>
            <a:r>
              <a:rPr lang="en-US" altLang="zh-CN" sz="2500" dirty="0">
                <a:solidFill>
                  <a:srgbClr val="000000"/>
                </a:solidFill>
              </a:rPr>
              <a:t> = rating; </a:t>
            </a:r>
          </a:p>
          <a:p>
            <a:pPr marL="0" indent="0">
              <a:buNone/>
            </a:pPr>
            <a:r>
              <a:rPr lang="en-US" altLang="zh-CN" sz="2500" dirty="0"/>
              <a:t>        </a:t>
            </a:r>
            <a:r>
              <a:rPr lang="en-US" altLang="zh-CN" sz="2500" b="1" dirty="0" err="1">
                <a:solidFill>
                  <a:srgbClr val="2239A8"/>
                </a:solidFill>
              </a:rPr>
              <a:t>this</a:t>
            </a:r>
            <a:r>
              <a:rPr lang="en-US" altLang="zh-CN" sz="2500" dirty="0" err="1">
                <a:solidFill>
                  <a:srgbClr val="000000"/>
                </a:solidFill>
              </a:rPr>
              <a:t>.year</a:t>
            </a:r>
            <a:r>
              <a:rPr lang="en-US" altLang="zh-CN" sz="2500" dirty="0">
                <a:solidFill>
                  <a:srgbClr val="000000"/>
                </a:solidFill>
              </a:rPr>
              <a:t> = year; </a:t>
            </a:r>
          </a:p>
          <a:p>
            <a:pPr marL="0" indent="0">
              <a:buNone/>
            </a:pPr>
            <a:r>
              <a:rPr lang="zh-CN" altLang="en-US" sz="2500" dirty="0"/>
              <a:t>    </a:t>
            </a:r>
            <a:r>
              <a:rPr lang="en-US" altLang="zh-CN" sz="2500" dirty="0">
                <a:solidFill>
                  <a:srgbClr val="000000"/>
                </a:solidFill>
              </a:rPr>
              <a:t>} </a:t>
            </a:r>
          </a:p>
          <a:p>
            <a:pPr marL="0" indent="0">
              <a:buNone/>
            </a:pPr>
            <a:r>
              <a:rPr lang="zh-CN" altLang="en-US" sz="2500" dirty="0"/>
              <a:t>  </a:t>
            </a:r>
          </a:p>
          <a:p>
            <a:pPr marL="0" indent="0">
              <a:buNone/>
            </a:pPr>
            <a:r>
              <a:rPr lang="en-US" altLang="zh-CN" sz="2500" dirty="0"/>
              <a:t>    </a:t>
            </a:r>
            <a:r>
              <a:rPr lang="en-US" altLang="zh-CN" sz="2500" dirty="0">
                <a:solidFill>
                  <a:srgbClr val="558817"/>
                </a:solidFill>
              </a:rPr>
              <a:t>// Getter methods for accessing private data </a:t>
            </a:r>
          </a:p>
          <a:p>
            <a:pPr marL="0" indent="0">
              <a:buNone/>
            </a:pPr>
            <a:r>
              <a:rPr lang="en-US" altLang="zh-CN" sz="2500" dirty="0">
                <a:highlight>
                  <a:srgbClr val="FFFF00"/>
                </a:highlight>
              </a:rPr>
              <a:t>    </a:t>
            </a:r>
            <a:r>
              <a:rPr lang="en-US" altLang="zh-CN" sz="2500" b="1" dirty="0">
                <a:solidFill>
                  <a:srgbClr val="2239A8"/>
                </a:solidFill>
                <a:highlight>
                  <a:srgbClr val="FFFF00"/>
                </a:highlight>
              </a:rPr>
              <a:t>public double</a:t>
            </a:r>
            <a:r>
              <a:rPr lang="en-US" altLang="zh-CN" sz="2500" dirty="0">
                <a:solidFill>
                  <a:srgbClr val="2239A8"/>
                </a:solidFill>
                <a:highlight>
                  <a:srgbClr val="FFFF00"/>
                </a:highlight>
              </a:rPr>
              <a:t> </a:t>
            </a:r>
            <a:r>
              <a:rPr lang="en-US" altLang="zh-CN" sz="2500" dirty="0" err="1">
                <a:solidFill>
                  <a:srgbClr val="A8227B"/>
                </a:solidFill>
                <a:highlight>
                  <a:srgbClr val="FFFF00"/>
                </a:highlight>
              </a:rPr>
              <a:t>getRating</a:t>
            </a:r>
            <a:r>
              <a:rPr lang="en-US" altLang="zh-CN" sz="2500" dirty="0">
                <a:solidFill>
                  <a:srgbClr val="000000"/>
                </a:solidFill>
                <a:highlight>
                  <a:srgbClr val="FFFF00"/>
                </a:highlight>
              </a:rPr>
              <a:t>() { </a:t>
            </a:r>
            <a:r>
              <a:rPr lang="en-US" altLang="zh-CN" sz="2500" b="1" dirty="0">
                <a:solidFill>
                  <a:srgbClr val="2239A8"/>
                </a:solidFill>
                <a:highlight>
                  <a:srgbClr val="FFFF00"/>
                </a:highlight>
              </a:rPr>
              <a:t>return</a:t>
            </a:r>
            <a:r>
              <a:rPr lang="en-US" altLang="zh-CN" sz="2500" dirty="0">
                <a:solidFill>
                  <a:srgbClr val="2239A8"/>
                </a:solidFill>
                <a:highlight>
                  <a:srgbClr val="FFFF00"/>
                </a:highlight>
              </a:rPr>
              <a:t> </a:t>
            </a:r>
            <a:r>
              <a:rPr lang="en-US" altLang="zh-CN" sz="2500" dirty="0">
                <a:solidFill>
                  <a:srgbClr val="000000"/>
                </a:solidFill>
                <a:highlight>
                  <a:srgbClr val="FFFF00"/>
                </a:highlight>
              </a:rPr>
              <a:t>rating; } </a:t>
            </a:r>
          </a:p>
          <a:p>
            <a:pPr marL="0" indent="0">
              <a:buNone/>
            </a:pPr>
            <a:r>
              <a:rPr lang="en-US" altLang="zh-CN" sz="2500" dirty="0">
                <a:highlight>
                  <a:srgbClr val="FFFF00"/>
                </a:highlight>
              </a:rPr>
              <a:t>    </a:t>
            </a:r>
            <a:r>
              <a:rPr lang="en-US" altLang="zh-CN" sz="2500" b="1" dirty="0">
                <a:solidFill>
                  <a:srgbClr val="2239A8"/>
                </a:solidFill>
                <a:highlight>
                  <a:srgbClr val="FFFF00"/>
                </a:highlight>
              </a:rPr>
              <a:t>public</a:t>
            </a:r>
            <a:r>
              <a:rPr lang="en-US" altLang="zh-CN" sz="2500" dirty="0">
                <a:solidFill>
                  <a:srgbClr val="2239A8"/>
                </a:solidFill>
                <a:highlight>
                  <a:srgbClr val="FFFF00"/>
                </a:highlight>
              </a:rPr>
              <a:t> </a:t>
            </a:r>
            <a:r>
              <a:rPr lang="en-US" altLang="zh-CN" sz="2500" dirty="0">
                <a:solidFill>
                  <a:srgbClr val="000000"/>
                </a:solidFill>
                <a:highlight>
                  <a:srgbClr val="FFFF00"/>
                </a:highlight>
              </a:rPr>
              <a:t>String </a:t>
            </a:r>
            <a:r>
              <a:rPr lang="en-US" altLang="zh-CN" sz="2500" dirty="0" err="1">
                <a:solidFill>
                  <a:srgbClr val="A8227B"/>
                </a:solidFill>
                <a:highlight>
                  <a:srgbClr val="FFFF00"/>
                </a:highlight>
              </a:rPr>
              <a:t>getName</a:t>
            </a:r>
            <a:r>
              <a:rPr lang="en-US" altLang="zh-CN" sz="2500" dirty="0">
                <a:solidFill>
                  <a:srgbClr val="000000"/>
                </a:solidFill>
                <a:highlight>
                  <a:srgbClr val="FFFF00"/>
                </a:highlight>
              </a:rPr>
              <a:t>()   {  </a:t>
            </a:r>
            <a:r>
              <a:rPr lang="en-US" altLang="zh-CN" sz="2500" b="1" dirty="0">
                <a:solidFill>
                  <a:srgbClr val="2239A8"/>
                </a:solidFill>
                <a:highlight>
                  <a:srgbClr val="FFFF00"/>
                </a:highlight>
              </a:rPr>
              <a:t>return</a:t>
            </a:r>
            <a:r>
              <a:rPr lang="en-US" altLang="zh-CN" sz="2500" dirty="0">
                <a:solidFill>
                  <a:srgbClr val="2239A8"/>
                </a:solidFill>
                <a:highlight>
                  <a:srgbClr val="FFFF00"/>
                </a:highlight>
              </a:rPr>
              <a:t> </a:t>
            </a:r>
            <a:r>
              <a:rPr lang="en-US" altLang="zh-CN" sz="2500" dirty="0">
                <a:solidFill>
                  <a:srgbClr val="000000"/>
                </a:solidFill>
                <a:highlight>
                  <a:srgbClr val="FFFF00"/>
                </a:highlight>
              </a:rPr>
              <a:t>name; } </a:t>
            </a:r>
          </a:p>
          <a:p>
            <a:pPr marL="0" indent="0">
              <a:buNone/>
            </a:pPr>
            <a:r>
              <a:rPr lang="en-US" altLang="zh-CN" sz="2500" dirty="0">
                <a:highlight>
                  <a:srgbClr val="FFFF00"/>
                </a:highlight>
              </a:rPr>
              <a:t>    </a:t>
            </a:r>
            <a:r>
              <a:rPr lang="en-US" altLang="zh-CN" sz="2500" b="1" dirty="0">
                <a:solidFill>
                  <a:srgbClr val="2239A8"/>
                </a:solidFill>
                <a:highlight>
                  <a:srgbClr val="FFFF00"/>
                </a:highlight>
              </a:rPr>
              <a:t>public int</a:t>
            </a:r>
            <a:r>
              <a:rPr lang="en-US" altLang="zh-CN" sz="2500" dirty="0">
                <a:solidFill>
                  <a:srgbClr val="2239A8"/>
                </a:solidFill>
                <a:highlight>
                  <a:srgbClr val="FFFF00"/>
                </a:highlight>
              </a:rPr>
              <a:t> </a:t>
            </a:r>
            <a:r>
              <a:rPr lang="en-US" altLang="zh-CN" sz="2500" dirty="0" err="1">
                <a:solidFill>
                  <a:srgbClr val="A8227B"/>
                </a:solidFill>
                <a:highlight>
                  <a:srgbClr val="FFFF00"/>
                </a:highlight>
              </a:rPr>
              <a:t>getYear</a:t>
            </a:r>
            <a:r>
              <a:rPr lang="en-US" altLang="zh-CN" sz="2500" dirty="0">
                <a:solidFill>
                  <a:srgbClr val="000000"/>
                </a:solidFill>
                <a:highlight>
                  <a:srgbClr val="FFFF00"/>
                </a:highlight>
              </a:rPr>
              <a:t>()      {  </a:t>
            </a:r>
            <a:r>
              <a:rPr lang="en-US" altLang="zh-CN" sz="2500" b="1" dirty="0">
                <a:solidFill>
                  <a:srgbClr val="2239A8"/>
                </a:solidFill>
                <a:highlight>
                  <a:srgbClr val="FFFF00"/>
                </a:highlight>
              </a:rPr>
              <a:t>return</a:t>
            </a:r>
            <a:r>
              <a:rPr lang="en-US" altLang="zh-CN" sz="2500" dirty="0">
                <a:solidFill>
                  <a:srgbClr val="2239A8"/>
                </a:solidFill>
                <a:highlight>
                  <a:srgbClr val="FFFF00"/>
                </a:highlight>
              </a:rPr>
              <a:t> </a:t>
            </a:r>
            <a:r>
              <a:rPr lang="en-US" altLang="zh-CN" sz="2500" dirty="0">
                <a:solidFill>
                  <a:srgbClr val="000000"/>
                </a:solidFill>
                <a:highlight>
                  <a:srgbClr val="FFFF00"/>
                </a:highlight>
              </a:rPr>
              <a:t>year;  } </a:t>
            </a:r>
          </a:p>
          <a:p>
            <a:pPr marL="0" indent="0">
              <a:buNone/>
            </a:pPr>
            <a:r>
              <a:rPr lang="zh-CN" altLang="en-US" sz="2500" dirty="0"/>
              <a:t>    </a:t>
            </a:r>
          </a:p>
          <a:p>
            <a:pPr marL="0" indent="0">
              <a:buNone/>
            </a:pPr>
            <a:r>
              <a:rPr lang="en-US" altLang="zh-CN" sz="2500" dirty="0">
                <a:solidFill>
                  <a:srgbClr val="000000"/>
                </a:solidFill>
              </a:rPr>
              <a:t>} </a:t>
            </a:r>
          </a:p>
          <a:p>
            <a:pPr marL="0" indent="0">
              <a:buNone/>
            </a:pPr>
            <a:endParaRPr lang="en-US" altLang="zh-CN" sz="2800" dirty="0">
              <a:solidFill>
                <a:srgbClr val="000000"/>
              </a:solidFill>
            </a:endParaRPr>
          </a:p>
          <a:p>
            <a:r>
              <a:rPr lang="en-US" altLang="zh-CN" sz="3300" dirty="0" err="1">
                <a:solidFill>
                  <a:srgbClr val="000000"/>
                </a:solidFill>
              </a:rPr>
              <a:t>ArrayList</a:t>
            </a:r>
            <a:r>
              <a:rPr lang="en-US" altLang="zh-CN" sz="3300" dirty="0">
                <a:solidFill>
                  <a:srgbClr val="000000"/>
                </a:solidFill>
              </a:rPr>
              <a:t>&lt;Movie&gt; </a:t>
            </a:r>
            <a:r>
              <a:rPr lang="en-US" altLang="zh-CN" sz="3300" dirty="0" err="1">
                <a:solidFill>
                  <a:srgbClr val="000000"/>
                </a:solidFill>
              </a:rPr>
              <a:t>movieList</a:t>
            </a:r>
            <a:r>
              <a:rPr lang="en-US" altLang="zh-CN" sz="3300" dirty="0">
                <a:solidFill>
                  <a:srgbClr val="000000"/>
                </a:solidFill>
              </a:rPr>
              <a:t> = </a:t>
            </a:r>
            <a:r>
              <a:rPr lang="en-US" altLang="zh-CN" sz="3300" b="1" dirty="0">
                <a:solidFill>
                  <a:srgbClr val="2239A8"/>
                </a:solidFill>
              </a:rPr>
              <a:t>new</a:t>
            </a:r>
            <a:r>
              <a:rPr lang="en-US" altLang="zh-CN" sz="3300" dirty="0">
                <a:solidFill>
                  <a:srgbClr val="2239A8"/>
                </a:solidFill>
              </a:rPr>
              <a:t> </a:t>
            </a:r>
            <a:r>
              <a:rPr lang="en-US" altLang="zh-CN" sz="3300" dirty="0" err="1">
                <a:solidFill>
                  <a:srgbClr val="000000"/>
                </a:solidFill>
              </a:rPr>
              <a:t>ArrayList</a:t>
            </a:r>
            <a:r>
              <a:rPr lang="en-US" altLang="zh-CN" sz="3300" dirty="0">
                <a:solidFill>
                  <a:srgbClr val="000000"/>
                </a:solidFill>
              </a:rPr>
              <a:t>&lt;Movie&gt;(); </a:t>
            </a:r>
          </a:p>
          <a:p>
            <a:r>
              <a:rPr lang="en-US" altLang="zh-CN" sz="3300" dirty="0" err="1">
                <a:solidFill>
                  <a:srgbClr val="000000"/>
                </a:solidFill>
              </a:rPr>
              <a:t>list.</a:t>
            </a:r>
            <a:r>
              <a:rPr lang="en-US" altLang="zh-CN" sz="3300" dirty="0" err="1">
                <a:solidFill>
                  <a:srgbClr val="A8227B"/>
                </a:solidFill>
              </a:rPr>
              <a:t>sort</a:t>
            </a:r>
            <a:r>
              <a:rPr lang="en-US" altLang="zh-CN" sz="3300" dirty="0">
                <a:solidFill>
                  <a:srgbClr val="000000"/>
                </a:solidFill>
              </a:rPr>
              <a:t>(</a:t>
            </a:r>
            <a:r>
              <a:rPr lang="en-US" altLang="zh-CN" sz="3300" dirty="0" err="1">
                <a:solidFill>
                  <a:srgbClr val="000000"/>
                </a:solidFill>
              </a:rPr>
              <a:t>Comparator.</a:t>
            </a:r>
            <a:r>
              <a:rPr lang="en-US" altLang="zh-CN" sz="3300" dirty="0" err="1">
                <a:solidFill>
                  <a:srgbClr val="A8227B"/>
                </a:solidFill>
              </a:rPr>
              <a:t>comparing</a:t>
            </a:r>
            <a:r>
              <a:rPr lang="en-US" altLang="zh-CN" sz="3300" dirty="0">
                <a:solidFill>
                  <a:srgbClr val="000000"/>
                </a:solidFill>
              </a:rPr>
              <a:t>(Movie::</a:t>
            </a:r>
            <a:r>
              <a:rPr lang="en-US" altLang="zh-CN" sz="3300" dirty="0" err="1">
                <a:solidFill>
                  <a:srgbClr val="000000"/>
                </a:solidFill>
              </a:rPr>
              <a:t>getRating</a:t>
            </a:r>
            <a:r>
              <a:rPr lang="en-US" altLang="zh-CN" sz="3300" dirty="0">
                <a:solidFill>
                  <a:srgbClr val="000000"/>
                </a:solidFill>
              </a:rPr>
              <a:t>));</a:t>
            </a:r>
          </a:p>
          <a:p>
            <a:r>
              <a:rPr lang="en-US" altLang="zh-CN" sz="3300" dirty="0" err="1">
                <a:solidFill>
                  <a:srgbClr val="000000"/>
                </a:solidFill>
              </a:rPr>
              <a:t>list.</a:t>
            </a:r>
            <a:r>
              <a:rPr lang="en-US" altLang="zh-CN" sz="3300" dirty="0" err="1">
                <a:solidFill>
                  <a:srgbClr val="A8227B"/>
                </a:solidFill>
              </a:rPr>
              <a:t>sort</a:t>
            </a:r>
            <a:r>
              <a:rPr lang="en-US" altLang="zh-CN" sz="3300" dirty="0">
                <a:solidFill>
                  <a:srgbClr val="000000"/>
                </a:solidFill>
              </a:rPr>
              <a:t>(</a:t>
            </a:r>
            <a:r>
              <a:rPr lang="en-US" altLang="zh-CN" sz="3300" dirty="0" err="1">
                <a:solidFill>
                  <a:srgbClr val="000000"/>
                </a:solidFill>
              </a:rPr>
              <a:t>Comparator.</a:t>
            </a:r>
            <a:r>
              <a:rPr lang="en-US" altLang="zh-CN" sz="3300" dirty="0" err="1">
                <a:solidFill>
                  <a:srgbClr val="A8227B"/>
                </a:solidFill>
              </a:rPr>
              <a:t>comparing</a:t>
            </a:r>
            <a:r>
              <a:rPr lang="en-US" altLang="zh-CN" sz="3300" dirty="0">
                <a:solidFill>
                  <a:srgbClr val="000000"/>
                </a:solidFill>
              </a:rPr>
              <a:t>(Movie::</a:t>
            </a:r>
            <a:r>
              <a:rPr lang="en-US" altLang="zh-CN" sz="3300" dirty="0" err="1">
                <a:solidFill>
                  <a:srgbClr val="000000"/>
                </a:solidFill>
              </a:rPr>
              <a:t>getName</a:t>
            </a:r>
            <a:r>
              <a:rPr lang="en-US" altLang="zh-CN" sz="3300" dirty="0">
                <a:solidFill>
                  <a:srgbClr val="000000"/>
                </a:solidFill>
              </a:rPr>
              <a:t>));</a:t>
            </a:r>
          </a:p>
          <a:p>
            <a:r>
              <a:rPr lang="en-US" altLang="zh-CN" sz="3300" dirty="0" err="1">
                <a:solidFill>
                  <a:srgbClr val="000000"/>
                </a:solidFill>
              </a:rPr>
              <a:t>list.</a:t>
            </a:r>
            <a:r>
              <a:rPr lang="en-US" altLang="zh-CN" sz="3300" dirty="0" err="1">
                <a:solidFill>
                  <a:srgbClr val="A8227B"/>
                </a:solidFill>
              </a:rPr>
              <a:t>sort</a:t>
            </a:r>
            <a:r>
              <a:rPr lang="en-US" altLang="zh-CN" sz="3300" dirty="0">
                <a:solidFill>
                  <a:srgbClr val="000000"/>
                </a:solidFill>
              </a:rPr>
              <a:t>(</a:t>
            </a:r>
            <a:r>
              <a:rPr lang="en-US" altLang="zh-CN" sz="3300" dirty="0" err="1">
                <a:solidFill>
                  <a:srgbClr val="000000"/>
                </a:solidFill>
              </a:rPr>
              <a:t>Comparator.</a:t>
            </a:r>
            <a:r>
              <a:rPr lang="en-US" altLang="zh-CN" sz="3300" dirty="0" err="1">
                <a:solidFill>
                  <a:srgbClr val="A8227B"/>
                </a:solidFill>
              </a:rPr>
              <a:t>comparing</a:t>
            </a:r>
            <a:r>
              <a:rPr lang="en-US" altLang="zh-CN" sz="3300" dirty="0">
                <a:solidFill>
                  <a:srgbClr val="000000"/>
                </a:solidFill>
              </a:rPr>
              <a:t>(Movie::</a:t>
            </a:r>
            <a:r>
              <a:rPr lang="en-US" altLang="zh-CN" sz="3300" dirty="0" err="1">
                <a:solidFill>
                  <a:srgbClr val="000000"/>
                </a:solidFill>
              </a:rPr>
              <a:t>getYear</a:t>
            </a:r>
            <a:r>
              <a:rPr lang="en-US" altLang="zh-CN" sz="3300" dirty="0">
                <a:solidFill>
                  <a:srgbClr val="000000"/>
                </a:solidFill>
              </a:rPr>
              <a:t>)); </a:t>
            </a:r>
            <a:endParaRPr lang="en-US" altLang="zh-CN" sz="3300" dirty="0">
              <a:solidFill>
                <a:srgbClr val="558817"/>
              </a:solidFill>
            </a:endParaRPr>
          </a:p>
          <a:p>
            <a:r>
              <a:rPr lang="en-US" altLang="zh-CN" sz="3300" dirty="0">
                <a:solidFill>
                  <a:srgbClr val="000000"/>
                </a:solidFill>
              </a:rPr>
              <a:t> </a:t>
            </a:r>
            <a:endParaRPr lang="zh-CN" altLang="en-US" sz="3300" dirty="0"/>
          </a:p>
          <a:p>
            <a:endParaRPr lang="en-US" altLang="zh-CN" sz="3300" dirty="0">
              <a:solidFill>
                <a:srgbClr val="000000"/>
              </a:solidFill>
            </a:endParaRPr>
          </a:p>
          <a:p>
            <a:endParaRPr lang="en-US" altLang="zh-CN" sz="3300" dirty="0">
              <a:solidFill>
                <a:srgbClr val="000000"/>
              </a:solidFill>
            </a:endParaRPr>
          </a:p>
          <a:p>
            <a:endParaRPr lang="en-US" altLang="zh-CN" sz="3300" dirty="0">
              <a:solidFill>
                <a:srgbClr val="558817"/>
              </a:solidFill>
            </a:endParaRPr>
          </a:p>
          <a:p>
            <a:endParaRPr lang="zh-CN" altLang="en-US" dirty="0"/>
          </a:p>
        </p:txBody>
      </p:sp>
      <p:sp>
        <p:nvSpPr>
          <p:cNvPr id="3" name="标题 2">
            <a:extLst>
              <a:ext uri="{FF2B5EF4-FFF2-40B4-BE49-F238E27FC236}">
                <a16:creationId xmlns:a16="http://schemas.microsoft.com/office/drawing/2014/main" id="{A3F7C3B1-ECAA-4F79-9DEF-4C1CCFF6124A}"/>
              </a:ext>
            </a:extLst>
          </p:cNvPr>
          <p:cNvSpPr>
            <a:spLocks noGrp="1"/>
          </p:cNvSpPr>
          <p:nvPr>
            <p:ph type="title"/>
          </p:nvPr>
        </p:nvSpPr>
        <p:spPr/>
        <p:txBody>
          <a:bodyPr/>
          <a:lstStyle/>
          <a:p>
            <a:r>
              <a:rPr lang="en-US" altLang="zh-CN" sz="2800" dirty="0"/>
              <a:t>Java 8 without Lambda: Method Reference Comparator</a:t>
            </a:r>
            <a:endParaRPr lang="zh-CN" altLang="en-US" sz="2800" dirty="0"/>
          </a:p>
        </p:txBody>
      </p:sp>
      <p:sp>
        <p:nvSpPr>
          <p:cNvPr id="4" name="日期占位符 3">
            <a:extLst>
              <a:ext uri="{FF2B5EF4-FFF2-40B4-BE49-F238E27FC236}">
                <a16:creationId xmlns:a16="http://schemas.microsoft.com/office/drawing/2014/main" id="{2A5BF7F0-655F-43A3-9BB9-890C8D86B464}"/>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AB477C9D-4213-4B67-A297-73A2F3C9EFF1}"/>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06534984-1EC1-479D-B725-3FB8C90D69BD}"/>
              </a:ext>
            </a:extLst>
          </p:cNvPr>
          <p:cNvSpPr>
            <a:spLocks noGrp="1"/>
          </p:cNvSpPr>
          <p:nvPr>
            <p:ph type="sldNum" sz="quarter" idx="4"/>
          </p:nvPr>
        </p:nvSpPr>
        <p:spPr/>
        <p:txBody>
          <a:bodyPr/>
          <a:lstStyle/>
          <a:p>
            <a:fld id="{19B12225-5612-419B-A8D5-4B8EEE4C217E}" type="slidenum">
              <a:rPr lang="en-US" smtClean="0"/>
              <a:pPr/>
              <a:t>24</a:t>
            </a:fld>
            <a:endParaRPr lang="en-US" dirty="0"/>
          </a:p>
        </p:txBody>
      </p:sp>
    </p:spTree>
    <p:extLst>
      <p:ext uri="{BB962C8B-B14F-4D97-AF65-F5344CB8AC3E}">
        <p14:creationId xmlns:p14="http://schemas.microsoft.com/office/powerpoint/2010/main" val="1594050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A8D7151-FD38-4B0F-88F7-DDC4E86E6407}"/>
              </a:ext>
            </a:extLst>
          </p:cNvPr>
          <p:cNvSpPr>
            <a:spLocks noGrp="1"/>
          </p:cNvSpPr>
          <p:nvPr>
            <p:ph idx="1"/>
          </p:nvPr>
        </p:nvSpPr>
        <p:spPr/>
        <p:txBody>
          <a:bodyPr/>
          <a:lstStyle/>
          <a:p>
            <a:r>
              <a:rPr lang="en-US" altLang="zh-CN" sz="2000" dirty="0">
                <a:solidFill>
                  <a:srgbClr val="000000"/>
                </a:solidFill>
              </a:rPr>
              <a:t>Using Lambda expressions</a:t>
            </a:r>
          </a:p>
          <a:p>
            <a:r>
              <a:rPr lang="en-US" altLang="zh-CN" sz="2000" dirty="0" err="1">
                <a:solidFill>
                  <a:srgbClr val="000000"/>
                </a:solidFill>
              </a:rPr>
              <a:t>list.</a:t>
            </a:r>
            <a:r>
              <a:rPr lang="en-US" altLang="zh-CN" sz="2000" dirty="0" err="1">
                <a:solidFill>
                  <a:srgbClr val="A8227B"/>
                </a:solidFill>
              </a:rPr>
              <a:t>sort</a:t>
            </a:r>
            <a:r>
              <a:rPr lang="en-US" altLang="zh-CN" sz="2000" dirty="0">
                <a:solidFill>
                  <a:srgbClr val="000000"/>
                </a:solidFill>
              </a:rPr>
              <a:t>(</a:t>
            </a:r>
            <a:r>
              <a:rPr lang="en-US" altLang="zh-CN" sz="2000" dirty="0" err="1">
                <a:solidFill>
                  <a:srgbClr val="000000"/>
                </a:solidFill>
              </a:rPr>
              <a:t>Comparator.</a:t>
            </a:r>
            <a:r>
              <a:rPr lang="en-US" altLang="zh-CN" sz="2000" dirty="0" err="1">
                <a:solidFill>
                  <a:srgbClr val="A8227B"/>
                </a:solidFill>
              </a:rPr>
              <a:t>comparing</a:t>
            </a:r>
            <a:r>
              <a:rPr lang="en-US" altLang="zh-CN" sz="2000" dirty="0">
                <a:solidFill>
                  <a:srgbClr val="000000"/>
                </a:solidFill>
              </a:rPr>
              <a:t>(e -&gt; </a:t>
            </a:r>
            <a:r>
              <a:rPr lang="en-US" altLang="zh-CN" sz="2000" dirty="0" err="1">
                <a:solidFill>
                  <a:srgbClr val="000000"/>
                </a:solidFill>
              </a:rPr>
              <a:t>e.</a:t>
            </a:r>
            <a:r>
              <a:rPr lang="en-US" altLang="zh-CN" sz="2000" dirty="0" err="1">
                <a:solidFill>
                  <a:srgbClr val="A8227B"/>
                </a:solidFill>
              </a:rPr>
              <a:t>getRating</a:t>
            </a:r>
            <a:r>
              <a:rPr lang="en-US" altLang="zh-CN" sz="2000" dirty="0">
                <a:solidFill>
                  <a:srgbClr val="000000"/>
                </a:solidFill>
              </a:rPr>
              <a:t>())); </a:t>
            </a:r>
          </a:p>
          <a:p>
            <a:endParaRPr lang="en-US" altLang="zh-CN" sz="2000" dirty="0">
              <a:solidFill>
                <a:srgbClr val="000000"/>
              </a:solidFill>
            </a:endParaRPr>
          </a:p>
          <a:p>
            <a:r>
              <a:rPr lang="en-US" altLang="zh-CN" sz="2000" dirty="0">
                <a:solidFill>
                  <a:srgbClr val="000000"/>
                </a:solidFill>
              </a:rPr>
              <a:t>Equivalent to</a:t>
            </a:r>
          </a:p>
          <a:p>
            <a:r>
              <a:rPr lang="en-US" altLang="zh-CN" sz="2000" dirty="0" err="1">
                <a:solidFill>
                  <a:srgbClr val="000000"/>
                </a:solidFill>
              </a:rPr>
              <a:t>list.</a:t>
            </a:r>
            <a:r>
              <a:rPr lang="en-US" altLang="zh-CN" sz="2000" dirty="0" err="1">
                <a:solidFill>
                  <a:srgbClr val="A8227B"/>
                </a:solidFill>
              </a:rPr>
              <a:t>sort</a:t>
            </a:r>
            <a:r>
              <a:rPr lang="en-US" altLang="zh-CN" sz="2000" dirty="0">
                <a:solidFill>
                  <a:srgbClr val="000000"/>
                </a:solidFill>
              </a:rPr>
              <a:t>(</a:t>
            </a:r>
            <a:r>
              <a:rPr lang="en-US" altLang="zh-CN" sz="2000" dirty="0" err="1">
                <a:solidFill>
                  <a:srgbClr val="000000"/>
                </a:solidFill>
              </a:rPr>
              <a:t>Comparator.</a:t>
            </a:r>
            <a:r>
              <a:rPr lang="en-US" altLang="zh-CN" sz="2000" dirty="0" err="1">
                <a:solidFill>
                  <a:srgbClr val="A8227B"/>
                </a:solidFill>
              </a:rPr>
              <a:t>comparing</a:t>
            </a:r>
            <a:r>
              <a:rPr lang="en-US" altLang="zh-CN" sz="2000" dirty="0">
                <a:solidFill>
                  <a:srgbClr val="000000"/>
                </a:solidFill>
              </a:rPr>
              <a:t>(Movie::</a:t>
            </a:r>
            <a:r>
              <a:rPr lang="en-US" altLang="zh-CN" sz="2000" dirty="0" err="1">
                <a:solidFill>
                  <a:srgbClr val="000000"/>
                </a:solidFill>
              </a:rPr>
              <a:t>getRating</a:t>
            </a:r>
            <a:r>
              <a:rPr lang="en-US" altLang="zh-CN" sz="2000" dirty="0">
                <a:solidFill>
                  <a:srgbClr val="000000"/>
                </a:solidFill>
              </a:rPr>
              <a:t>));</a:t>
            </a:r>
          </a:p>
          <a:p>
            <a:endParaRPr lang="en-US" altLang="zh-CN" sz="2000" dirty="0">
              <a:solidFill>
                <a:srgbClr val="000000"/>
              </a:solidFill>
            </a:endParaRPr>
          </a:p>
          <a:p>
            <a:endParaRPr lang="en-US" altLang="zh-CN" sz="2000" dirty="0">
              <a:solidFill>
                <a:srgbClr val="000000"/>
              </a:solidFill>
            </a:endParaRPr>
          </a:p>
          <a:p>
            <a:r>
              <a:rPr lang="en-US" altLang="zh-CN" sz="2000" dirty="0">
                <a:solidFill>
                  <a:srgbClr val="000000"/>
                </a:solidFill>
              </a:rPr>
              <a:t>Flexible, can easily change your comparison requirements:</a:t>
            </a:r>
          </a:p>
          <a:p>
            <a:r>
              <a:rPr lang="en-US" altLang="zh-CN" sz="2000" dirty="0" err="1">
                <a:solidFill>
                  <a:srgbClr val="000000"/>
                </a:solidFill>
              </a:rPr>
              <a:t>list.</a:t>
            </a:r>
            <a:r>
              <a:rPr lang="en-US" altLang="zh-CN" sz="2000" dirty="0" err="1">
                <a:solidFill>
                  <a:srgbClr val="A8227B"/>
                </a:solidFill>
              </a:rPr>
              <a:t>sort</a:t>
            </a:r>
            <a:r>
              <a:rPr lang="en-US" altLang="zh-CN" sz="2000" dirty="0">
                <a:solidFill>
                  <a:srgbClr val="000000"/>
                </a:solidFill>
              </a:rPr>
              <a:t>(</a:t>
            </a:r>
            <a:r>
              <a:rPr lang="en-US" altLang="zh-CN" sz="2000" dirty="0" err="1">
                <a:solidFill>
                  <a:srgbClr val="000000"/>
                </a:solidFill>
              </a:rPr>
              <a:t>Comparator.</a:t>
            </a:r>
            <a:r>
              <a:rPr lang="en-US" altLang="zh-CN" sz="2000" dirty="0" err="1">
                <a:solidFill>
                  <a:srgbClr val="A8227B"/>
                </a:solidFill>
              </a:rPr>
              <a:t>comparing</a:t>
            </a:r>
            <a:r>
              <a:rPr lang="en-US" altLang="zh-CN" sz="2000" dirty="0">
                <a:solidFill>
                  <a:srgbClr val="000000"/>
                </a:solidFill>
              </a:rPr>
              <a:t>(e -&gt; </a:t>
            </a:r>
            <a:r>
              <a:rPr lang="en-US" altLang="zh-CN" sz="2000" dirty="0" err="1">
                <a:solidFill>
                  <a:srgbClr val="000000"/>
                </a:solidFill>
              </a:rPr>
              <a:t>e.</a:t>
            </a:r>
            <a:r>
              <a:rPr lang="en-US" altLang="zh-CN" sz="2000" dirty="0" err="1">
                <a:solidFill>
                  <a:srgbClr val="A8227B"/>
                </a:solidFill>
              </a:rPr>
              <a:t>getName</a:t>
            </a:r>
            <a:r>
              <a:rPr lang="en-US" altLang="zh-CN" sz="2000" dirty="0">
                <a:solidFill>
                  <a:srgbClr val="000000"/>
                </a:solidFill>
              </a:rPr>
              <a:t>().</a:t>
            </a:r>
            <a:r>
              <a:rPr lang="en-US" altLang="zh-CN" sz="2000" dirty="0">
                <a:solidFill>
                  <a:srgbClr val="A8227B"/>
                </a:solidFill>
              </a:rPr>
              <a:t>length</a:t>
            </a:r>
            <a:r>
              <a:rPr lang="en-US" altLang="zh-CN" sz="2000" dirty="0">
                <a:solidFill>
                  <a:srgbClr val="000000"/>
                </a:solidFill>
              </a:rPr>
              <a:t>()));</a:t>
            </a:r>
          </a:p>
          <a:p>
            <a:endParaRPr lang="en-US" altLang="zh-CN" sz="2000" dirty="0">
              <a:solidFill>
                <a:srgbClr val="000000"/>
              </a:solidFill>
            </a:endParaRPr>
          </a:p>
          <a:p>
            <a:endParaRPr lang="en-US" altLang="zh-CN" sz="2000" dirty="0">
              <a:solidFill>
                <a:srgbClr val="000000"/>
              </a:solidFill>
            </a:endParaRPr>
          </a:p>
          <a:p>
            <a:r>
              <a:rPr lang="en-US" altLang="zh-CN" sz="2000" dirty="0" err="1">
                <a:solidFill>
                  <a:srgbClr val="000000"/>
                </a:solidFill>
              </a:rPr>
              <a:t>demofunctionalcomparator.MovieListLambdaComparartorSortApp</a:t>
            </a:r>
            <a:r>
              <a:rPr lang="en-US" altLang="zh-CN" sz="2000" dirty="0">
                <a:solidFill>
                  <a:srgbClr val="000000"/>
                </a:solidFill>
              </a:rPr>
              <a:t> </a:t>
            </a:r>
          </a:p>
          <a:p>
            <a:endParaRPr lang="en-US" altLang="zh-CN" sz="2000" dirty="0">
              <a:solidFill>
                <a:srgbClr val="000000"/>
              </a:solidFill>
            </a:endParaRPr>
          </a:p>
          <a:p>
            <a:endParaRPr lang="en-US" altLang="zh-CN" sz="2000" dirty="0">
              <a:solidFill>
                <a:srgbClr val="000000"/>
              </a:solidFill>
            </a:endParaRPr>
          </a:p>
          <a:p>
            <a:endParaRPr lang="zh-CN" altLang="en-US" dirty="0"/>
          </a:p>
        </p:txBody>
      </p:sp>
      <p:sp>
        <p:nvSpPr>
          <p:cNvPr id="3" name="标题 2">
            <a:extLst>
              <a:ext uri="{FF2B5EF4-FFF2-40B4-BE49-F238E27FC236}">
                <a16:creationId xmlns:a16="http://schemas.microsoft.com/office/drawing/2014/main" id="{0266AFC5-8533-4E84-BCA2-BF9EC88DB174}"/>
              </a:ext>
            </a:extLst>
          </p:cNvPr>
          <p:cNvSpPr>
            <a:spLocks noGrp="1"/>
          </p:cNvSpPr>
          <p:nvPr>
            <p:ph type="title"/>
          </p:nvPr>
        </p:nvSpPr>
        <p:spPr/>
        <p:txBody>
          <a:bodyPr/>
          <a:lstStyle/>
          <a:p>
            <a:r>
              <a:rPr lang="en-US" altLang="zh-CN" dirty="0"/>
              <a:t>Comparator using Lambda</a:t>
            </a:r>
            <a:endParaRPr lang="zh-CN" altLang="en-US" dirty="0"/>
          </a:p>
        </p:txBody>
      </p:sp>
      <p:sp>
        <p:nvSpPr>
          <p:cNvPr id="4" name="日期占位符 3">
            <a:extLst>
              <a:ext uri="{FF2B5EF4-FFF2-40B4-BE49-F238E27FC236}">
                <a16:creationId xmlns:a16="http://schemas.microsoft.com/office/drawing/2014/main" id="{51BA8580-4B47-4FA0-BDA5-87DED0222A6D}"/>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7BF6EC4F-CD54-47F8-B5C7-2415E52923FB}"/>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D85C63B4-D4AF-418C-9D7E-C853BAC6FCDB}"/>
              </a:ext>
            </a:extLst>
          </p:cNvPr>
          <p:cNvSpPr>
            <a:spLocks noGrp="1"/>
          </p:cNvSpPr>
          <p:nvPr>
            <p:ph type="sldNum" sz="quarter" idx="4"/>
          </p:nvPr>
        </p:nvSpPr>
        <p:spPr/>
        <p:txBody>
          <a:bodyPr/>
          <a:lstStyle/>
          <a:p>
            <a:fld id="{19B12225-5612-419B-A8D5-4B8EEE4C217E}" type="slidenum">
              <a:rPr lang="en-US" smtClean="0"/>
              <a:pPr/>
              <a:t>25</a:t>
            </a:fld>
            <a:endParaRPr lang="en-US" dirty="0"/>
          </a:p>
        </p:txBody>
      </p:sp>
    </p:spTree>
    <p:extLst>
      <p:ext uri="{BB962C8B-B14F-4D97-AF65-F5344CB8AC3E}">
        <p14:creationId xmlns:p14="http://schemas.microsoft.com/office/powerpoint/2010/main" val="4229787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36C020E-CFDA-43AC-8402-908EAB7773E8}"/>
              </a:ext>
            </a:extLst>
          </p:cNvPr>
          <p:cNvSpPr>
            <a:spLocks noGrp="1"/>
          </p:cNvSpPr>
          <p:nvPr>
            <p:ph idx="1"/>
          </p:nvPr>
        </p:nvSpPr>
        <p:spPr/>
        <p:txBody>
          <a:bodyPr/>
          <a:lstStyle/>
          <a:p>
            <a:r>
              <a:rPr lang="en-US" altLang="zh-CN" dirty="0">
                <a:solidFill>
                  <a:srgbClr val="000000"/>
                </a:solidFill>
              </a:rPr>
              <a:t>Example</a:t>
            </a:r>
          </a:p>
          <a:p>
            <a:pPr lvl="1"/>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((first, second) -&gt;</a:t>
            </a:r>
            <a:br>
              <a:rPr lang="en-US" altLang="zh-CN" dirty="0">
                <a:solidFill>
                  <a:srgbClr val="000000"/>
                </a:solidFill>
              </a:rPr>
            </a:br>
            <a:r>
              <a:rPr lang="en-US" altLang="zh-CN" dirty="0">
                <a:solidFill>
                  <a:srgbClr val="000000"/>
                </a:solidFill>
              </a:rPr>
              <a:t>     </a:t>
            </a:r>
            <a:r>
              <a:rPr lang="en-US" altLang="zh-CN" dirty="0" err="1">
                <a:solidFill>
                  <a:srgbClr val="000000"/>
                </a:solidFill>
              </a:rPr>
              <a:t>Double.</a:t>
            </a:r>
            <a:r>
              <a:rPr lang="en-US" altLang="zh-CN" dirty="0" err="1">
                <a:solidFill>
                  <a:srgbClr val="A8227B"/>
                </a:solidFill>
              </a:rPr>
              <a:t>compare</a:t>
            </a:r>
            <a:r>
              <a:rPr lang="en-US" altLang="zh-CN" dirty="0">
                <a:solidFill>
                  <a:srgbClr val="000000"/>
                </a:solidFill>
              </a:rPr>
              <a:t>(</a:t>
            </a:r>
            <a:r>
              <a:rPr lang="en-US" altLang="zh-CN" dirty="0" err="1">
                <a:solidFill>
                  <a:srgbClr val="000000"/>
                </a:solidFill>
              </a:rPr>
              <a:t>first.</a:t>
            </a:r>
            <a:r>
              <a:rPr lang="en-US" altLang="zh-CN" dirty="0" err="1">
                <a:solidFill>
                  <a:srgbClr val="A8227B"/>
                </a:solidFill>
              </a:rPr>
              <a:t>getRating</a:t>
            </a:r>
            <a:r>
              <a:rPr lang="en-US" altLang="zh-CN" dirty="0">
                <a:solidFill>
                  <a:srgbClr val="000000"/>
                </a:solidFill>
              </a:rPr>
              <a:t>(), </a:t>
            </a:r>
            <a:r>
              <a:rPr lang="en-US" altLang="zh-CN" dirty="0" err="1">
                <a:solidFill>
                  <a:srgbClr val="000000"/>
                </a:solidFill>
              </a:rPr>
              <a:t>second.</a:t>
            </a:r>
            <a:r>
              <a:rPr lang="en-US" altLang="zh-CN" dirty="0" err="1">
                <a:solidFill>
                  <a:srgbClr val="A8227B"/>
                </a:solidFill>
              </a:rPr>
              <a:t>getRating</a:t>
            </a:r>
            <a:r>
              <a:rPr lang="en-US" altLang="zh-CN" dirty="0">
                <a:solidFill>
                  <a:srgbClr val="000000"/>
                </a:solidFill>
              </a:rPr>
              <a:t>()));</a:t>
            </a:r>
          </a:p>
          <a:p>
            <a:pPr lvl="1"/>
            <a:endParaRPr lang="en-US" altLang="zh-CN" dirty="0">
              <a:solidFill>
                <a:srgbClr val="000000"/>
              </a:solidFill>
            </a:endParaRPr>
          </a:p>
          <a:p>
            <a:pPr lvl="1"/>
            <a:r>
              <a:rPr lang="en-US" altLang="zh-CN" dirty="0">
                <a:solidFill>
                  <a:srgbClr val="000000"/>
                </a:solidFill>
              </a:rPr>
              <a:t>The type of first</a:t>
            </a:r>
            <a:r>
              <a:rPr lang="zh-CN" altLang="en-US" dirty="0">
                <a:solidFill>
                  <a:srgbClr val="000000"/>
                </a:solidFill>
              </a:rPr>
              <a:t> </a:t>
            </a:r>
            <a:r>
              <a:rPr lang="en-US" altLang="zh-CN" dirty="0">
                <a:solidFill>
                  <a:srgbClr val="000000"/>
                </a:solidFill>
              </a:rPr>
              <a:t>and</a:t>
            </a:r>
            <a:r>
              <a:rPr lang="zh-CN" altLang="en-US" dirty="0">
                <a:solidFill>
                  <a:srgbClr val="000000"/>
                </a:solidFill>
              </a:rPr>
              <a:t> </a:t>
            </a:r>
            <a:r>
              <a:rPr lang="en-US" altLang="zh-CN" dirty="0">
                <a:solidFill>
                  <a:srgbClr val="000000"/>
                </a:solidFill>
              </a:rPr>
              <a:t>second can be inferred</a:t>
            </a:r>
          </a:p>
          <a:p>
            <a:pPr lvl="1"/>
            <a:endParaRPr lang="en-US" altLang="zh-CN" dirty="0">
              <a:solidFill>
                <a:srgbClr val="000000"/>
              </a:solidFill>
            </a:endParaRPr>
          </a:p>
          <a:p>
            <a:r>
              <a:rPr lang="en-US" altLang="zh-CN" dirty="0">
                <a:solidFill>
                  <a:srgbClr val="000000"/>
                </a:solidFill>
              </a:rPr>
              <a:t>Equivalent</a:t>
            </a:r>
            <a:r>
              <a:rPr lang="zh-CN" altLang="en-US" dirty="0">
                <a:solidFill>
                  <a:srgbClr val="000000"/>
                </a:solidFill>
              </a:rPr>
              <a:t> </a:t>
            </a:r>
            <a:r>
              <a:rPr lang="en-US" altLang="zh-CN" dirty="0">
                <a:solidFill>
                  <a:srgbClr val="000000"/>
                </a:solidFill>
              </a:rPr>
              <a:t>to</a:t>
            </a:r>
          </a:p>
          <a:p>
            <a:pPr marL="216000" lvl="1" indent="0">
              <a:buNone/>
            </a:pPr>
            <a:r>
              <a:rPr lang="en-US" altLang="zh-CN" dirty="0" err="1">
                <a:solidFill>
                  <a:srgbClr val="000000"/>
                </a:solidFill>
              </a:rPr>
              <a:t>list.</a:t>
            </a:r>
            <a:r>
              <a:rPr lang="en-US" altLang="zh-CN" dirty="0" err="1">
                <a:solidFill>
                  <a:srgbClr val="A8227B"/>
                </a:solidFill>
              </a:rPr>
              <a:t>sort</a:t>
            </a:r>
            <a:r>
              <a:rPr lang="en-US" altLang="zh-CN" dirty="0">
                <a:solidFill>
                  <a:srgbClr val="000000"/>
                </a:solidFill>
              </a:rPr>
              <a:t>(</a:t>
            </a:r>
            <a:r>
              <a:rPr lang="en-US" altLang="zh-CN" b="1" dirty="0">
                <a:solidFill>
                  <a:srgbClr val="2239A8"/>
                </a:solidFill>
              </a:rPr>
              <a:t>new</a:t>
            </a:r>
            <a:r>
              <a:rPr lang="en-US" altLang="zh-CN" dirty="0">
                <a:solidFill>
                  <a:srgbClr val="2239A8"/>
                </a:solidFill>
              </a:rPr>
              <a:t> </a:t>
            </a:r>
            <a:r>
              <a:rPr lang="en-US" altLang="zh-CN" dirty="0">
                <a:solidFill>
                  <a:srgbClr val="000000"/>
                </a:solidFill>
              </a:rPr>
              <a:t>Comparator&lt;String&gt;() {</a:t>
            </a:r>
          </a:p>
          <a:p>
            <a:pPr marL="216000" lvl="1" indent="0">
              <a:buNone/>
            </a:pPr>
            <a:r>
              <a:rPr lang="fr-FR" altLang="zh-CN" dirty="0"/>
              <a:t>    </a:t>
            </a:r>
            <a:r>
              <a:rPr lang="fr-FR" altLang="zh-CN" b="1" dirty="0">
                <a:solidFill>
                  <a:srgbClr val="2239A8"/>
                </a:solidFill>
              </a:rPr>
              <a:t>public int</a:t>
            </a:r>
            <a:r>
              <a:rPr lang="fr-FR" altLang="zh-CN" dirty="0">
                <a:solidFill>
                  <a:srgbClr val="2239A8"/>
                </a:solidFill>
              </a:rPr>
              <a:t> </a:t>
            </a:r>
            <a:r>
              <a:rPr lang="fr-FR" altLang="zh-CN" dirty="0">
                <a:solidFill>
                  <a:srgbClr val="A8227B"/>
                </a:solidFill>
              </a:rPr>
              <a:t>compare</a:t>
            </a:r>
            <a:r>
              <a:rPr lang="fr-FR" altLang="zh-CN" dirty="0">
                <a:solidFill>
                  <a:srgbClr val="000000"/>
                </a:solidFill>
              </a:rPr>
              <a:t>(</a:t>
            </a:r>
            <a:r>
              <a:rPr lang="fr-FR" altLang="zh-CN" b="1" dirty="0">
                <a:solidFill>
                  <a:srgbClr val="2239A8"/>
                </a:solidFill>
              </a:rPr>
              <a:t>double</a:t>
            </a:r>
            <a:r>
              <a:rPr lang="fr-FR" altLang="zh-CN" dirty="0">
                <a:solidFill>
                  <a:srgbClr val="2239A8"/>
                </a:solidFill>
              </a:rPr>
              <a:t> </a:t>
            </a:r>
            <a:r>
              <a:rPr lang="fr-FR" altLang="zh-CN" dirty="0">
                <a:solidFill>
                  <a:srgbClr val="000000"/>
                </a:solidFill>
              </a:rPr>
              <a:t>d1, </a:t>
            </a:r>
            <a:r>
              <a:rPr lang="fr-FR" altLang="zh-CN" b="1" dirty="0">
                <a:solidFill>
                  <a:srgbClr val="2239A8"/>
                </a:solidFill>
              </a:rPr>
              <a:t>double</a:t>
            </a:r>
            <a:r>
              <a:rPr lang="fr-FR" altLang="zh-CN" dirty="0">
                <a:solidFill>
                  <a:srgbClr val="2239A8"/>
                </a:solidFill>
              </a:rPr>
              <a:t> </a:t>
            </a:r>
            <a:r>
              <a:rPr lang="fr-FR" altLang="zh-CN" dirty="0">
                <a:solidFill>
                  <a:srgbClr val="000000"/>
                </a:solidFill>
              </a:rPr>
              <a:t>d2) {</a:t>
            </a:r>
          </a:p>
          <a:p>
            <a:pPr marL="216000" lvl="1" indent="0">
              <a:buNone/>
            </a:pPr>
            <a:r>
              <a:rPr lang="en-US" altLang="zh-CN" dirty="0"/>
              <a:t>        </a:t>
            </a:r>
            <a:r>
              <a:rPr lang="en-US" altLang="zh-CN" b="1" dirty="0">
                <a:solidFill>
                  <a:srgbClr val="2239A8"/>
                </a:solidFill>
              </a:rPr>
              <a:t>return</a:t>
            </a:r>
            <a:r>
              <a:rPr lang="en-US" altLang="zh-CN" dirty="0">
                <a:solidFill>
                  <a:srgbClr val="2239A8"/>
                </a:solidFill>
              </a:rPr>
              <a:t> </a:t>
            </a:r>
            <a:r>
              <a:rPr lang="en-US" altLang="zh-CN" dirty="0" err="1">
                <a:solidFill>
                  <a:srgbClr val="000000"/>
                </a:solidFill>
              </a:rPr>
              <a:t>Double.</a:t>
            </a:r>
            <a:r>
              <a:rPr lang="en-US" altLang="zh-CN" dirty="0" err="1">
                <a:solidFill>
                  <a:srgbClr val="A8227B"/>
                </a:solidFill>
              </a:rPr>
              <a:t>compare</a:t>
            </a:r>
            <a:r>
              <a:rPr lang="en-US" altLang="zh-CN" dirty="0">
                <a:solidFill>
                  <a:srgbClr val="000000"/>
                </a:solidFill>
              </a:rPr>
              <a:t>(d1, d2);</a:t>
            </a:r>
          </a:p>
          <a:p>
            <a:pPr marL="216000" lvl="1" indent="0">
              <a:buNone/>
            </a:pPr>
            <a:r>
              <a:rPr lang="zh-CN" altLang="en-US" dirty="0"/>
              <a:t>    </a:t>
            </a:r>
            <a:r>
              <a:rPr lang="en-US" altLang="zh-CN" dirty="0">
                <a:solidFill>
                  <a:srgbClr val="000000"/>
                </a:solidFill>
              </a:rPr>
              <a:t>}</a:t>
            </a:r>
          </a:p>
          <a:p>
            <a:pPr marL="216000" lvl="1" indent="0">
              <a:buNone/>
            </a:pPr>
            <a:r>
              <a:rPr lang="en-US" altLang="zh-CN" dirty="0">
                <a:solidFill>
                  <a:srgbClr val="000000"/>
                </a:solidFill>
              </a:rPr>
              <a:t>});</a:t>
            </a:r>
          </a:p>
          <a:p>
            <a:pPr marL="216000" lvl="1" indent="0">
              <a:buNone/>
            </a:pPr>
            <a:endParaRPr lang="en-US" altLang="zh-CN" dirty="0">
              <a:solidFill>
                <a:srgbClr val="000000"/>
              </a:solidFill>
            </a:endParaRPr>
          </a:p>
          <a:p>
            <a:pPr marL="234900" indent="-342900"/>
            <a:r>
              <a:rPr lang="en-US" altLang="zh-CN" dirty="0">
                <a:solidFill>
                  <a:srgbClr val="000000"/>
                </a:solidFill>
              </a:rPr>
              <a:t>This how Java 8</a:t>
            </a:r>
            <a:r>
              <a:rPr lang="zh-CN" altLang="en-US" dirty="0">
                <a:solidFill>
                  <a:srgbClr val="000000"/>
                </a:solidFill>
              </a:rPr>
              <a:t> </a:t>
            </a:r>
            <a:r>
              <a:rPr lang="en-US" altLang="zh-CN" dirty="0">
                <a:solidFill>
                  <a:srgbClr val="000000"/>
                </a:solidFill>
              </a:rPr>
              <a:t>implements Lambda</a:t>
            </a:r>
          </a:p>
          <a:p>
            <a:endParaRPr lang="en-US" altLang="zh-CN" dirty="0">
              <a:solidFill>
                <a:srgbClr val="000000"/>
              </a:solidFill>
            </a:endParaRPr>
          </a:p>
          <a:p>
            <a:endParaRPr lang="en-US" altLang="zh-CN" dirty="0">
              <a:solidFill>
                <a:srgbClr val="000000"/>
              </a:solidFill>
            </a:endParaRPr>
          </a:p>
          <a:p>
            <a:endParaRPr lang="zh-CN" altLang="en-US" dirty="0"/>
          </a:p>
        </p:txBody>
      </p:sp>
      <p:sp>
        <p:nvSpPr>
          <p:cNvPr id="3" name="标题 2">
            <a:extLst>
              <a:ext uri="{FF2B5EF4-FFF2-40B4-BE49-F238E27FC236}">
                <a16:creationId xmlns:a16="http://schemas.microsoft.com/office/drawing/2014/main" id="{88337730-906D-4D33-8B0A-39DBA85DAE6A}"/>
              </a:ext>
            </a:extLst>
          </p:cNvPr>
          <p:cNvSpPr>
            <a:spLocks noGrp="1"/>
          </p:cNvSpPr>
          <p:nvPr>
            <p:ph type="title"/>
          </p:nvPr>
        </p:nvSpPr>
        <p:spPr/>
        <p:txBody>
          <a:bodyPr/>
          <a:lstStyle/>
          <a:p>
            <a:r>
              <a:rPr lang="en-US" altLang="zh-CN" dirty="0"/>
              <a:t>Directly Using Lambda</a:t>
            </a:r>
            <a:r>
              <a:rPr lang="zh-CN" altLang="en-US" dirty="0"/>
              <a:t> </a:t>
            </a:r>
            <a:r>
              <a:rPr lang="en-US" altLang="zh-CN" dirty="0"/>
              <a:t>Comparison</a:t>
            </a:r>
            <a:endParaRPr lang="zh-CN" altLang="en-US" dirty="0"/>
          </a:p>
        </p:txBody>
      </p:sp>
      <p:sp>
        <p:nvSpPr>
          <p:cNvPr id="4" name="日期占位符 3">
            <a:extLst>
              <a:ext uri="{FF2B5EF4-FFF2-40B4-BE49-F238E27FC236}">
                <a16:creationId xmlns:a16="http://schemas.microsoft.com/office/drawing/2014/main" id="{336E7674-8AED-45AC-9282-BD4A10A9407D}"/>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9D220A1C-A686-44BA-BB89-2FF88B05F376}"/>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50BB2C5C-B449-4D4F-BE15-D5BC93F26C7A}"/>
              </a:ext>
            </a:extLst>
          </p:cNvPr>
          <p:cNvSpPr>
            <a:spLocks noGrp="1"/>
          </p:cNvSpPr>
          <p:nvPr>
            <p:ph type="sldNum" sz="quarter" idx="4"/>
          </p:nvPr>
        </p:nvSpPr>
        <p:spPr/>
        <p:txBody>
          <a:bodyPr/>
          <a:lstStyle/>
          <a:p>
            <a:fld id="{19B12225-5612-419B-A8D5-4B8EEE4C217E}" type="slidenum">
              <a:rPr lang="en-US" smtClean="0"/>
              <a:pPr/>
              <a:t>26</a:t>
            </a:fld>
            <a:endParaRPr lang="en-US" dirty="0"/>
          </a:p>
        </p:txBody>
      </p:sp>
    </p:spTree>
    <p:extLst>
      <p:ext uri="{BB962C8B-B14F-4D97-AF65-F5344CB8AC3E}">
        <p14:creationId xmlns:p14="http://schemas.microsoft.com/office/powerpoint/2010/main" val="1163265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86C4973-64E7-4EC2-9507-9352B6547BD8}"/>
              </a:ext>
            </a:extLst>
          </p:cNvPr>
          <p:cNvSpPr>
            <a:spLocks noGrp="1"/>
          </p:cNvSpPr>
          <p:nvPr>
            <p:ph idx="1"/>
          </p:nvPr>
        </p:nvSpPr>
        <p:spPr/>
        <p:txBody>
          <a:bodyPr>
            <a:normAutofit lnSpcReduction="10000"/>
          </a:bodyPr>
          <a:lstStyle/>
          <a:p>
            <a:r>
              <a:rPr lang="en-US" altLang="zh-CN" sz="2000" dirty="0">
                <a:solidFill>
                  <a:srgbClr val="000000"/>
                </a:solidFill>
              </a:rPr>
              <a:t>Comparator Supports Chained Multi-Key Sorting using Lambda</a:t>
            </a:r>
          </a:p>
          <a:p>
            <a:r>
              <a:rPr lang="en-US" altLang="zh-CN" sz="1800" dirty="0" err="1">
                <a:solidFill>
                  <a:srgbClr val="000000"/>
                </a:solidFill>
              </a:rPr>
              <a:t>list.</a:t>
            </a:r>
            <a:r>
              <a:rPr lang="en-US" altLang="zh-CN" sz="1800" dirty="0" err="1">
                <a:solidFill>
                  <a:srgbClr val="A8227B"/>
                </a:solidFill>
              </a:rPr>
              <a:t>sort</a:t>
            </a:r>
            <a:r>
              <a:rPr lang="en-US" altLang="zh-CN" sz="1800" dirty="0">
                <a:solidFill>
                  <a:srgbClr val="000000"/>
                </a:solidFill>
              </a:rPr>
              <a:t>(</a:t>
            </a:r>
          </a:p>
          <a:p>
            <a:r>
              <a:rPr lang="it-IT" altLang="zh-CN" sz="1800" dirty="0">
                <a:solidFill>
                  <a:srgbClr val="000000"/>
                </a:solidFill>
              </a:rPr>
              <a:t>    Comparator.</a:t>
            </a:r>
            <a:r>
              <a:rPr lang="it-IT" altLang="zh-CN" sz="1800" dirty="0">
                <a:solidFill>
                  <a:srgbClr val="A8227B"/>
                </a:solidFill>
              </a:rPr>
              <a:t>comparing</a:t>
            </a:r>
            <a:r>
              <a:rPr lang="it-IT" altLang="zh-CN" sz="1800" dirty="0">
                <a:solidFill>
                  <a:srgbClr val="000000"/>
                </a:solidFill>
              </a:rPr>
              <a:t>((Movie e) -&gt; e.</a:t>
            </a:r>
            <a:r>
              <a:rPr lang="it-IT" altLang="zh-CN" sz="1800" dirty="0">
                <a:solidFill>
                  <a:srgbClr val="A8227B"/>
                </a:solidFill>
              </a:rPr>
              <a:t>getRating</a:t>
            </a:r>
            <a:r>
              <a:rPr lang="it-IT" altLang="zh-CN" sz="1800" dirty="0">
                <a:solidFill>
                  <a:srgbClr val="000000"/>
                </a:solidFill>
              </a:rPr>
              <a:t>())</a:t>
            </a:r>
          </a:p>
          <a:p>
            <a:r>
              <a:rPr lang="en-US" altLang="zh-CN" sz="1800" dirty="0"/>
              <a:t>              </a:t>
            </a:r>
            <a:r>
              <a:rPr lang="en-US" altLang="zh-CN" sz="1800" dirty="0">
                <a:solidFill>
                  <a:srgbClr val="000000"/>
                </a:solidFill>
              </a:rPr>
              <a:t>.</a:t>
            </a:r>
            <a:r>
              <a:rPr lang="en-US" altLang="zh-CN" sz="1800" dirty="0" err="1">
                <a:solidFill>
                  <a:srgbClr val="A8227B"/>
                </a:solidFill>
              </a:rPr>
              <a:t>thenComparing</a:t>
            </a:r>
            <a:r>
              <a:rPr lang="en-US" altLang="zh-CN" sz="1800" dirty="0">
                <a:solidFill>
                  <a:srgbClr val="000000"/>
                </a:solidFill>
              </a:rPr>
              <a:t>((Movie e ) -&gt; </a:t>
            </a:r>
            <a:r>
              <a:rPr lang="en-US" altLang="zh-CN" sz="1800" dirty="0" err="1">
                <a:solidFill>
                  <a:srgbClr val="000000"/>
                </a:solidFill>
              </a:rPr>
              <a:t>e.</a:t>
            </a:r>
            <a:r>
              <a:rPr lang="en-US" altLang="zh-CN" sz="1800" dirty="0" err="1">
                <a:solidFill>
                  <a:srgbClr val="A8227B"/>
                </a:solidFill>
              </a:rPr>
              <a:t>getYear</a:t>
            </a:r>
            <a:r>
              <a:rPr lang="en-US" altLang="zh-CN" sz="1800" dirty="0">
                <a:solidFill>
                  <a:srgbClr val="000000"/>
                </a:solidFill>
              </a:rPr>
              <a:t>())</a:t>
            </a:r>
          </a:p>
          <a:p>
            <a:endParaRPr lang="en-US" altLang="zh-CN" sz="1800" dirty="0">
              <a:solidFill>
                <a:srgbClr val="000000"/>
              </a:solidFill>
            </a:endParaRPr>
          </a:p>
          <a:p>
            <a:r>
              <a:rPr lang="zh-CN" altLang="en-US" sz="1800" dirty="0"/>
              <a:t>    </a:t>
            </a:r>
            <a:r>
              <a:rPr lang="en-US" altLang="zh-CN" sz="1800" dirty="0">
                <a:solidFill>
                  <a:srgbClr val="000000"/>
                </a:solidFill>
              </a:rPr>
              <a:t>); </a:t>
            </a:r>
          </a:p>
          <a:p>
            <a:endParaRPr lang="en-US" altLang="zh-CN" dirty="0"/>
          </a:p>
          <a:p>
            <a:r>
              <a:rPr lang="en-US" altLang="zh-CN" dirty="0">
                <a:solidFill>
                  <a:srgbClr val="FF0000"/>
                </a:solidFill>
              </a:rPr>
              <a:t>Need to specify Types for the first two Lambdas in this example:</a:t>
            </a:r>
          </a:p>
          <a:p>
            <a:pPr marL="0" indent="0">
              <a:buNone/>
            </a:pPr>
            <a:endParaRPr lang="en-US" altLang="zh-CN" sz="1800" dirty="0">
              <a:solidFill>
                <a:srgbClr val="000000"/>
              </a:solidFill>
            </a:endParaRPr>
          </a:p>
          <a:p>
            <a:pPr marL="0" indent="0">
              <a:buNone/>
            </a:pPr>
            <a:r>
              <a:rPr lang="en-US" altLang="zh-CN" sz="1800" dirty="0" err="1">
                <a:solidFill>
                  <a:srgbClr val="000000"/>
                </a:solidFill>
              </a:rPr>
              <a:t>list.</a:t>
            </a:r>
            <a:r>
              <a:rPr lang="en-US" altLang="zh-CN" sz="1800" dirty="0" err="1">
                <a:solidFill>
                  <a:srgbClr val="A8227B"/>
                </a:solidFill>
              </a:rPr>
              <a:t>sort</a:t>
            </a:r>
            <a:r>
              <a:rPr lang="en-US" altLang="zh-CN" sz="1800" dirty="0">
                <a:solidFill>
                  <a:srgbClr val="000000"/>
                </a:solidFill>
              </a:rPr>
              <a:t>(</a:t>
            </a:r>
          </a:p>
          <a:p>
            <a:pPr marL="0" indent="0">
              <a:buNone/>
            </a:pPr>
            <a:r>
              <a:rPr lang="it-IT" altLang="zh-CN" sz="1800" dirty="0">
                <a:solidFill>
                  <a:srgbClr val="000000"/>
                </a:solidFill>
              </a:rPr>
              <a:t>    Comparator.</a:t>
            </a:r>
            <a:r>
              <a:rPr lang="it-IT" altLang="zh-CN" sz="1800" dirty="0">
                <a:solidFill>
                  <a:srgbClr val="A8227B"/>
                </a:solidFill>
              </a:rPr>
              <a:t>comparing</a:t>
            </a:r>
            <a:r>
              <a:rPr lang="it-IT" altLang="zh-CN" sz="1800" dirty="0">
                <a:solidFill>
                  <a:srgbClr val="000000"/>
                </a:solidFill>
              </a:rPr>
              <a:t>((</a:t>
            </a:r>
            <a:r>
              <a:rPr lang="it-IT" altLang="zh-CN" sz="1800" dirty="0">
                <a:solidFill>
                  <a:srgbClr val="FF0000"/>
                </a:solidFill>
              </a:rPr>
              <a:t>Movie</a:t>
            </a:r>
            <a:r>
              <a:rPr lang="it-IT" altLang="zh-CN" sz="1800" dirty="0">
                <a:solidFill>
                  <a:srgbClr val="000000"/>
                </a:solidFill>
              </a:rPr>
              <a:t> e) -&gt; e.</a:t>
            </a:r>
            <a:r>
              <a:rPr lang="it-IT" altLang="zh-CN" sz="1800" dirty="0">
                <a:solidFill>
                  <a:srgbClr val="A8227B"/>
                </a:solidFill>
              </a:rPr>
              <a:t>getRating</a:t>
            </a:r>
            <a:r>
              <a:rPr lang="it-IT" altLang="zh-CN" sz="1800" dirty="0">
                <a:solidFill>
                  <a:srgbClr val="000000"/>
                </a:solidFill>
              </a:rPr>
              <a:t>())</a:t>
            </a:r>
          </a:p>
          <a:p>
            <a:pPr marL="0" indent="0">
              <a:buNone/>
            </a:pPr>
            <a:r>
              <a:rPr lang="en-US" altLang="zh-CN" sz="1800" dirty="0"/>
              <a:t>    </a:t>
            </a:r>
            <a:r>
              <a:rPr lang="en-US" altLang="zh-CN" sz="1800" dirty="0">
                <a:solidFill>
                  <a:srgbClr val="000000"/>
                </a:solidFill>
              </a:rPr>
              <a:t>.</a:t>
            </a:r>
            <a:r>
              <a:rPr lang="en-US" altLang="zh-CN" sz="1800" dirty="0" err="1">
                <a:solidFill>
                  <a:srgbClr val="A8227B"/>
                </a:solidFill>
              </a:rPr>
              <a:t>thenComparing</a:t>
            </a:r>
            <a:r>
              <a:rPr lang="en-US" altLang="zh-CN" sz="1800" dirty="0">
                <a:solidFill>
                  <a:srgbClr val="000000"/>
                </a:solidFill>
              </a:rPr>
              <a:t>((</a:t>
            </a:r>
            <a:r>
              <a:rPr lang="en-US" altLang="zh-CN" sz="1800" dirty="0">
                <a:solidFill>
                  <a:srgbClr val="FF0000"/>
                </a:solidFill>
              </a:rPr>
              <a:t>Movie</a:t>
            </a:r>
            <a:r>
              <a:rPr lang="en-US" altLang="zh-CN" sz="1800" dirty="0">
                <a:solidFill>
                  <a:srgbClr val="000000"/>
                </a:solidFill>
              </a:rPr>
              <a:t> e ) -&gt; </a:t>
            </a:r>
            <a:r>
              <a:rPr lang="en-US" altLang="zh-CN" sz="1800" dirty="0" err="1">
                <a:solidFill>
                  <a:srgbClr val="000000"/>
                </a:solidFill>
              </a:rPr>
              <a:t>e.</a:t>
            </a:r>
            <a:r>
              <a:rPr lang="en-US" altLang="zh-CN" sz="1800" dirty="0" err="1">
                <a:solidFill>
                  <a:srgbClr val="A8227B"/>
                </a:solidFill>
              </a:rPr>
              <a:t>getYear</a:t>
            </a:r>
            <a:r>
              <a:rPr lang="en-US" altLang="zh-CN" sz="1800" dirty="0">
                <a:solidFill>
                  <a:srgbClr val="000000"/>
                </a:solidFill>
              </a:rPr>
              <a:t>())</a:t>
            </a:r>
          </a:p>
          <a:p>
            <a:pPr marL="0" indent="0">
              <a:buNone/>
            </a:pPr>
            <a:r>
              <a:rPr lang="en-US" altLang="zh-CN" sz="1800" dirty="0"/>
              <a:t>    </a:t>
            </a:r>
            <a:r>
              <a:rPr lang="en-US" altLang="zh-CN" sz="1800" dirty="0">
                <a:solidFill>
                  <a:srgbClr val="000000"/>
                </a:solidFill>
              </a:rPr>
              <a:t>.</a:t>
            </a:r>
            <a:r>
              <a:rPr lang="en-US" altLang="zh-CN" sz="1800" dirty="0" err="1">
                <a:solidFill>
                  <a:srgbClr val="A8227B"/>
                </a:solidFill>
              </a:rPr>
              <a:t>thenComparing</a:t>
            </a:r>
            <a:r>
              <a:rPr lang="en-US" altLang="zh-CN" sz="1800" dirty="0">
                <a:solidFill>
                  <a:srgbClr val="000000"/>
                </a:solidFill>
              </a:rPr>
              <a:t>(e -&gt; </a:t>
            </a:r>
            <a:r>
              <a:rPr lang="en-US" altLang="zh-CN" sz="1800" dirty="0" err="1">
                <a:solidFill>
                  <a:srgbClr val="000000"/>
                </a:solidFill>
              </a:rPr>
              <a:t>e.</a:t>
            </a:r>
            <a:r>
              <a:rPr lang="en-US" altLang="zh-CN" sz="1800" dirty="0" err="1">
                <a:solidFill>
                  <a:srgbClr val="A8227B"/>
                </a:solidFill>
              </a:rPr>
              <a:t>getName</a:t>
            </a:r>
            <a:r>
              <a:rPr lang="en-US" altLang="zh-CN" sz="1800" dirty="0">
                <a:solidFill>
                  <a:srgbClr val="000000"/>
                </a:solidFill>
              </a:rPr>
              <a:t>())</a:t>
            </a:r>
          </a:p>
          <a:p>
            <a:pPr marL="0" indent="0">
              <a:buNone/>
            </a:pPr>
            <a:r>
              <a:rPr lang="zh-CN" altLang="en-US" sz="1800" dirty="0"/>
              <a:t>    </a:t>
            </a:r>
            <a:r>
              <a:rPr lang="en-US" altLang="zh-CN" sz="1800" dirty="0">
                <a:solidFill>
                  <a:srgbClr val="000000"/>
                </a:solidFill>
              </a:rPr>
              <a:t>); </a:t>
            </a:r>
          </a:p>
          <a:p>
            <a:endParaRPr lang="en-US" altLang="zh-CN" dirty="0"/>
          </a:p>
          <a:p>
            <a:r>
              <a:rPr lang="en-US" altLang="zh-CN" dirty="0"/>
              <a:t>For this example, using Method reference is easier</a:t>
            </a:r>
          </a:p>
          <a:p>
            <a:r>
              <a:rPr lang="en-US" altLang="zh-CN" dirty="0" err="1"/>
              <a:t>democomparatormultiplesort</a:t>
            </a:r>
            <a:r>
              <a:rPr lang="en-US" altLang="zh-CN" dirty="0"/>
              <a:t>. MovieListComparartorLambdaSortApp.java</a:t>
            </a:r>
          </a:p>
          <a:p>
            <a:endParaRPr lang="en-US" altLang="zh-CN" dirty="0"/>
          </a:p>
        </p:txBody>
      </p:sp>
      <p:sp>
        <p:nvSpPr>
          <p:cNvPr id="3" name="标题 2">
            <a:extLst>
              <a:ext uri="{FF2B5EF4-FFF2-40B4-BE49-F238E27FC236}">
                <a16:creationId xmlns:a16="http://schemas.microsoft.com/office/drawing/2014/main" id="{7F607695-25CE-43B8-A5A3-890B10D69DA5}"/>
              </a:ext>
            </a:extLst>
          </p:cNvPr>
          <p:cNvSpPr>
            <a:spLocks noGrp="1"/>
          </p:cNvSpPr>
          <p:nvPr>
            <p:ph type="title"/>
          </p:nvPr>
        </p:nvSpPr>
        <p:spPr/>
        <p:txBody>
          <a:bodyPr/>
          <a:lstStyle/>
          <a:p>
            <a:r>
              <a:rPr lang="en-US" altLang="zh-CN" sz="2800" dirty="0"/>
              <a:t>Using Lambda</a:t>
            </a:r>
            <a:r>
              <a:rPr lang="zh-CN" altLang="en-US" sz="2800" dirty="0"/>
              <a:t> </a:t>
            </a:r>
            <a:r>
              <a:rPr lang="en-US" altLang="zh-CN" sz="2800" dirty="0"/>
              <a:t>for Chained Multi-Key Sorting</a:t>
            </a:r>
            <a:endParaRPr lang="zh-CN" altLang="en-US" sz="2800" dirty="0"/>
          </a:p>
        </p:txBody>
      </p:sp>
      <p:sp>
        <p:nvSpPr>
          <p:cNvPr id="4" name="日期占位符 3">
            <a:extLst>
              <a:ext uri="{FF2B5EF4-FFF2-40B4-BE49-F238E27FC236}">
                <a16:creationId xmlns:a16="http://schemas.microsoft.com/office/drawing/2014/main" id="{5F81FEFF-A7CD-4DE4-8E45-45EAA2EC5C9A}"/>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8BA96C11-5608-4717-8D7D-26BF85CC4F9E}"/>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101C6124-A570-4E1E-89DE-412D25E05789}"/>
              </a:ext>
            </a:extLst>
          </p:cNvPr>
          <p:cNvSpPr>
            <a:spLocks noGrp="1"/>
          </p:cNvSpPr>
          <p:nvPr>
            <p:ph type="sldNum" sz="quarter" idx="4"/>
          </p:nvPr>
        </p:nvSpPr>
        <p:spPr/>
        <p:txBody>
          <a:bodyPr/>
          <a:lstStyle/>
          <a:p>
            <a:fld id="{19B12225-5612-419B-A8D5-4B8EEE4C217E}" type="slidenum">
              <a:rPr lang="en-US" smtClean="0"/>
              <a:pPr/>
              <a:t>27</a:t>
            </a:fld>
            <a:endParaRPr lang="en-US" dirty="0"/>
          </a:p>
        </p:txBody>
      </p:sp>
    </p:spTree>
    <p:extLst>
      <p:ext uri="{BB962C8B-B14F-4D97-AF65-F5344CB8AC3E}">
        <p14:creationId xmlns:p14="http://schemas.microsoft.com/office/powerpoint/2010/main" val="1689069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25D45DF-F3C3-4DE2-AD7C-168E70FC72DC}"/>
              </a:ext>
            </a:extLst>
          </p:cNvPr>
          <p:cNvSpPr>
            <a:spLocks noGrp="1"/>
          </p:cNvSpPr>
          <p:nvPr>
            <p:ph type="title"/>
          </p:nvPr>
        </p:nvSpPr>
        <p:spPr/>
        <p:txBody>
          <a:bodyPr/>
          <a:lstStyle/>
          <a:p>
            <a:r>
              <a:rPr lang="en-US" altLang="zh-CN" dirty="0"/>
              <a:t>Examples of First-class Function Applications</a:t>
            </a:r>
            <a:endParaRPr lang="zh-CN" altLang="en-US" dirty="0"/>
          </a:p>
        </p:txBody>
      </p:sp>
      <p:sp>
        <p:nvSpPr>
          <p:cNvPr id="8" name="文本占位符 7">
            <a:extLst>
              <a:ext uri="{FF2B5EF4-FFF2-40B4-BE49-F238E27FC236}">
                <a16:creationId xmlns:a16="http://schemas.microsoft.com/office/drawing/2014/main" id="{2D248E9A-35E4-4789-9436-FBA76558C1FE}"/>
              </a:ext>
            </a:extLst>
          </p:cNvPr>
          <p:cNvSpPr>
            <a:spLocks noGrp="1"/>
          </p:cNvSpPr>
          <p:nvPr>
            <p:ph type="body" idx="1"/>
          </p:nvPr>
        </p:nvSpPr>
        <p:spPr/>
        <p:txBody>
          <a:bodyPr/>
          <a:lstStyle/>
          <a:p>
            <a:endParaRPr lang="zh-CN" altLang="en-US"/>
          </a:p>
        </p:txBody>
      </p:sp>
      <p:sp>
        <p:nvSpPr>
          <p:cNvPr id="4" name="日期占位符 3">
            <a:extLst>
              <a:ext uri="{FF2B5EF4-FFF2-40B4-BE49-F238E27FC236}">
                <a16:creationId xmlns:a16="http://schemas.microsoft.com/office/drawing/2014/main" id="{E5402999-FE21-4E5A-97F2-C75938D3AC64}"/>
              </a:ext>
            </a:extLst>
          </p:cNvPr>
          <p:cNvSpPr>
            <a:spLocks noGrp="1"/>
          </p:cNvSpPr>
          <p:nvPr>
            <p:ph type="dt" sz="half" idx="4294967295"/>
          </p:nvPr>
        </p:nvSpPr>
        <p:spPr>
          <a:xfrm>
            <a:off x="0" y="6705600"/>
            <a:ext cx="1087438" cy="152400"/>
          </a:xfrm>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BDD5F469-8E42-4730-8CE5-6C934A3886A3}"/>
              </a:ext>
            </a:extLst>
          </p:cNvPr>
          <p:cNvSpPr>
            <a:spLocks noGrp="1"/>
          </p:cNvSpPr>
          <p:nvPr>
            <p:ph type="ftr" sz="quarter" idx="4294967295"/>
          </p:nvPr>
        </p:nvSpPr>
        <p:spPr>
          <a:xfrm>
            <a:off x="2159000" y="6705600"/>
            <a:ext cx="6985000" cy="152400"/>
          </a:xfrm>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08FC3CCB-2FAA-4E65-A9F0-B3F77A86BB80}"/>
              </a:ext>
            </a:extLst>
          </p:cNvPr>
          <p:cNvSpPr>
            <a:spLocks noGrp="1"/>
          </p:cNvSpPr>
          <p:nvPr>
            <p:ph type="sldNum" sz="quarter" idx="4294967295"/>
          </p:nvPr>
        </p:nvSpPr>
        <p:spPr>
          <a:xfrm>
            <a:off x="8509000" y="6705600"/>
            <a:ext cx="635000" cy="152400"/>
          </a:xfrm>
        </p:spPr>
        <p:txBody>
          <a:bodyPr/>
          <a:lstStyle/>
          <a:p>
            <a:fld id="{19B12225-5612-419B-A8D5-4B8EEE4C217E}" type="slidenum">
              <a:rPr lang="en-US" smtClean="0"/>
              <a:pPr/>
              <a:t>28</a:t>
            </a:fld>
            <a:endParaRPr lang="en-US" dirty="0"/>
          </a:p>
        </p:txBody>
      </p:sp>
    </p:spTree>
    <p:extLst>
      <p:ext uri="{BB962C8B-B14F-4D97-AF65-F5344CB8AC3E}">
        <p14:creationId xmlns:p14="http://schemas.microsoft.com/office/powerpoint/2010/main" val="20104884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a:extLst>
              <a:ext uri="{FF2B5EF4-FFF2-40B4-BE49-F238E27FC236}">
                <a16:creationId xmlns:a16="http://schemas.microsoft.com/office/drawing/2014/main" id="{85EED9D2-DABF-423A-8299-EE957B05069F}"/>
              </a:ext>
            </a:extLst>
          </p:cNvPr>
          <p:cNvSpPr>
            <a:spLocks noGrp="1" noChangeArrowheads="1"/>
          </p:cNvSpPr>
          <p:nvPr>
            <p:ph type="title"/>
          </p:nvPr>
        </p:nvSpPr>
        <p:spPr/>
        <p:txBody>
          <a:bodyPr/>
          <a:lstStyle/>
          <a:p>
            <a:r>
              <a:rPr lang="en-US" altLang="zh-CN" dirty="0" err="1"/>
              <a:t>forEach</a:t>
            </a:r>
            <a:r>
              <a:rPr lang="en-US" altLang="zh-CN" dirty="0"/>
              <a:t>() in Collection</a:t>
            </a:r>
            <a:endParaRPr lang="zh-CN" altLang="en-US" dirty="0"/>
          </a:p>
        </p:txBody>
      </p:sp>
      <p:sp>
        <p:nvSpPr>
          <p:cNvPr id="87043" name="内容占位符 2">
            <a:extLst>
              <a:ext uri="{FF2B5EF4-FFF2-40B4-BE49-F238E27FC236}">
                <a16:creationId xmlns:a16="http://schemas.microsoft.com/office/drawing/2014/main" id="{8E574A56-1416-4555-B0E8-A3365300537E}"/>
              </a:ext>
            </a:extLst>
          </p:cNvPr>
          <p:cNvSpPr>
            <a:spLocks noGrp="1" noChangeArrowheads="1"/>
          </p:cNvSpPr>
          <p:nvPr>
            <p:ph idx="1"/>
          </p:nvPr>
        </p:nvSpPr>
        <p:spPr/>
        <p:txBody>
          <a:bodyPr/>
          <a:lstStyle/>
          <a:p>
            <a:r>
              <a:rPr lang="en-US" altLang="zh-CN" sz="2000" dirty="0">
                <a:solidFill>
                  <a:srgbClr val="000000"/>
                </a:solidFill>
              </a:rPr>
              <a:t>Collection is the root interface of all collection classes in Java</a:t>
            </a:r>
          </a:p>
          <a:p>
            <a:endParaRPr lang="en-US" altLang="zh-CN" sz="2000" dirty="0">
              <a:solidFill>
                <a:srgbClr val="000000"/>
              </a:solidFill>
            </a:endParaRPr>
          </a:p>
          <a:p>
            <a:r>
              <a:rPr lang="en-US" altLang="zh-CN" sz="2000" dirty="0" err="1">
                <a:solidFill>
                  <a:srgbClr val="000000"/>
                </a:solidFill>
              </a:rPr>
              <a:t>ArrayList</a:t>
            </a:r>
            <a:r>
              <a:rPr lang="zh-CN" altLang="en-US" sz="2000" dirty="0">
                <a:solidFill>
                  <a:srgbClr val="000000"/>
                </a:solidFill>
              </a:rPr>
              <a:t> </a:t>
            </a:r>
            <a:r>
              <a:rPr lang="en-US" altLang="zh-CN" sz="2000" dirty="0">
                <a:solidFill>
                  <a:srgbClr val="000000"/>
                </a:solidFill>
              </a:rPr>
              <a:t>is a most common Collection</a:t>
            </a:r>
            <a:r>
              <a:rPr lang="zh-CN" altLang="en-US" sz="2000" dirty="0">
                <a:solidFill>
                  <a:srgbClr val="000000"/>
                </a:solidFill>
              </a:rPr>
              <a:t> </a:t>
            </a:r>
            <a:r>
              <a:rPr lang="en-US" altLang="zh-CN" sz="2000" dirty="0">
                <a:solidFill>
                  <a:srgbClr val="000000"/>
                </a:solidFill>
              </a:rPr>
              <a:t>class</a:t>
            </a:r>
            <a:r>
              <a:rPr lang="zh-CN" altLang="en-US" sz="2000" dirty="0">
                <a:solidFill>
                  <a:srgbClr val="000000"/>
                </a:solidFill>
              </a:rPr>
              <a:t> </a:t>
            </a:r>
            <a:r>
              <a:rPr lang="en-US" altLang="zh-CN" sz="2000" dirty="0">
                <a:solidFill>
                  <a:srgbClr val="000000"/>
                </a:solidFill>
              </a:rPr>
              <a:t>which</a:t>
            </a:r>
            <a:r>
              <a:rPr lang="zh-CN" altLang="en-US" sz="2000" dirty="0">
                <a:solidFill>
                  <a:srgbClr val="000000"/>
                </a:solidFill>
              </a:rPr>
              <a:t> </a:t>
            </a:r>
            <a:r>
              <a:rPr lang="en-US" altLang="zh-CN" sz="2000" dirty="0">
                <a:solidFill>
                  <a:srgbClr val="000000"/>
                </a:solidFill>
              </a:rPr>
              <a:t>implements</a:t>
            </a:r>
            <a:r>
              <a:rPr lang="zh-CN" altLang="en-US" sz="2000" dirty="0">
                <a:solidFill>
                  <a:srgbClr val="000000"/>
                </a:solidFill>
              </a:rPr>
              <a:t> </a:t>
            </a:r>
            <a:r>
              <a:rPr lang="en-US" altLang="zh-CN" sz="2000" dirty="0">
                <a:solidFill>
                  <a:srgbClr val="000000"/>
                </a:solidFill>
              </a:rPr>
              <a:t>a</a:t>
            </a:r>
            <a:r>
              <a:rPr lang="zh-CN" altLang="en-US" sz="2000" dirty="0">
                <a:solidFill>
                  <a:srgbClr val="000000"/>
                </a:solidFill>
              </a:rPr>
              <a:t> </a:t>
            </a:r>
            <a:r>
              <a:rPr lang="en-US" altLang="zh-CN" sz="2000" dirty="0">
                <a:solidFill>
                  <a:srgbClr val="000000"/>
                </a:solidFill>
              </a:rPr>
              <a:t>dynamic</a:t>
            </a:r>
            <a:r>
              <a:rPr lang="zh-CN" altLang="en-US" sz="2000" dirty="0">
                <a:solidFill>
                  <a:srgbClr val="000000"/>
                </a:solidFill>
              </a:rPr>
              <a:t> </a:t>
            </a:r>
            <a:r>
              <a:rPr lang="en-US" altLang="zh-CN" sz="2000" dirty="0">
                <a:solidFill>
                  <a:srgbClr val="000000"/>
                </a:solidFill>
              </a:rPr>
              <a:t>array</a:t>
            </a:r>
          </a:p>
          <a:p>
            <a:endParaRPr lang="en-US" altLang="zh-CN" sz="2000" dirty="0">
              <a:solidFill>
                <a:srgbClr val="000000"/>
              </a:solidFill>
            </a:endParaRPr>
          </a:p>
          <a:p>
            <a:r>
              <a:rPr lang="en-US" altLang="zh-CN" sz="2000" dirty="0">
                <a:solidFill>
                  <a:srgbClr val="000000"/>
                </a:solidFill>
              </a:rPr>
              <a:t>Use </a:t>
            </a:r>
            <a:r>
              <a:rPr lang="en-US" altLang="zh-CN" sz="2000" dirty="0" err="1">
                <a:solidFill>
                  <a:srgbClr val="000000"/>
                </a:solidFill>
              </a:rPr>
              <a:t>ArrayList</a:t>
            </a:r>
            <a:r>
              <a:rPr lang="en-US" altLang="zh-CN" sz="2000" dirty="0">
                <a:solidFill>
                  <a:srgbClr val="000000"/>
                </a:solidFill>
              </a:rPr>
              <a:t> for Collection to help your understanding</a:t>
            </a:r>
          </a:p>
          <a:p>
            <a:endParaRPr lang="en-US" altLang="zh-CN" sz="2000" dirty="0">
              <a:solidFill>
                <a:srgbClr val="000000"/>
              </a:solidFill>
            </a:endParaRPr>
          </a:p>
          <a:p>
            <a:r>
              <a:rPr lang="en-US" altLang="zh-CN" sz="2000" dirty="0">
                <a:solidFill>
                  <a:srgbClr val="000000"/>
                </a:solidFill>
              </a:rPr>
              <a:t>Collection</a:t>
            </a:r>
            <a:r>
              <a:rPr lang="zh-CN" altLang="en-US" sz="2000" dirty="0">
                <a:solidFill>
                  <a:srgbClr val="000000"/>
                </a:solidFill>
              </a:rPr>
              <a:t>的</a:t>
            </a:r>
            <a:r>
              <a:rPr lang="en-US" altLang="zh-CN" sz="2000" dirty="0" err="1">
                <a:solidFill>
                  <a:srgbClr val="A8227B"/>
                </a:solidFill>
              </a:rPr>
              <a:t>forEach</a:t>
            </a:r>
            <a:r>
              <a:rPr lang="en-US" altLang="zh-CN" sz="2000" dirty="0">
                <a:solidFill>
                  <a:srgbClr val="000000"/>
                </a:solidFill>
              </a:rPr>
              <a:t>(Consumer&lt;? </a:t>
            </a:r>
            <a:r>
              <a:rPr lang="en-US" altLang="zh-CN" sz="2000" b="1" dirty="0">
                <a:solidFill>
                  <a:srgbClr val="2239A8"/>
                </a:solidFill>
              </a:rPr>
              <a:t>super</a:t>
            </a:r>
            <a:r>
              <a:rPr lang="en-US" altLang="zh-CN" sz="2000" dirty="0">
                <a:solidFill>
                  <a:srgbClr val="2239A8"/>
                </a:solidFill>
              </a:rPr>
              <a:t> </a:t>
            </a:r>
            <a:r>
              <a:rPr lang="en-US" altLang="zh-CN" sz="2000" dirty="0">
                <a:solidFill>
                  <a:srgbClr val="000000"/>
                </a:solidFill>
              </a:rPr>
              <a:t>T&gt; action)</a:t>
            </a:r>
          </a:p>
          <a:p>
            <a:pPr lvl="1"/>
            <a:r>
              <a:rPr lang="en-US" altLang="zh-CN" sz="1800" dirty="0" err="1"/>
              <a:t>forEach</a:t>
            </a:r>
            <a:r>
              <a:rPr lang="en-US" altLang="zh-CN" sz="1800" dirty="0"/>
              <a:t> takes an action</a:t>
            </a:r>
          </a:p>
          <a:p>
            <a:pPr lvl="1"/>
            <a:endParaRPr lang="en-US" altLang="zh-CN" sz="1600" dirty="0"/>
          </a:p>
          <a:p>
            <a:r>
              <a:rPr lang="en-US" altLang="zh-CN" sz="2000" dirty="0" err="1">
                <a:solidFill>
                  <a:srgbClr val="000000"/>
                </a:solidFill>
              </a:rPr>
              <a:t>list.</a:t>
            </a:r>
            <a:r>
              <a:rPr lang="en-US" altLang="zh-CN" sz="2000" dirty="0" err="1">
                <a:solidFill>
                  <a:srgbClr val="A8227B"/>
                </a:solidFill>
              </a:rPr>
              <a:t>forEach</a:t>
            </a:r>
            <a:r>
              <a:rPr lang="en-US" altLang="zh-CN" sz="2000" dirty="0">
                <a:solidFill>
                  <a:srgbClr val="000000"/>
                </a:solidFill>
              </a:rPr>
              <a:t>(s -&gt; </a:t>
            </a:r>
            <a:r>
              <a:rPr lang="en-US" altLang="zh-CN" sz="2000" dirty="0" err="1">
                <a:solidFill>
                  <a:srgbClr val="000000"/>
                </a:solidFill>
              </a:rPr>
              <a:t>System.out.</a:t>
            </a:r>
            <a:r>
              <a:rPr lang="en-US" altLang="zh-CN" sz="2000" dirty="0" err="1">
                <a:solidFill>
                  <a:srgbClr val="A8227B"/>
                </a:solidFill>
              </a:rPr>
              <a:t>println</a:t>
            </a:r>
            <a:r>
              <a:rPr lang="en-US" altLang="zh-CN" sz="2000" dirty="0">
                <a:solidFill>
                  <a:srgbClr val="000000"/>
                </a:solidFill>
              </a:rPr>
              <a:t>(s) );</a:t>
            </a:r>
          </a:p>
          <a:p>
            <a:r>
              <a:rPr lang="en-US" altLang="zh-CN" sz="2000" dirty="0" err="1">
                <a:solidFill>
                  <a:srgbClr val="000000"/>
                </a:solidFill>
              </a:rPr>
              <a:t>list.</a:t>
            </a:r>
            <a:r>
              <a:rPr lang="en-US" altLang="zh-CN" sz="2000" dirty="0" err="1">
                <a:solidFill>
                  <a:srgbClr val="A8227B"/>
                </a:solidFill>
              </a:rPr>
              <a:t>forEach</a:t>
            </a:r>
            <a:r>
              <a:rPr lang="en-US" altLang="zh-CN" sz="2000" dirty="0">
                <a:solidFill>
                  <a:srgbClr val="000000"/>
                </a:solidFill>
              </a:rPr>
              <a:t>(</a:t>
            </a:r>
            <a:r>
              <a:rPr lang="en-US" altLang="zh-CN" sz="2000" dirty="0" err="1">
                <a:solidFill>
                  <a:srgbClr val="000000"/>
                </a:solidFill>
              </a:rPr>
              <a:t>System.out</a:t>
            </a:r>
            <a:r>
              <a:rPr lang="en-US" altLang="zh-CN" sz="2000" dirty="0">
                <a:solidFill>
                  <a:srgbClr val="000000"/>
                </a:solidFill>
              </a:rPr>
              <a:t>::</a:t>
            </a:r>
            <a:r>
              <a:rPr lang="en-US" altLang="zh-CN" sz="2000" dirty="0" err="1">
                <a:solidFill>
                  <a:srgbClr val="000000"/>
                </a:solidFill>
              </a:rPr>
              <a:t>println</a:t>
            </a:r>
            <a:r>
              <a:rPr lang="en-US" altLang="zh-CN" sz="2000" dirty="0">
                <a:solidFill>
                  <a:srgbClr val="000000"/>
                </a:solidFill>
              </a:rPr>
              <a:t>);</a:t>
            </a:r>
          </a:p>
          <a:p>
            <a:pPr>
              <a:buFontTx/>
              <a:buNone/>
            </a:pPr>
            <a:endParaRPr lang="en-US" altLang="zh-CN" sz="2000" dirty="0"/>
          </a:p>
          <a:p>
            <a:r>
              <a:rPr lang="en-US" altLang="zh-CN" sz="2000" dirty="0"/>
              <a:t>demolambda.CollectionForEach.java</a:t>
            </a:r>
          </a:p>
          <a:p>
            <a:endParaRPr lang="en-US" altLang="zh-CN" sz="1800" dirty="0"/>
          </a:p>
          <a:p>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E8F9F589-560B-4168-AD56-3E3EC024BB42}"/>
              </a:ext>
            </a:extLst>
          </p:cNvPr>
          <p:cNvSpPr>
            <a:spLocks noGrp="1" noChangeArrowheads="1"/>
          </p:cNvSpPr>
          <p:nvPr>
            <p:ph type="title"/>
          </p:nvPr>
        </p:nvSpPr>
        <p:spPr/>
        <p:txBody>
          <a:bodyPr/>
          <a:lstStyle/>
          <a:p>
            <a:r>
              <a:rPr lang="en-US" altLang="zh-CN" dirty="0" err="1"/>
              <a:t>removeIf</a:t>
            </a:r>
            <a:r>
              <a:rPr lang="en-US" altLang="zh-CN" dirty="0"/>
              <a:t>() in Collection</a:t>
            </a:r>
            <a:endParaRPr lang="zh-CN" altLang="en-US" dirty="0"/>
          </a:p>
        </p:txBody>
      </p:sp>
      <p:sp>
        <p:nvSpPr>
          <p:cNvPr id="88067" name="内容占位符 2">
            <a:extLst>
              <a:ext uri="{FF2B5EF4-FFF2-40B4-BE49-F238E27FC236}">
                <a16:creationId xmlns:a16="http://schemas.microsoft.com/office/drawing/2014/main" id="{85E62E43-A44B-493A-B7C0-19982D27DA35}"/>
              </a:ext>
            </a:extLst>
          </p:cNvPr>
          <p:cNvSpPr>
            <a:spLocks noGrp="1" noChangeArrowheads="1"/>
          </p:cNvSpPr>
          <p:nvPr>
            <p:ph idx="1"/>
          </p:nvPr>
        </p:nvSpPr>
        <p:spPr/>
        <p:txBody>
          <a:bodyPr/>
          <a:lstStyle/>
          <a:p>
            <a:r>
              <a:rPr lang="en-US" altLang="zh-CN" sz="2000" dirty="0"/>
              <a:t>Filter without loops</a:t>
            </a:r>
          </a:p>
          <a:p>
            <a:endParaRPr lang="en-US" altLang="zh-CN" sz="2000" dirty="0"/>
          </a:p>
          <a:p>
            <a:r>
              <a:rPr lang="en-US" altLang="zh-CN" sz="2000" dirty="0">
                <a:solidFill>
                  <a:srgbClr val="000000"/>
                </a:solidFill>
              </a:rPr>
              <a:t>Collection::</a:t>
            </a:r>
            <a:r>
              <a:rPr lang="en-US" altLang="zh-CN" sz="2000" dirty="0" err="1">
                <a:solidFill>
                  <a:srgbClr val="A8227B"/>
                </a:solidFill>
              </a:rPr>
              <a:t>removeIf</a:t>
            </a:r>
            <a:r>
              <a:rPr lang="en-US" altLang="zh-CN" sz="2000" dirty="0">
                <a:solidFill>
                  <a:srgbClr val="000000"/>
                </a:solidFill>
              </a:rPr>
              <a:t>(Predicate&lt;? </a:t>
            </a:r>
            <a:r>
              <a:rPr lang="en-US" altLang="zh-CN" sz="2000" b="1" dirty="0">
                <a:solidFill>
                  <a:srgbClr val="2239A8"/>
                </a:solidFill>
              </a:rPr>
              <a:t>super</a:t>
            </a:r>
            <a:r>
              <a:rPr lang="en-US" altLang="zh-CN" sz="2000" dirty="0">
                <a:solidFill>
                  <a:srgbClr val="2239A8"/>
                </a:solidFill>
              </a:rPr>
              <a:t> </a:t>
            </a:r>
            <a:r>
              <a:rPr lang="en-US" altLang="zh-CN" sz="2000" dirty="0">
                <a:solidFill>
                  <a:srgbClr val="000000"/>
                </a:solidFill>
              </a:rPr>
              <a:t>E&gt;)</a:t>
            </a:r>
            <a:endParaRPr lang="en-US" altLang="zh-CN" sz="2000" dirty="0">
              <a:solidFill>
                <a:srgbClr val="000000"/>
              </a:solidFill>
              <a:latin typeface="Consolas" panose="020B0609020204030204" pitchFamily="49" charset="0"/>
            </a:endParaRPr>
          </a:p>
          <a:p>
            <a:pPr lvl="1"/>
            <a:r>
              <a:rPr lang="en-US" altLang="zh-CN" dirty="0" err="1">
                <a:solidFill>
                  <a:srgbClr val="A8227B"/>
                </a:solidFill>
              </a:rPr>
              <a:t>removeIf</a:t>
            </a:r>
            <a:r>
              <a:rPr lang="en-US" altLang="zh-CN" sz="1600" dirty="0">
                <a:solidFill>
                  <a:srgbClr val="000000"/>
                </a:solidFill>
              </a:rPr>
              <a:t> takes a predicate which returns a Bool</a:t>
            </a:r>
            <a:endParaRPr lang="en-US" altLang="zh-CN" sz="1600" dirty="0">
              <a:solidFill>
                <a:srgbClr val="000000"/>
              </a:solidFill>
              <a:latin typeface="Consolas" panose="020B0609020204030204" pitchFamily="49" charset="0"/>
            </a:endParaRPr>
          </a:p>
          <a:p>
            <a:endParaRPr lang="en-US" altLang="zh-CN" sz="2000" dirty="0">
              <a:solidFill>
                <a:srgbClr val="000000"/>
              </a:solidFill>
              <a:latin typeface="Consolas" panose="020B0609020204030204" pitchFamily="49" charset="0"/>
            </a:endParaRPr>
          </a:p>
          <a:p>
            <a:r>
              <a:rPr lang="en-US" altLang="zh-CN" sz="2000" dirty="0">
                <a:solidFill>
                  <a:srgbClr val="000000"/>
                </a:solidFill>
              </a:rPr>
              <a:t>Example</a:t>
            </a:r>
            <a:endParaRPr lang="en-US" altLang="zh-CN" sz="2000" dirty="0">
              <a:solidFill>
                <a:srgbClr val="000000"/>
              </a:solidFill>
              <a:latin typeface="Consolas" panose="020B0609020204030204" pitchFamily="49" charset="0"/>
            </a:endParaRPr>
          </a:p>
          <a:p>
            <a:r>
              <a:rPr lang="en-US" altLang="zh-CN" sz="2000" dirty="0">
                <a:solidFill>
                  <a:srgbClr val="6A3E3E"/>
                </a:solidFill>
                <a:latin typeface="Consolas" panose="020B0609020204030204" pitchFamily="49" charset="0"/>
              </a:rPr>
              <a:t> </a:t>
            </a:r>
            <a:r>
              <a:rPr lang="en-US" altLang="zh-CN" sz="2000" dirty="0" err="1">
                <a:solidFill>
                  <a:srgbClr val="000000"/>
                </a:solidFill>
              </a:rPr>
              <a:t>list.</a:t>
            </a:r>
            <a:r>
              <a:rPr lang="en-US" altLang="zh-CN" sz="2000" dirty="0" err="1">
                <a:solidFill>
                  <a:srgbClr val="A8227B"/>
                </a:solidFill>
              </a:rPr>
              <a:t>removeIf</a:t>
            </a:r>
            <a:r>
              <a:rPr lang="en-US" altLang="zh-CN" sz="2000" dirty="0">
                <a:solidFill>
                  <a:srgbClr val="000000"/>
                </a:solidFill>
              </a:rPr>
              <a:t>(</a:t>
            </a:r>
            <a:r>
              <a:rPr lang="en-US" altLang="zh-CN" sz="2000" dirty="0" err="1">
                <a:solidFill>
                  <a:srgbClr val="000000"/>
                </a:solidFill>
              </a:rPr>
              <a:t>i</a:t>
            </a:r>
            <a:r>
              <a:rPr lang="en-US" altLang="zh-CN" sz="2000" dirty="0">
                <a:solidFill>
                  <a:srgbClr val="000000"/>
                </a:solidFill>
              </a:rPr>
              <a:t> -&gt; </a:t>
            </a:r>
            <a:r>
              <a:rPr lang="en-US" altLang="zh-CN" sz="2000" dirty="0" err="1">
                <a:solidFill>
                  <a:srgbClr val="000000"/>
                </a:solidFill>
              </a:rPr>
              <a:t>i</a:t>
            </a:r>
            <a:r>
              <a:rPr lang="en-US" altLang="zh-CN" sz="2000" dirty="0">
                <a:solidFill>
                  <a:srgbClr val="000000"/>
                </a:solidFill>
              </a:rPr>
              <a:t> &lt; </a:t>
            </a:r>
            <a:r>
              <a:rPr lang="en-US" altLang="zh-CN" sz="2000" dirty="0">
                <a:solidFill>
                  <a:srgbClr val="A8660D"/>
                </a:solidFill>
              </a:rPr>
              <a:t>30 </a:t>
            </a:r>
            <a:r>
              <a:rPr lang="en-US" altLang="zh-CN" sz="2000" dirty="0">
                <a:solidFill>
                  <a:srgbClr val="000000"/>
                </a:solidFill>
              </a:rPr>
              <a:t>);</a:t>
            </a:r>
          </a:p>
          <a:p>
            <a:pPr>
              <a:buFontTx/>
              <a:buNone/>
            </a:pPr>
            <a:endParaRPr lang="en-US" altLang="zh-CN"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Predicate</a:t>
            </a:r>
            <a:r>
              <a:rPr lang="zh-CN" altLang="en-US" sz="2000" dirty="0">
                <a:solidFill>
                  <a:srgbClr val="000000"/>
                </a:solidFill>
                <a:latin typeface="Consolas" panose="020B0609020204030204" pitchFamily="49" charset="0"/>
              </a:rPr>
              <a:t> </a:t>
            </a:r>
            <a:r>
              <a:rPr lang="en-US" altLang="zh-CN" sz="2000" dirty="0">
                <a:solidFill>
                  <a:srgbClr val="000000"/>
                </a:solidFill>
                <a:latin typeface="Consolas" panose="020B0609020204030204" pitchFamily="49" charset="0"/>
              </a:rPr>
              <a:t>Functional Interface</a:t>
            </a:r>
          </a:p>
          <a:p>
            <a:pPr lvl="1"/>
            <a:r>
              <a:rPr lang="en-US" altLang="zh-CN" b="1" dirty="0" err="1">
                <a:solidFill>
                  <a:srgbClr val="2239A8"/>
                </a:solidFill>
              </a:rPr>
              <a:t>boolean</a:t>
            </a:r>
            <a:r>
              <a:rPr lang="en-US" altLang="zh-CN" dirty="0">
                <a:solidFill>
                  <a:srgbClr val="2239A8"/>
                </a:solidFill>
              </a:rPr>
              <a:t> </a:t>
            </a:r>
            <a:r>
              <a:rPr lang="en-US" altLang="zh-CN" dirty="0">
                <a:solidFill>
                  <a:srgbClr val="A8227B"/>
                </a:solidFill>
              </a:rPr>
              <a:t>test</a:t>
            </a:r>
            <a:r>
              <a:rPr lang="en-US" altLang="zh-CN" dirty="0">
                <a:solidFill>
                  <a:srgbClr val="000000"/>
                </a:solidFill>
              </a:rPr>
              <a:t>(T t)</a:t>
            </a:r>
          </a:p>
          <a:p>
            <a:pPr lvl="1"/>
            <a:endParaRPr lang="en-US" altLang="zh-CN" dirty="0">
              <a:solidFill>
                <a:srgbClr val="000000"/>
              </a:solidFill>
            </a:endParaRPr>
          </a:p>
          <a:p>
            <a:r>
              <a:rPr lang="en-US" altLang="zh-CN" sz="2000" dirty="0">
                <a:solidFill>
                  <a:srgbClr val="000000"/>
                </a:solidFill>
                <a:latin typeface="Consolas" panose="020B0609020204030204" pitchFamily="49" charset="0"/>
              </a:rPr>
              <a:t>demolambda.CollectionRemoveIf.java</a:t>
            </a:r>
          </a:p>
          <a:p>
            <a:endParaRPr lang="en-US" altLang="zh-CN" sz="2000" dirty="0">
              <a:solidFill>
                <a:srgbClr val="000000"/>
              </a:solidFill>
              <a:latin typeface="Consolas" panose="020B0609020204030204" pitchFamily="49"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3B3051F7-D962-4A80-8757-999EE618D8DD}"/>
              </a:ext>
            </a:extLst>
          </p:cNvPr>
          <p:cNvSpPr>
            <a:spLocks noGrp="1" noChangeArrowheads="1"/>
          </p:cNvSpPr>
          <p:nvPr>
            <p:ph type="title"/>
          </p:nvPr>
        </p:nvSpPr>
        <p:spPr/>
        <p:txBody>
          <a:bodyPr/>
          <a:lstStyle/>
          <a:p>
            <a:r>
              <a:rPr lang="en-US" altLang="zh-CN" sz="3200"/>
              <a:t>List::replaceAll(UnaryOperator&lt;E&gt; operator)</a:t>
            </a:r>
            <a:endParaRPr lang="zh-CN" altLang="en-US" sz="3200"/>
          </a:p>
        </p:txBody>
      </p:sp>
      <p:sp>
        <p:nvSpPr>
          <p:cNvPr id="3" name="内容占位符 2">
            <a:extLst>
              <a:ext uri="{FF2B5EF4-FFF2-40B4-BE49-F238E27FC236}">
                <a16:creationId xmlns:a16="http://schemas.microsoft.com/office/drawing/2014/main" id="{8E6357D7-90AA-40DA-83AE-114B72155E39}"/>
              </a:ext>
            </a:extLst>
          </p:cNvPr>
          <p:cNvSpPr>
            <a:spLocks noGrp="1"/>
          </p:cNvSpPr>
          <p:nvPr>
            <p:ph idx="1"/>
          </p:nvPr>
        </p:nvSpPr>
        <p:spPr/>
        <p:txBody>
          <a:bodyPr/>
          <a:lstStyle/>
          <a:p>
            <a:pPr>
              <a:defRPr/>
            </a:pPr>
            <a:r>
              <a:rPr lang="en-US" altLang="zh-CN" sz="1800" dirty="0">
                <a:solidFill>
                  <a:srgbClr val="000000"/>
                </a:solidFill>
              </a:rPr>
              <a:t>Example 1</a:t>
            </a:r>
            <a:endParaRPr lang="en-US" altLang="zh-CN" sz="1800" dirty="0">
              <a:solidFill>
                <a:srgbClr val="000000"/>
              </a:solidFill>
              <a:latin typeface="Consolas" panose="020B0609020204030204" pitchFamily="49" charset="0"/>
            </a:endParaRPr>
          </a:p>
          <a:p>
            <a:pPr marL="0" indent="0">
              <a:buNone/>
            </a:pPr>
            <a:r>
              <a:rPr lang="en-US" altLang="zh-CN" sz="1800" dirty="0" err="1">
                <a:solidFill>
                  <a:srgbClr val="000000"/>
                </a:solidFill>
              </a:rPr>
              <a:t>ArrayList</a:t>
            </a:r>
            <a:r>
              <a:rPr lang="en-US" altLang="zh-CN" sz="1800" dirty="0">
                <a:solidFill>
                  <a:srgbClr val="000000"/>
                </a:solidFill>
              </a:rPr>
              <a:t>&lt;String&gt; s = </a:t>
            </a:r>
            <a:r>
              <a:rPr lang="en-US" altLang="zh-CN" sz="1800" b="1" dirty="0">
                <a:solidFill>
                  <a:srgbClr val="2239A8"/>
                </a:solidFill>
              </a:rPr>
              <a:t>new</a:t>
            </a:r>
            <a:r>
              <a:rPr lang="en-US" altLang="zh-CN" sz="1800" dirty="0">
                <a:solidFill>
                  <a:srgbClr val="2239A8"/>
                </a:solidFill>
              </a:rPr>
              <a:t> </a:t>
            </a:r>
            <a:r>
              <a:rPr lang="en-US" altLang="zh-CN" sz="1800" dirty="0" err="1">
                <a:solidFill>
                  <a:srgbClr val="000000"/>
                </a:solidFill>
              </a:rPr>
              <a:t>ArrayList</a:t>
            </a:r>
            <a:r>
              <a:rPr lang="en-US" altLang="zh-CN" sz="1800" dirty="0">
                <a:solidFill>
                  <a:srgbClr val="000000"/>
                </a:solidFill>
              </a:rPr>
              <a:t>&lt;&gt;();</a:t>
            </a:r>
          </a:p>
          <a:p>
            <a:pPr marL="0" indent="0">
              <a:buNone/>
            </a:pPr>
            <a:r>
              <a:rPr lang="en-US" altLang="zh-CN" sz="1800" dirty="0" err="1">
                <a:solidFill>
                  <a:srgbClr val="000000"/>
                </a:solidFill>
              </a:rPr>
              <a:t>s.</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"Derby"</a:t>
            </a:r>
            <a:r>
              <a:rPr lang="en-US" altLang="zh-CN" sz="1800" dirty="0">
                <a:solidFill>
                  <a:srgbClr val="000000"/>
                </a:solidFill>
              </a:rPr>
              <a:t>);</a:t>
            </a:r>
          </a:p>
          <a:p>
            <a:pPr marL="0" indent="0">
              <a:buNone/>
            </a:pPr>
            <a:r>
              <a:rPr lang="en-US" altLang="zh-CN" sz="1800" dirty="0" err="1">
                <a:solidFill>
                  <a:srgbClr val="000000"/>
                </a:solidFill>
              </a:rPr>
              <a:t>s.</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"London"</a:t>
            </a:r>
            <a:r>
              <a:rPr lang="en-US" altLang="zh-CN" sz="1800" dirty="0">
                <a:solidFill>
                  <a:srgbClr val="000000"/>
                </a:solidFill>
              </a:rPr>
              <a:t>);</a:t>
            </a:r>
          </a:p>
          <a:p>
            <a:pPr marL="0" indent="0">
              <a:buNone/>
            </a:pPr>
            <a:r>
              <a:rPr lang="en-US" altLang="zh-CN" sz="1800" dirty="0" err="1">
                <a:solidFill>
                  <a:srgbClr val="000000"/>
                </a:solidFill>
              </a:rPr>
              <a:t>s.</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"Cambridge"</a:t>
            </a:r>
            <a:r>
              <a:rPr lang="en-US" altLang="zh-CN" sz="1800" dirty="0">
                <a:solidFill>
                  <a:srgbClr val="000000"/>
                </a:solidFill>
              </a:rPr>
              <a:t>);</a:t>
            </a:r>
          </a:p>
          <a:p>
            <a:pPr marL="0" indent="0">
              <a:buNone/>
            </a:pPr>
            <a:r>
              <a:rPr lang="en-US" altLang="zh-CN" sz="1800" dirty="0" err="1">
                <a:solidFill>
                  <a:srgbClr val="000000"/>
                </a:solidFill>
              </a:rPr>
              <a:t>s.</a:t>
            </a:r>
            <a:r>
              <a:rPr lang="en-US" altLang="zh-CN" sz="1800" dirty="0" err="1">
                <a:solidFill>
                  <a:srgbClr val="A8227B"/>
                </a:solidFill>
              </a:rPr>
              <a:t>replaceAll</a:t>
            </a:r>
            <a:r>
              <a:rPr lang="en-US" altLang="zh-CN" sz="1800" dirty="0">
                <a:solidFill>
                  <a:srgbClr val="000000"/>
                </a:solidFill>
              </a:rPr>
              <a:t>(String::</a:t>
            </a:r>
            <a:r>
              <a:rPr lang="en-US" altLang="zh-CN" sz="1800" dirty="0" err="1">
                <a:solidFill>
                  <a:srgbClr val="000000"/>
                </a:solidFill>
              </a:rPr>
              <a:t>toUpperCase</a:t>
            </a:r>
            <a:r>
              <a:rPr lang="en-US" altLang="zh-CN" sz="1800" dirty="0">
                <a:solidFill>
                  <a:srgbClr val="000000"/>
                </a:solidFill>
              </a:rPr>
              <a:t>);</a:t>
            </a:r>
          </a:p>
          <a:p>
            <a:pPr marL="0" indent="0">
              <a:buFontTx/>
              <a:buNone/>
              <a:defRPr/>
            </a:pPr>
            <a:endParaRPr lang="en-US" altLang="zh-CN" sz="1800" dirty="0">
              <a:solidFill>
                <a:srgbClr val="000000"/>
              </a:solidFill>
              <a:latin typeface="Consolas" panose="020B0609020204030204" pitchFamily="49" charset="0"/>
            </a:endParaRPr>
          </a:p>
          <a:p>
            <a:pPr>
              <a:defRPr/>
            </a:pPr>
            <a:r>
              <a:rPr lang="en-US" altLang="zh-CN" sz="1800" dirty="0">
                <a:solidFill>
                  <a:srgbClr val="000000"/>
                </a:solidFill>
                <a:latin typeface="Consolas" panose="020B0609020204030204" pitchFamily="49" charset="0"/>
              </a:rPr>
              <a:t>Example 2</a:t>
            </a:r>
          </a:p>
          <a:p>
            <a:pPr marL="0" indent="0">
              <a:buNone/>
            </a:pPr>
            <a:r>
              <a:rPr lang="en-US" altLang="zh-CN" sz="1800" dirty="0">
                <a:solidFill>
                  <a:srgbClr val="000000"/>
                </a:solidFill>
              </a:rPr>
              <a:t>List&lt;Integer&gt; al = </a:t>
            </a:r>
            <a:r>
              <a:rPr lang="en-US" altLang="zh-CN" sz="1800" b="1" dirty="0">
                <a:solidFill>
                  <a:srgbClr val="2239A8"/>
                </a:solidFill>
              </a:rPr>
              <a:t>new</a:t>
            </a:r>
            <a:r>
              <a:rPr lang="en-US" altLang="zh-CN" sz="1800" dirty="0">
                <a:solidFill>
                  <a:srgbClr val="2239A8"/>
                </a:solidFill>
              </a:rPr>
              <a:t> </a:t>
            </a:r>
            <a:r>
              <a:rPr lang="en-US" altLang="zh-CN" sz="1800" dirty="0" err="1">
                <a:solidFill>
                  <a:srgbClr val="000000"/>
                </a:solidFill>
              </a:rPr>
              <a:t>ArrayList</a:t>
            </a:r>
            <a:r>
              <a:rPr lang="en-US" altLang="zh-CN" sz="1800" dirty="0">
                <a:solidFill>
                  <a:srgbClr val="000000"/>
                </a:solidFill>
              </a:rPr>
              <a:t>&lt;Integer&gt;(); </a:t>
            </a:r>
          </a:p>
          <a:p>
            <a:pPr marL="0" indent="0">
              <a:buNone/>
            </a:pPr>
            <a:r>
              <a:rPr lang="en-US" altLang="zh-CN" sz="1800" dirty="0" err="1">
                <a:solidFill>
                  <a:srgbClr val="000000"/>
                </a:solidFill>
              </a:rPr>
              <a:t>al.</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10</a:t>
            </a:r>
            <a:r>
              <a:rPr lang="en-US" altLang="zh-CN" sz="1800" dirty="0">
                <a:solidFill>
                  <a:srgbClr val="000000"/>
                </a:solidFill>
              </a:rPr>
              <a:t>); </a:t>
            </a:r>
          </a:p>
          <a:p>
            <a:pPr marL="0" indent="0">
              <a:buNone/>
            </a:pPr>
            <a:r>
              <a:rPr lang="en-US" altLang="zh-CN" sz="1800" dirty="0" err="1">
                <a:solidFill>
                  <a:srgbClr val="000000"/>
                </a:solidFill>
              </a:rPr>
              <a:t>al.</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20</a:t>
            </a:r>
            <a:r>
              <a:rPr lang="en-US" altLang="zh-CN" sz="1800" dirty="0">
                <a:solidFill>
                  <a:srgbClr val="000000"/>
                </a:solidFill>
              </a:rPr>
              <a:t>); </a:t>
            </a:r>
          </a:p>
          <a:p>
            <a:pPr marL="0" indent="0">
              <a:buNone/>
            </a:pPr>
            <a:r>
              <a:rPr lang="en-US" altLang="zh-CN" sz="1800" dirty="0" err="1">
                <a:solidFill>
                  <a:srgbClr val="000000"/>
                </a:solidFill>
              </a:rPr>
              <a:t>al.</a:t>
            </a:r>
            <a:r>
              <a:rPr lang="en-US" altLang="zh-CN" sz="1800" dirty="0" err="1">
                <a:solidFill>
                  <a:srgbClr val="A8227B"/>
                </a:solidFill>
              </a:rPr>
              <a:t>add</a:t>
            </a:r>
            <a:r>
              <a:rPr lang="en-US" altLang="zh-CN" sz="1800" dirty="0">
                <a:solidFill>
                  <a:srgbClr val="000000"/>
                </a:solidFill>
              </a:rPr>
              <a:t>(</a:t>
            </a:r>
            <a:r>
              <a:rPr lang="en-US" altLang="zh-CN" sz="1800" dirty="0">
                <a:solidFill>
                  <a:srgbClr val="A8660D"/>
                </a:solidFill>
              </a:rPr>
              <a:t>30</a:t>
            </a:r>
            <a:r>
              <a:rPr lang="en-US" altLang="zh-CN" sz="1800" dirty="0">
                <a:solidFill>
                  <a:srgbClr val="000000"/>
                </a:solidFill>
              </a:rPr>
              <a:t>); </a:t>
            </a:r>
          </a:p>
          <a:p>
            <a:pPr marL="0" indent="0">
              <a:buNone/>
            </a:pPr>
            <a:r>
              <a:rPr lang="en-US" altLang="zh-CN" sz="1800" dirty="0" err="1">
                <a:solidFill>
                  <a:srgbClr val="000000"/>
                </a:solidFill>
              </a:rPr>
              <a:t>al.</a:t>
            </a:r>
            <a:r>
              <a:rPr lang="en-US" altLang="zh-CN" sz="1800" dirty="0" err="1">
                <a:solidFill>
                  <a:srgbClr val="A8227B"/>
                </a:solidFill>
              </a:rPr>
              <a:t>replaceAll</a:t>
            </a:r>
            <a:r>
              <a:rPr lang="en-US" altLang="zh-CN" sz="1800" dirty="0">
                <a:solidFill>
                  <a:srgbClr val="000000"/>
                </a:solidFill>
              </a:rPr>
              <a:t>(x -&gt; x + </a:t>
            </a:r>
            <a:r>
              <a:rPr lang="en-US" altLang="zh-CN" sz="1800" dirty="0">
                <a:solidFill>
                  <a:srgbClr val="A8660D"/>
                </a:solidFill>
              </a:rPr>
              <a:t>100</a:t>
            </a:r>
            <a:r>
              <a:rPr lang="en-US" altLang="zh-CN" sz="1800" dirty="0">
                <a:solidFill>
                  <a:srgbClr val="000000"/>
                </a:solidFill>
              </a:rPr>
              <a:t>);</a:t>
            </a:r>
          </a:p>
          <a:p>
            <a:pPr marL="0" indent="0">
              <a:buNone/>
            </a:pPr>
            <a:r>
              <a:rPr lang="en-US" altLang="zh-CN" sz="1800" dirty="0" err="1">
                <a:solidFill>
                  <a:srgbClr val="000000"/>
                </a:solidFill>
              </a:rPr>
              <a:t>System.out.</a:t>
            </a:r>
            <a:r>
              <a:rPr lang="en-US" altLang="zh-CN" sz="1800" dirty="0" err="1">
                <a:solidFill>
                  <a:srgbClr val="A8227B"/>
                </a:solidFill>
              </a:rPr>
              <a:t>println</a:t>
            </a:r>
            <a:r>
              <a:rPr lang="en-US" altLang="zh-CN" sz="1800" dirty="0">
                <a:solidFill>
                  <a:srgbClr val="000000"/>
                </a:solidFill>
              </a:rPr>
              <a:t>(al);</a:t>
            </a:r>
          </a:p>
          <a:p>
            <a:pPr marL="0" indent="0">
              <a:buFontTx/>
              <a:buNone/>
              <a:defRPr/>
            </a:pPr>
            <a:endParaRPr lang="en-US" altLang="zh-CN" sz="1800" b="1" i="1" dirty="0">
              <a:solidFill>
                <a:srgbClr val="000000"/>
              </a:solidFill>
              <a:latin typeface="Consolas" panose="020B0609020204030204" pitchFamily="49" charset="0"/>
            </a:endParaRPr>
          </a:p>
          <a:p>
            <a:pPr>
              <a:defRPr/>
            </a:pPr>
            <a:r>
              <a:rPr lang="en-US" altLang="zh-CN" sz="1800" b="1" i="1" dirty="0">
                <a:solidFill>
                  <a:srgbClr val="000000"/>
                </a:solidFill>
                <a:latin typeface="Consolas" panose="020B0609020204030204" pitchFamily="49" charset="0"/>
              </a:rPr>
              <a:t>demolambda.ListReplaceAll.java</a:t>
            </a:r>
            <a:endParaRPr lang="zh-CN" alt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B2963E3-C0E7-446E-8736-139FDA066016}"/>
              </a:ext>
            </a:extLst>
          </p:cNvPr>
          <p:cNvSpPr>
            <a:spLocks noGrp="1"/>
          </p:cNvSpPr>
          <p:nvPr>
            <p:ph idx="1"/>
          </p:nvPr>
        </p:nvSpPr>
        <p:spPr/>
        <p:txBody>
          <a:bodyPr/>
          <a:lstStyle/>
          <a:p>
            <a:r>
              <a:rPr lang="en-US" altLang="zh-CN" dirty="0">
                <a:latin typeface="Courier New" panose="02070309020205020404" pitchFamily="49" charset="0"/>
                <a:cs typeface="Courier New" panose="02070309020205020404" pitchFamily="49" charset="0"/>
              </a:rPr>
              <a:t>Example</a:t>
            </a:r>
          </a:p>
          <a:p>
            <a:endParaRPr lang="en-US" altLang="zh-CN" dirty="0">
              <a:latin typeface="Courier New" panose="02070309020205020404" pitchFamily="49" charset="0"/>
              <a:cs typeface="Courier New" panose="02070309020205020404" pitchFamily="49" charset="0"/>
            </a:endParaRPr>
          </a:p>
          <a:p>
            <a:r>
              <a:rPr lang="en-US" altLang="zh-CN" dirty="0" err="1">
                <a:solidFill>
                  <a:srgbClr val="000000"/>
                </a:solidFill>
              </a:rPr>
              <a:t>ArrayList</a:t>
            </a:r>
            <a:r>
              <a:rPr lang="en-US" altLang="zh-CN" dirty="0">
                <a:solidFill>
                  <a:srgbClr val="000000"/>
                </a:solidFill>
              </a:rPr>
              <a:t>&lt;String&gt; </a:t>
            </a:r>
            <a:r>
              <a:rPr lang="en-US" altLang="zh-CN" dirty="0" err="1">
                <a:solidFill>
                  <a:srgbClr val="000000"/>
                </a:solidFill>
              </a:rPr>
              <a:t>cityList</a:t>
            </a:r>
            <a:r>
              <a:rPr lang="en-US" altLang="zh-CN" dirty="0">
                <a:solidFill>
                  <a:srgbClr val="000000"/>
                </a:solidFill>
              </a:rPr>
              <a:t> = </a:t>
            </a:r>
            <a:r>
              <a:rPr lang="en-US" altLang="zh-CN" b="1" dirty="0">
                <a:solidFill>
                  <a:srgbClr val="2239A8"/>
                </a:solidFill>
              </a:rPr>
              <a:t>new</a:t>
            </a:r>
            <a:r>
              <a:rPr lang="en-US" altLang="zh-CN" dirty="0">
                <a:solidFill>
                  <a:srgbClr val="2239A8"/>
                </a:solidFill>
              </a:rPr>
              <a:t> </a:t>
            </a:r>
            <a:r>
              <a:rPr lang="en-US" altLang="zh-CN" dirty="0" err="1">
                <a:solidFill>
                  <a:srgbClr val="000000"/>
                </a:solidFill>
              </a:rPr>
              <a:t>ArrayList</a:t>
            </a:r>
            <a:r>
              <a:rPr lang="en-US" altLang="zh-CN" dirty="0">
                <a:solidFill>
                  <a:srgbClr val="000000"/>
                </a:solidFill>
              </a:rPr>
              <a:t>&lt;&gt;();</a:t>
            </a:r>
          </a:p>
          <a:p>
            <a:r>
              <a:rPr lang="en-US" altLang="zh-CN" dirty="0" err="1">
                <a:solidFill>
                  <a:srgbClr val="000000"/>
                </a:solidFill>
              </a:rPr>
              <a:t>cityList.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"Derby"</a:t>
            </a:r>
            <a:r>
              <a:rPr lang="en-US" altLang="zh-CN" dirty="0">
                <a:solidFill>
                  <a:srgbClr val="000000"/>
                </a:solidFill>
              </a:rPr>
              <a:t>);</a:t>
            </a:r>
          </a:p>
          <a:p>
            <a:r>
              <a:rPr lang="en-US" altLang="zh-CN" dirty="0" err="1">
                <a:solidFill>
                  <a:srgbClr val="000000"/>
                </a:solidFill>
              </a:rPr>
              <a:t>cityList.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"London"</a:t>
            </a:r>
            <a:r>
              <a:rPr lang="en-US" altLang="zh-CN" dirty="0">
                <a:solidFill>
                  <a:srgbClr val="000000"/>
                </a:solidFill>
              </a:rPr>
              <a:t>);</a:t>
            </a:r>
          </a:p>
          <a:p>
            <a:r>
              <a:rPr lang="en-US" altLang="zh-CN" dirty="0" err="1">
                <a:solidFill>
                  <a:srgbClr val="000000"/>
                </a:solidFill>
              </a:rPr>
              <a:t>cityList.</a:t>
            </a:r>
            <a:r>
              <a:rPr lang="en-US" altLang="zh-CN" dirty="0" err="1">
                <a:solidFill>
                  <a:srgbClr val="A8227B"/>
                </a:solidFill>
              </a:rPr>
              <a:t>add</a:t>
            </a:r>
            <a:r>
              <a:rPr lang="en-US" altLang="zh-CN" dirty="0">
                <a:solidFill>
                  <a:srgbClr val="000000"/>
                </a:solidFill>
              </a:rPr>
              <a:t>(</a:t>
            </a:r>
            <a:r>
              <a:rPr lang="en-US" altLang="zh-CN" dirty="0">
                <a:solidFill>
                  <a:srgbClr val="A8660D"/>
                </a:solidFill>
              </a:rPr>
              <a:t>"Guangzhou"</a:t>
            </a:r>
            <a:r>
              <a:rPr lang="en-US" altLang="zh-CN" dirty="0">
                <a:solidFill>
                  <a:srgbClr val="000000"/>
                </a:solidFill>
              </a:rPr>
              <a:t>);</a:t>
            </a:r>
            <a:endParaRPr lang="zh-CN" altLang="en-US" dirty="0"/>
          </a:p>
          <a:p>
            <a:endParaRPr lang="zh-CN" altLang="en-US" dirty="0"/>
          </a:p>
          <a:p>
            <a:r>
              <a:rPr lang="en-US" altLang="zh-CN" dirty="0" err="1">
                <a:solidFill>
                  <a:srgbClr val="000000"/>
                </a:solidFill>
              </a:rPr>
              <a:t>cityList.</a:t>
            </a:r>
            <a:r>
              <a:rPr lang="en-US" altLang="zh-CN" dirty="0" err="1">
                <a:solidFill>
                  <a:srgbClr val="A8227B"/>
                </a:solidFill>
              </a:rPr>
              <a:t>sort</a:t>
            </a:r>
            <a:r>
              <a:rPr lang="en-US" altLang="zh-CN" dirty="0">
                <a:solidFill>
                  <a:srgbClr val="000000"/>
                </a:solidFill>
              </a:rPr>
              <a:t>(String::</a:t>
            </a:r>
            <a:r>
              <a:rPr lang="en-US" altLang="zh-CN" dirty="0" err="1">
                <a:solidFill>
                  <a:srgbClr val="000000"/>
                </a:solidFill>
              </a:rPr>
              <a:t>compareToIgnoreCase</a:t>
            </a:r>
            <a:r>
              <a:rPr lang="en-US" altLang="zh-CN" dirty="0">
                <a:solidFill>
                  <a:srgbClr val="000000"/>
                </a:solidFill>
              </a:rPr>
              <a:t>);</a:t>
            </a:r>
          </a:p>
          <a:p>
            <a:pPr marL="0" indent="0">
              <a:buNone/>
            </a:pPr>
            <a:endParaRPr lang="zh-CN" altLang="en-US" dirty="0"/>
          </a:p>
          <a:p>
            <a:r>
              <a:rPr lang="en-US" altLang="zh-CN" dirty="0">
                <a:solidFill>
                  <a:srgbClr val="558817"/>
                </a:solidFill>
              </a:rPr>
              <a:t>// search a city in the sorted array</a:t>
            </a:r>
          </a:p>
          <a:p>
            <a:r>
              <a:rPr lang="en-US" altLang="zh-CN" b="1" dirty="0">
                <a:solidFill>
                  <a:srgbClr val="2239A8"/>
                </a:solidFill>
              </a:rPr>
              <a:t>int</a:t>
            </a:r>
            <a:r>
              <a:rPr lang="en-US" altLang="zh-CN" dirty="0">
                <a:solidFill>
                  <a:srgbClr val="2239A8"/>
                </a:solidFill>
              </a:rPr>
              <a:t> </a:t>
            </a:r>
            <a:r>
              <a:rPr lang="en-US" altLang="zh-CN" dirty="0">
                <a:solidFill>
                  <a:srgbClr val="000000"/>
                </a:solidFill>
              </a:rPr>
              <a:t>index = </a:t>
            </a:r>
            <a:r>
              <a:rPr lang="en-US" altLang="zh-CN" dirty="0" err="1">
                <a:solidFill>
                  <a:srgbClr val="000000"/>
                </a:solidFill>
              </a:rPr>
              <a:t>Collections.</a:t>
            </a:r>
            <a:r>
              <a:rPr lang="en-US" altLang="zh-CN" dirty="0" err="1">
                <a:solidFill>
                  <a:srgbClr val="A8227B"/>
                </a:solidFill>
              </a:rPr>
              <a:t>binarySearch</a:t>
            </a:r>
            <a:r>
              <a:rPr lang="en-US" altLang="zh-CN" dirty="0">
                <a:solidFill>
                  <a:srgbClr val="000000"/>
                </a:solidFill>
              </a:rPr>
              <a:t>(</a:t>
            </a:r>
            <a:r>
              <a:rPr lang="en-US" altLang="zh-CN" dirty="0" err="1">
                <a:solidFill>
                  <a:srgbClr val="000000"/>
                </a:solidFill>
              </a:rPr>
              <a:t>cityList</a:t>
            </a:r>
            <a:r>
              <a:rPr lang="en-US" altLang="zh-CN" dirty="0">
                <a:solidFill>
                  <a:srgbClr val="000000"/>
                </a:solidFill>
              </a:rPr>
              <a:t>, </a:t>
            </a:r>
            <a:r>
              <a:rPr lang="en-US" altLang="zh-CN" dirty="0">
                <a:solidFill>
                  <a:srgbClr val="A8660D"/>
                </a:solidFill>
              </a:rPr>
              <a:t>"Shanghai"</a:t>
            </a:r>
            <a:r>
              <a:rPr lang="en-US" altLang="zh-CN" dirty="0">
                <a:solidFill>
                  <a:srgbClr val="000000"/>
                </a:solidFill>
              </a:rPr>
              <a:t>);</a:t>
            </a:r>
          </a:p>
          <a:p>
            <a:endParaRPr lang="en-US" altLang="zh-CN" dirty="0">
              <a:solidFill>
                <a:srgbClr val="000000"/>
              </a:solidFill>
            </a:endParaRPr>
          </a:p>
          <a:p>
            <a:r>
              <a:rPr lang="en-US" altLang="zh-CN" dirty="0">
                <a:solidFill>
                  <a:srgbClr val="000000"/>
                </a:solidFill>
              </a:rPr>
              <a:t>demobinarysearch.</a:t>
            </a:r>
            <a:r>
              <a:rPr lang="en-US" altLang="zh-CN" dirty="0"/>
              <a:t>StringArrayListSearch.java</a:t>
            </a:r>
            <a:endParaRPr lang="en-US" altLang="zh-CN" dirty="0">
              <a:solidFill>
                <a:srgbClr val="000000"/>
              </a:solidFill>
            </a:endParaRPr>
          </a:p>
          <a:p>
            <a:endParaRPr lang="zh-CN" altLang="en-US" dirty="0"/>
          </a:p>
        </p:txBody>
      </p:sp>
      <p:sp>
        <p:nvSpPr>
          <p:cNvPr id="3" name="标题 2">
            <a:extLst>
              <a:ext uri="{FF2B5EF4-FFF2-40B4-BE49-F238E27FC236}">
                <a16:creationId xmlns:a16="http://schemas.microsoft.com/office/drawing/2014/main" id="{0070F305-CFD5-48F9-A478-24045EF5DA45}"/>
              </a:ext>
            </a:extLst>
          </p:cNvPr>
          <p:cNvSpPr>
            <a:spLocks noGrp="1"/>
          </p:cNvSpPr>
          <p:nvPr>
            <p:ph type="title"/>
          </p:nvPr>
        </p:nvSpPr>
        <p:spPr/>
        <p:txBody>
          <a:bodyPr/>
          <a:lstStyle/>
          <a:p>
            <a:r>
              <a:rPr lang="en-US" altLang="zh-CN" dirty="0"/>
              <a:t>Binary Search</a:t>
            </a:r>
            <a:endParaRPr lang="zh-CN" altLang="en-US" dirty="0"/>
          </a:p>
        </p:txBody>
      </p:sp>
      <p:sp>
        <p:nvSpPr>
          <p:cNvPr id="4" name="日期占位符 3">
            <a:extLst>
              <a:ext uri="{FF2B5EF4-FFF2-40B4-BE49-F238E27FC236}">
                <a16:creationId xmlns:a16="http://schemas.microsoft.com/office/drawing/2014/main" id="{CEA59491-E187-4E34-B709-109C1EABF113}"/>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D6842641-6B3B-451F-A737-1D77887BB78D}"/>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30240837-39FE-43F9-89B5-E8353D37EAAD}"/>
              </a:ext>
            </a:extLst>
          </p:cNvPr>
          <p:cNvSpPr>
            <a:spLocks noGrp="1"/>
          </p:cNvSpPr>
          <p:nvPr>
            <p:ph type="sldNum" sz="quarter" idx="4"/>
          </p:nvPr>
        </p:nvSpPr>
        <p:spPr/>
        <p:txBody>
          <a:bodyPr/>
          <a:lstStyle/>
          <a:p>
            <a:fld id="{19B12225-5612-419B-A8D5-4B8EEE4C217E}" type="slidenum">
              <a:rPr lang="en-US" smtClean="0"/>
              <a:pPr/>
              <a:t>32</a:t>
            </a:fld>
            <a:endParaRPr lang="en-US" dirty="0"/>
          </a:p>
        </p:txBody>
      </p:sp>
    </p:spTree>
    <p:extLst>
      <p:ext uri="{BB962C8B-B14F-4D97-AF65-F5344CB8AC3E}">
        <p14:creationId xmlns:p14="http://schemas.microsoft.com/office/powerpoint/2010/main" val="899992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F8796A4-C89E-44CA-8CE7-7BC314D99ADD}"/>
              </a:ext>
            </a:extLst>
          </p:cNvPr>
          <p:cNvSpPr>
            <a:spLocks noGrp="1"/>
          </p:cNvSpPr>
          <p:nvPr>
            <p:ph type="title"/>
          </p:nvPr>
        </p:nvSpPr>
        <p:spPr/>
        <p:txBody>
          <a:bodyPr/>
          <a:lstStyle/>
          <a:p>
            <a:r>
              <a:rPr lang="en-US" altLang="zh-CN" dirty="0"/>
              <a:t>Return Functions, High-order Functions </a:t>
            </a:r>
            <a:endParaRPr lang="zh-CN" altLang="en-US" dirty="0"/>
          </a:p>
        </p:txBody>
      </p:sp>
      <p:sp>
        <p:nvSpPr>
          <p:cNvPr id="4" name="日期占位符 3">
            <a:extLst>
              <a:ext uri="{FF2B5EF4-FFF2-40B4-BE49-F238E27FC236}">
                <a16:creationId xmlns:a16="http://schemas.microsoft.com/office/drawing/2014/main" id="{6936421F-9176-4103-B72B-70E5C92DE806}"/>
              </a:ext>
            </a:extLst>
          </p:cNvPr>
          <p:cNvSpPr>
            <a:spLocks noGrp="1"/>
          </p:cNvSpPr>
          <p:nvPr>
            <p:ph type="dt" sz="half" idx="2"/>
          </p:nvPr>
        </p:nvSpPr>
        <p:spPr/>
        <p:txBody>
          <a:bodyPr/>
          <a:lstStyle/>
          <a:p>
            <a:fld id="{55FF4013-57FE-4D48-9822-890FE3B9D03E}" type="datetime1">
              <a:rPr lang="zh-CN" altLang="en-US" smtClean="0"/>
              <a:t>2026/2/5</a:t>
            </a:fld>
            <a:endParaRPr lang="en-US" dirty="0"/>
          </a:p>
        </p:txBody>
      </p:sp>
      <p:sp>
        <p:nvSpPr>
          <p:cNvPr id="5" name="页脚占位符 4">
            <a:extLst>
              <a:ext uri="{FF2B5EF4-FFF2-40B4-BE49-F238E27FC236}">
                <a16:creationId xmlns:a16="http://schemas.microsoft.com/office/drawing/2014/main" id="{1F1865A2-0FAD-49D2-A5D7-3D0D06A7E09D}"/>
              </a:ext>
            </a:extLst>
          </p:cNvPr>
          <p:cNvSpPr>
            <a:spLocks noGrp="1"/>
          </p:cNvSpPr>
          <p:nvPr>
            <p:ph type="ftr" sz="quarter" idx="3"/>
          </p:nvPr>
        </p:nvSpPr>
        <p:spPr/>
        <p:txBody>
          <a:bodyPr/>
          <a:lstStyle/>
          <a:p>
            <a:pPr algn="ctr"/>
            <a:r>
              <a:rPr lang="zh-CN" altLang="en-US"/>
              <a:t>趙友兵 </a:t>
            </a:r>
            <a:r>
              <a:rPr lang="en-US" altLang="zh-CN"/>
              <a:t>DeepJava</a:t>
            </a:r>
            <a:endParaRPr lang="en-US" dirty="0"/>
          </a:p>
        </p:txBody>
      </p:sp>
      <p:sp>
        <p:nvSpPr>
          <p:cNvPr id="6" name="灯片编号占位符 5">
            <a:extLst>
              <a:ext uri="{FF2B5EF4-FFF2-40B4-BE49-F238E27FC236}">
                <a16:creationId xmlns:a16="http://schemas.microsoft.com/office/drawing/2014/main" id="{F15116D9-1ECB-48DA-9B86-7F41477E0D9E}"/>
              </a:ext>
            </a:extLst>
          </p:cNvPr>
          <p:cNvSpPr>
            <a:spLocks noGrp="1"/>
          </p:cNvSpPr>
          <p:nvPr>
            <p:ph type="sldNum" sz="quarter" idx="4"/>
          </p:nvPr>
        </p:nvSpPr>
        <p:spPr/>
        <p:txBody>
          <a:bodyPr/>
          <a:lstStyle/>
          <a:p>
            <a:fld id="{19B12225-5612-419B-A8D5-4B8EEE4C217E}" type="slidenum">
              <a:rPr lang="en-US" smtClean="0"/>
              <a:pPr/>
              <a:t>33</a:t>
            </a:fld>
            <a:endParaRPr lang="en-US" dirty="0"/>
          </a:p>
        </p:txBody>
      </p:sp>
      <p:sp>
        <p:nvSpPr>
          <p:cNvPr id="7" name="内容占位符 6">
            <a:extLst>
              <a:ext uri="{FF2B5EF4-FFF2-40B4-BE49-F238E27FC236}">
                <a16:creationId xmlns:a16="http://schemas.microsoft.com/office/drawing/2014/main" id="{1E3022D5-B053-4F9A-97C2-4305A465C54D}"/>
              </a:ext>
            </a:extLst>
          </p:cNvPr>
          <p:cNvSpPr>
            <a:spLocks noGrp="1"/>
          </p:cNvSpPr>
          <p:nvPr>
            <p:ph idx="10"/>
          </p:nvPr>
        </p:nvSpPr>
        <p:spPr>
          <a:xfrm>
            <a:off x="152400" y="914400"/>
            <a:ext cx="8839200" cy="5715001"/>
          </a:xfrm>
        </p:spPr>
        <p:txBody>
          <a:bodyPr>
            <a:normAutofit/>
          </a:bodyPr>
          <a:lstStyle/>
          <a:p>
            <a:pPr marL="0" indent="0">
              <a:buNone/>
            </a:pPr>
            <a:r>
              <a:rPr lang="en-US" altLang="zh-CN" sz="1800" b="1" dirty="0">
                <a:solidFill>
                  <a:srgbClr val="2239A8"/>
                </a:solidFill>
              </a:rPr>
              <a:t>public</a:t>
            </a:r>
            <a:r>
              <a:rPr lang="en-US" altLang="zh-CN" sz="1800" dirty="0">
                <a:solidFill>
                  <a:srgbClr val="2239A8"/>
                </a:solidFill>
              </a:rPr>
              <a:t> </a:t>
            </a:r>
            <a:r>
              <a:rPr lang="en-US" altLang="zh-CN" sz="1800" dirty="0">
                <a:solidFill>
                  <a:srgbClr val="000000"/>
                </a:solidFill>
              </a:rPr>
              <a:t>Comparator&lt;String&gt; </a:t>
            </a:r>
            <a:r>
              <a:rPr lang="en-US" altLang="zh-CN" sz="1800" dirty="0" err="1">
                <a:solidFill>
                  <a:srgbClr val="A8227B"/>
                </a:solidFill>
              </a:rPr>
              <a:t>getStrLenComparator</a:t>
            </a:r>
            <a:r>
              <a:rPr lang="en-US" altLang="zh-CN" sz="1800" dirty="0">
                <a:solidFill>
                  <a:srgbClr val="000000"/>
                </a:solidFill>
              </a:rPr>
              <a:t>() {</a:t>
            </a:r>
          </a:p>
          <a:p>
            <a:pPr marL="0" indent="0">
              <a:buNone/>
            </a:pPr>
            <a:r>
              <a:rPr lang="en-US" altLang="zh-CN" sz="1800" dirty="0"/>
              <a:t>    </a:t>
            </a:r>
            <a:r>
              <a:rPr lang="en-US" altLang="zh-CN" sz="1800" b="1" dirty="0">
                <a:solidFill>
                  <a:srgbClr val="2239A8"/>
                </a:solidFill>
              </a:rPr>
              <a:t>return</a:t>
            </a:r>
            <a:r>
              <a:rPr lang="en-US" altLang="zh-CN" sz="1800" dirty="0">
                <a:solidFill>
                  <a:srgbClr val="2239A8"/>
                </a:solidFill>
              </a:rPr>
              <a:t> </a:t>
            </a:r>
            <a:r>
              <a:rPr lang="en-US" altLang="zh-CN" sz="1800" dirty="0">
                <a:solidFill>
                  <a:srgbClr val="000000"/>
                </a:solidFill>
              </a:rPr>
              <a:t>(s1, s2) -&gt; </a:t>
            </a:r>
            <a:r>
              <a:rPr lang="en-US" altLang="zh-CN" sz="1800" dirty="0" err="1">
                <a:solidFill>
                  <a:srgbClr val="000000"/>
                </a:solidFill>
              </a:rPr>
              <a:t>Integer.</a:t>
            </a:r>
            <a:r>
              <a:rPr lang="en-US" altLang="zh-CN" sz="1800" dirty="0" err="1">
                <a:solidFill>
                  <a:srgbClr val="A8227B"/>
                </a:solidFill>
              </a:rPr>
              <a:t>compare</a:t>
            </a:r>
            <a:r>
              <a:rPr lang="en-US" altLang="zh-CN" sz="1800" dirty="0">
                <a:solidFill>
                  <a:srgbClr val="000000"/>
                </a:solidFill>
              </a:rPr>
              <a:t>(s1.</a:t>
            </a:r>
            <a:r>
              <a:rPr lang="en-US" altLang="zh-CN" sz="1800" dirty="0">
                <a:solidFill>
                  <a:srgbClr val="A8227B"/>
                </a:solidFill>
              </a:rPr>
              <a:t>length</a:t>
            </a:r>
            <a:r>
              <a:rPr lang="en-US" altLang="zh-CN" sz="1800" dirty="0">
                <a:solidFill>
                  <a:srgbClr val="000000"/>
                </a:solidFill>
              </a:rPr>
              <a:t>(), s2.</a:t>
            </a:r>
            <a:r>
              <a:rPr lang="en-US" altLang="zh-CN" sz="1800" dirty="0">
                <a:solidFill>
                  <a:srgbClr val="A8227B"/>
                </a:solidFill>
              </a:rPr>
              <a:t>length</a:t>
            </a:r>
            <a:r>
              <a:rPr lang="en-US" altLang="zh-CN" sz="1800" dirty="0">
                <a:solidFill>
                  <a:srgbClr val="000000"/>
                </a:solidFill>
              </a:rPr>
              <a:t>());</a:t>
            </a:r>
          </a:p>
          <a:p>
            <a:pPr marL="0" indent="0">
              <a:buNone/>
            </a:pPr>
            <a:r>
              <a:rPr lang="en-US" altLang="zh-CN" sz="1800" dirty="0">
                <a:solidFill>
                  <a:srgbClr val="000000"/>
                </a:solidFill>
              </a:rPr>
              <a:t>}</a:t>
            </a:r>
          </a:p>
          <a:p>
            <a:pPr marL="0" indent="0">
              <a:buNone/>
            </a:pPr>
            <a:endParaRPr lang="zh-CN" altLang="en-US" sz="1800" dirty="0"/>
          </a:p>
          <a:p>
            <a:pPr marL="0" indent="0">
              <a:buNone/>
            </a:pPr>
            <a:r>
              <a:rPr lang="en-US" altLang="zh-CN" sz="1800" b="1" dirty="0">
                <a:solidFill>
                  <a:srgbClr val="2239A8"/>
                </a:solidFill>
              </a:rPr>
              <a:t>public</a:t>
            </a:r>
            <a:r>
              <a:rPr lang="en-US" altLang="zh-CN" sz="1800" dirty="0">
                <a:solidFill>
                  <a:srgbClr val="2239A8"/>
                </a:solidFill>
              </a:rPr>
              <a:t> </a:t>
            </a:r>
            <a:r>
              <a:rPr lang="en-US" altLang="zh-CN" sz="1800" dirty="0">
                <a:solidFill>
                  <a:srgbClr val="000000"/>
                </a:solidFill>
              </a:rPr>
              <a:t>Comparator&lt;String&gt; </a:t>
            </a:r>
            <a:r>
              <a:rPr lang="en-US" altLang="zh-CN" sz="1800" dirty="0">
                <a:solidFill>
                  <a:srgbClr val="A8227B"/>
                </a:solidFill>
              </a:rPr>
              <a:t>getStrLenComparator2</a:t>
            </a:r>
            <a:r>
              <a:rPr lang="en-US" altLang="zh-CN" sz="1800" dirty="0">
                <a:solidFill>
                  <a:srgbClr val="000000"/>
                </a:solidFill>
              </a:rPr>
              <a:t>() {</a:t>
            </a:r>
          </a:p>
          <a:p>
            <a:pPr marL="0" indent="0">
              <a:buNone/>
            </a:pPr>
            <a:r>
              <a:rPr lang="en-US" altLang="zh-CN" sz="1800" dirty="0"/>
              <a:t>    </a:t>
            </a:r>
            <a:r>
              <a:rPr lang="en-US" altLang="zh-CN" sz="1800" b="1" dirty="0">
                <a:solidFill>
                  <a:srgbClr val="2239A8"/>
                </a:solidFill>
              </a:rPr>
              <a:t>return</a:t>
            </a:r>
            <a:r>
              <a:rPr lang="en-US" altLang="zh-CN" sz="1800" dirty="0">
                <a:solidFill>
                  <a:srgbClr val="2239A8"/>
                </a:solidFill>
              </a:rPr>
              <a:t> </a:t>
            </a:r>
            <a:r>
              <a:rPr lang="en-US" altLang="zh-CN" sz="1800" dirty="0" err="1">
                <a:solidFill>
                  <a:srgbClr val="000000"/>
                </a:solidFill>
              </a:rPr>
              <a:t>Comparator.</a:t>
            </a:r>
            <a:r>
              <a:rPr lang="en-US" altLang="zh-CN" sz="1800" dirty="0" err="1">
                <a:solidFill>
                  <a:srgbClr val="A8227B"/>
                </a:solidFill>
              </a:rPr>
              <a:t>comparing</a:t>
            </a:r>
            <a:r>
              <a:rPr lang="en-US" altLang="zh-CN" sz="1800" dirty="0">
                <a:solidFill>
                  <a:srgbClr val="000000"/>
                </a:solidFill>
              </a:rPr>
              <a:t>(String::length);</a:t>
            </a:r>
          </a:p>
          <a:p>
            <a:pPr marL="0" indent="0">
              <a:buNone/>
            </a:pPr>
            <a:r>
              <a:rPr lang="en-US" altLang="zh-CN" sz="1800" dirty="0">
                <a:solidFill>
                  <a:srgbClr val="000000"/>
                </a:solidFill>
              </a:rPr>
              <a:t>}</a:t>
            </a:r>
          </a:p>
          <a:p>
            <a:pPr marL="0" indent="0">
              <a:buNone/>
            </a:pPr>
            <a:endParaRPr lang="en-US" altLang="zh-CN" sz="1800" dirty="0"/>
          </a:p>
          <a:p>
            <a:pPr marL="0" indent="0">
              <a:buNone/>
            </a:pPr>
            <a:r>
              <a:rPr lang="en-US" altLang="zh-CN" sz="1800" dirty="0"/>
              <a:t>// using the Function Interface</a:t>
            </a:r>
          </a:p>
          <a:p>
            <a:pPr marL="0" indent="0">
              <a:buNone/>
            </a:pPr>
            <a:endParaRPr lang="en-US" altLang="zh-CN" sz="1800" dirty="0"/>
          </a:p>
          <a:p>
            <a:pPr marL="0" indent="0">
              <a:buNone/>
            </a:pPr>
            <a:r>
              <a:rPr lang="en-US" altLang="zh-CN" sz="1800" b="1" dirty="0">
                <a:solidFill>
                  <a:srgbClr val="2239A8"/>
                </a:solidFill>
              </a:rPr>
              <a:t>public </a:t>
            </a:r>
            <a:r>
              <a:rPr lang="en-US" altLang="zh-CN" sz="1800" dirty="0">
                <a:solidFill>
                  <a:srgbClr val="000000"/>
                </a:solidFill>
              </a:rPr>
              <a:t>Function&lt;Integer, String&gt; </a:t>
            </a:r>
            <a:r>
              <a:rPr lang="en-US" altLang="zh-CN" sz="1800" dirty="0" err="1">
                <a:solidFill>
                  <a:srgbClr val="A8227B"/>
                </a:solidFill>
              </a:rPr>
              <a:t>getLambdaFunction</a:t>
            </a:r>
            <a:r>
              <a:rPr lang="en-US" altLang="zh-CN" sz="1800" dirty="0">
                <a:solidFill>
                  <a:srgbClr val="000000"/>
                </a:solidFill>
              </a:rPr>
              <a:t>() {</a:t>
            </a:r>
          </a:p>
          <a:p>
            <a:pPr marL="0" indent="0">
              <a:buNone/>
            </a:pPr>
            <a:r>
              <a:rPr lang="en-US" altLang="zh-CN" sz="1800" dirty="0"/>
              <a:t>    </a:t>
            </a:r>
            <a:r>
              <a:rPr lang="en-US" altLang="zh-CN" sz="1800" b="1" dirty="0">
                <a:solidFill>
                  <a:srgbClr val="2239A8"/>
                </a:solidFill>
              </a:rPr>
              <a:t>return</a:t>
            </a:r>
            <a:r>
              <a:rPr lang="en-US" altLang="zh-CN" sz="1800" dirty="0">
                <a:solidFill>
                  <a:srgbClr val="2239A8"/>
                </a:solidFill>
              </a:rPr>
              <a:t> </a:t>
            </a:r>
            <a:r>
              <a:rPr lang="en-US" altLang="zh-CN" sz="1800" dirty="0">
                <a:solidFill>
                  <a:srgbClr val="000000"/>
                </a:solidFill>
              </a:rPr>
              <a:t>(it) -&gt; </a:t>
            </a:r>
            <a:r>
              <a:rPr lang="en-US" altLang="zh-CN" sz="1800" dirty="0">
                <a:solidFill>
                  <a:srgbClr val="A8660D"/>
                </a:solidFill>
              </a:rPr>
              <a:t>"Hello, world: " </a:t>
            </a:r>
            <a:r>
              <a:rPr lang="en-US" altLang="zh-CN" sz="1800" dirty="0">
                <a:solidFill>
                  <a:srgbClr val="000000"/>
                </a:solidFill>
              </a:rPr>
              <a:t>+ it;</a:t>
            </a:r>
          </a:p>
          <a:p>
            <a:pPr marL="0" indent="0">
              <a:buNone/>
            </a:pPr>
            <a:r>
              <a:rPr lang="en-US" altLang="zh-CN" sz="1800" dirty="0">
                <a:solidFill>
                  <a:srgbClr val="000000"/>
                </a:solidFill>
              </a:rPr>
              <a:t>}</a:t>
            </a:r>
          </a:p>
          <a:p>
            <a:endParaRPr lang="en-US" altLang="zh-CN" sz="1800" dirty="0"/>
          </a:p>
          <a:p>
            <a:r>
              <a:rPr lang="en-US" altLang="zh-CN" sz="1800" dirty="0"/>
              <a:t>Function&lt;Integer, Integer&gt; g = x -&gt; x + 1;</a:t>
            </a:r>
          </a:p>
          <a:p>
            <a:r>
              <a:rPr lang="en-US" altLang="zh-CN" sz="1800" dirty="0"/>
              <a:t>Function&lt;Integer, Integer&gt; f = x -&gt; x * 2;</a:t>
            </a:r>
          </a:p>
          <a:p>
            <a:r>
              <a:rPr lang="en-US" altLang="zh-CN" sz="1800" dirty="0"/>
              <a:t>Function&lt;Integer, Integer&gt; h = </a:t>
            </a:r>
            <a:r>
              <a:rPr lang="en-US" altLang="zh-CN" sz="1800" dirty="0" err="1"/>
              <a:t>f.compose</a:t>
            </a:r>
            <a:r>
              <a:rPr lang="en-US" altLang="zh-CN" sz="1800" dirty="0"/>
              <a:t>(g);</a:t>
            </a:r>
            <a:endParaRPr lang="zh-CN" altLang="en-US" sz="1800" dirty="0"/>
          </a:p>
          <a:p>
            <a:pPr marL="0" indent="0">
              <a:buNone/>
            </a:pPr>
            <a:endParaRPr lang="en-US" altLang="zh-CN" sz="1800" dirty="0">
              <a:solidFill>
                <a:srgbClr val="000000"/>
              </a:solidFill>
            </a:endParaRPr>
          </a:p>
          <a:p>
            <a:r>
              <a:rPr lang="en-US" altLang="zh-CN" dirty="0"/>
              <a:t>demolambda.ReturnFunctionDemo.java</a:t>
            </a:r>
            <a:endParaRPr lang="zh-CN" altLang="en-US" dirty="0"/>
          </a:p>
        </p:txBody>
      </p:sp>
    </p:spTree>
    <p:extLst>
      <p:ext uri="{BB962C8B-B14F-4D97-AF65-F5344CB8AC3E}">
        <p14:creationId xmlns:p14="http://schemas.microsoft.com/office/powerpoint/2010/main" val="1864348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BCA803-3905-4D33-BE4F-4BBE25ACAD71}"/>
              </a:ext>
            </a:extLst>
          </p:cNvPr>
          <p:cNvSpPr>
            <a:spLocks noGrp="1"/>
          </p:cNvSpPr>
          <p:nvPr>
            <p:ph type="title"/>
          </p:nvPr>
        </p:nvSpPr>
        <p:spPr>
          <a:xfrm>
            <a:off x="76200" y="3733800"/>
            <a:ext cx="8013192" cy="1636776"/>
          </a:xfrm>
        </p:spPr>
        <p:txBody>
          <a:bodyPr/>
          <a:lstStyle/>
          <a:p>
            <a:pPr algn="l"/>
            <a:r>
              <a:rPr lang="en-US" altLang="zh-CN" dirty="0"/>
              <a:t>END</a:t>
            </a:r>
            <a:endParaRPr lang="zh-CN" altLang="en-US" dirty="0"/>
          </a:p>
        </p:txBody>
      </p:sp>
      <p:sp>
        <p:nvSpPr>
          <p:cNvPr id="4" name="文本框 3">
            <a:extLst>
              <a:ext uri="{FF2B5EF4-FFF2-40B4-BE49-F238E27FC236}">
                <a16:creationId xmlns:a16="http://schemas.microsoft.com/office/drawing/2014/main" id="{063F73F5-EF82-4FF1-A77D-ACD0E4F9F02E}"/>
              </a:ext>
            </a:extLst>
          </p:cNvPr>
          <p:cNvSpPr txBox="1"/>
          <p:nvPr/>
        </p:nvSpPr>
        <p:spPr>
          <a:xfrm>
            <a:off x="228600" y="6248400"/>
            <a:ext cx="3276600" cy="304800"/>
          </a:xfrm>
          <a:prstGeom prst="rect">
            <a:avLst/>
          </a:prstGeom>
        </p:spPr>
        <p:txBody>
          <a:bodyPr vert="horz" wrap="square" lIns="91440" tIns="0" rIns="45720" bIns="0" rtlCol="0" anchor="t">
            <a:normAutofit fontScale="85000" lnSpcReduction="10000"/>
            <a:scene3d>
              <a:camera prst="orthographicFront"/>
              <a:lightRig rig="threePt" dir="t">
                <a:rot lat="0" lon="0" rev="4800000"/>
              </a:lightRig>
            </a:scene3d>
            <a:sp3d prstMaterial="matte">
              <a:bevelT w="50800" h="10160"/>
            </a:sp3d>
          </a:bodyPr>
          <a:lstStyle/>
          <a:p>
            <a:r>
              <a:rPr lang="en-US" altLang="zh-CN" i="1" dirty="0"/>
              <a:t>Nothing is final.  </a:t>
            </a:r>
            <a:r>
              <a:rPr lang="en-US" altLang="zh-CN" dirty="0"/>
              <a:t>—— </a:t>
            </a:r>
            <a:r>
              <a:rPr lang="en-US" altLang="zh-CN" b="1" dirty="0"/>
              <a:t>Hsue-Shen Tsien</a:t>
            </a:r>
            <a:endParaRPr lang="zh-CN" altLang="en-US" dirty="0"/>
          </a:p>
        </p:txBody>
      </p:sp>
    </p:spTree>
    <p:extLst>
      <p:ext uri="{BB962C8B-B14F-4D97-AF65-F5344CB8AC3E}">
        <p14:creationId xmlns:p14="http://schemas.microsoft.com/office/powerpoint/2010/main" val="7757250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java">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模块">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模块">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bodyPr vert="horz" lIns="91440" tIns="0" rIns="45720" bIns="0" rtlCol="0" anchor="t">
        <a:normAutofit fontScale="92500"/>
        <a:scene3d>
          <a:camera prst="orthographicFront"/>
          <a:lightRig rig="threePt" dir="t">
            <a:rot lat="0" lon="0" rev="4800000"/>
          </a:lightRig>
        </a:scene3d>
        <a:sp3d prstMaterial="matte">
          <a:bevelT w="50800" h="10160"/>
        </a:sp3d>
      </a:bodyPr>
      <a:lstStyle>
        <a:defPPr algn="l">
          <a:defRPr dirty="0" smtClean="0"/>
        </a:defPPr>
      </a:lstStyle>
    </a:txDef>
  </a:objectDefaults>
  <a:extraClrSchemeLst/>
  <a:extLst>
    <a:ext uri="{05A4C25C-085E-4340-85A3-A5531E510DB2}">
      <thm15:themeFamily xmlns:thm15="http://schemas.microsoft.com/office/thememl/2012/main" name="java" id="{E067C468-2019-4B2C-83B6-25AFB8BBE114}" vid="{3105D451-5191-4C4F-B374-13A95F543D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TM02900743[[fn=环保]]</Template>
  <TotalTime>68298</TotalTime>
  <Words>3007</Words>
  <Application>Microsoft Office PowerPoint</Application>
  <PresentationFormat>On-screen Show (4:3)</PresentationFormat>
  <Paragraphs>585</Paragraphs>
  <Slides>34</Slides>
  <Notes>4</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等线</vt:lpstr>
      <vt:lpstr>Calibri</vt:lpstr>
      <vt:lpstr>Consolas</vt:lpstr>
      <vt:lpstr>Corbel</vt:lpstr>
      <vt:lpstr>Courier New</vt:lpstr>
      <vt:lpstr>Wingdings</vt:lpstr>
      <vt:lpstr>Wingdings 2</vt:lpstr>
      <vt:lpstr>java</vt:lpstr>
      <vt:lpstr> 5CM524 Functional Programming</vt:lpstr>
      <vt:lpstr>Content</vt:lpstr>
      <vt:lpstr>Functional Programming in Java </vt:lpstr>
      <vt:lpstr>Features of Functional Programming </vt:lpstr>
      <vt:lpstr>Pros and Cons of FP</vt:lpstr>
      <vt:lpstr>Java Language Features and FP in Java</vt:lpstr>
      <vt:lpstr>Functional Programming in Java</vt:lpstr>
      <vt:lpstr>First-class Functions –  Method Reference</vt:lpstr>
      <vt:lpstr>Common Method Reference</vt:lpstr>
      <vt:lpstr>Static Method Reference</vt:lpstr>
      <vt:lpstr>Instance Method Reference</vt:lpstr>
      <vt:lpstr>Class Method Reference </vt:lpstr>
      <vt:lpstr>Comparator based Sorting using Method Refereence</vt:lpstr>
      <vt:lpstr>Sorting using Comparator&lt;T&gt;</vt:lpstr>
      <vt:lpstr>Java 8 – Anonymous Comparators</vt:lpstr>
      <vt:lpstr>Sorting using One Key</vt:lpstr>
      <vt:lpstr>The Comparator Interface</vt:lpstr>
      <vt:lpstr>Comparator using Method Reference</vt:lpstr>
      <vt:lpstr>Sorting Using Multiple Keys</vt:lpstr>
      <vt:lpstr>Can it be More Flexible ?</vt:lpstr>
      <vt:lpstr>Lambda Expressions Make Life Easier</vt:lpstr>
      <vt:lpstr>Lambda Sorting</vt:lpstr>
      <vt:lpstr>Java Lambda Expressions</vt:lpstr>
      <vt:lpstr>Java 8 without Lambda: Method Reference Comparator</vt:lpstr>
      <vt:lpstr>Comparator using Lambda</vt:lpstr>
      <vt:lpstr>Directly Using Lambda Comparison</vt:lpstr>
      <vt:lpstr>Using Lambda for Chained Multi-Key Sorting</vt:lpstr>
      <vt:lpstr>Examples of First-class Function Applications</vt:lpstr>
      <vt:lpstr>forEach() in Collection</vt:lpstr>
      <vt:lpstr>removeIf() in Collection</vt:lpstr>
      <vt:lpstr>List::replaceAll(UnaryOperator&lt;E&gt; operator)</vt:lpstr>
      <vt:lpstr>Binary Search</vt:lpstr>
      <vt:lpstr>Return Functions, High-order Functions </vt:lpstr>
      <vt:lpstr>END</vt:lpstr>
    </vt:vector>
  </TitlesOfParts>
  <Company>Zhao Youbing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Java Lecture 11</dc:title>
  <dc:creator>Zhao Youbing</dc:creator>
  <cp:lastModifiedBy>Youbing Zhao</cp:lastModifiedBy>
  <cp:revision>22323</cp:revision>
  <cp:lastPrinted>2011-10-20T04:01:43Z</cp:lastPrinted>
  <dcterms:created xsi:type="dcterms:W3CDTF">2009-06-12T17:14:38Z</dcterms:created>
  <dcterms:modified xsi:type="dcterms:W3CDTF">2026-02-05T14:37:32Z</dcterms:modified>
</cp:coreProperties>
</file>