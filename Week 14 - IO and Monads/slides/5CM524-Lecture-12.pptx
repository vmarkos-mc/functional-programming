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2" r:id="rId1"/>
    <p:sldMasterId id="2147483660" r:id="rId2"/>
    <p:sldMasterId id="2147483687" r:id="rId3"/>
    <p:sldMasterId id="2147483688" r:id="rId4"/>
  </p:sldMasterIdLst>
  <p:notesMasterIdLst>
    <p:notesMasterId r:id="rId22"/>
  </p:notesMasterIdLst>
  <p:handoutMasterIdLst>
    <p:handoutMasterId r:id="rId23"/>
  </p:handoutMasterIdLst>
  <p:sldIdLst>
    <p:sldId id="279" r:id="rId5"/>
    <p:sldId id="284" r:id="rId6"/>
    <p:sldId id="293" r:id="rId7"/>
    <p:sldId id="295" r:id="rId8"/>
    <p:sldId id="343" r:id="rId9"/>
    <p:sldId id="312" r:id="rId10"/>
    <p:sldId id="340" r:id="rId11"/>
    <p:sldId id="344" r:id="rId12"/>
    <p:sldId id="346" r:id="rId13"/>
    <p:sldId id="347" r:id="rId14"/>
    <p:sldId id="345" r:id="rId15"/>
    <p:sldId id="348" r:id="rId16"/>
    <p:sldId id="342" r:id="rId17"/>
    <p:sldId id="349" r:id="rId18"/>
    <p:sldId id="322" r:id="rId19"/>
    <p:sldId id="334" r:id="rId20"/>
    <p:sldId id="292" r:id="rId21"/>
  </p:sldIdLst>
  <p:sldSz cx="12192000" cy="6858000"/>
  <p:notesSz cx="6858000" cy="9144000"/>
  <p:embeddedFontLst>
    <p:embeddedFont>
      <p:font typeface="Comic Sans MS" panose="030F0902030302020204" pitchFamily="66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phen Muessig" initials="SM" lastIdx="1" clrIdx="0">
    <p:extLst>
      <p:ext uri="{19B8F6BF-5375-455C-9EA6-DF929625EA0E}">
        <p15:presenceInfo xmlns:p15="http://schemas.microsoft.com/office/powerpoint/2012/main" userId="S::783655@derby.ac.uk::7cbef656-c224-4823-a7ca-5bdfffe516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4F5"/>
    <a:srgbClr val="CECFD0"/>
    <a:srgbClr val="AB9668"/>
    <a:srgbClr val="E83A5F"/>
    <a:srgbClr val="9DA0A1"/>
    <a:srgbClr val="FEFB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501A3E-49F0-8044-BD4E-CC9A6E5106F3}" v="287" dt="2025-02-01T15:09:27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16"/>
    <p:restoredTop sz="94648"/>
  </p:normalViewPr>
  <p:slideViewPr>
    <p:cSldViewPr snapToGrid="0">
      <p:cViewPr varScale="1">
        <p:scale>
          <a:sx n="88" d="100"/>
          <a:sy n="88" d="100"/>
        </p:scale>
        <p:origin x="200" y="80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604652-5E11-4230-9000-8C35082972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5CF6F-D16A-4F0E-B917-05BE8D0834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A0036-09DF-4D2A-AEFF-E9AB792F28D5}" type="datetimeFigureOut">
              <a:rPr lang="en-GB" smtClean="0"/>
              <a:t>01/02/2025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F2FA1-71D1-470E-B479-A40F328294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055A2-8A6C-43FA-9F2D-E10D53E42C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8236D-37A7-43F7-9CEB-34F295D13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4094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4208-728D-D446-8F2A-557B5FF9CB05}" type="datetimeFigureOut">
              <a:rPr lang="en-US" smtClean="0"/>
              <a:t>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B9F09-74A6-D04B-8146-D9B1DE9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3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78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47C2-B699-C6FC-DF21-85253425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4EAB8-0A75-1DB6-1446-041CF56A0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DDAA7-4B8C-1811-F1E8-9B75995A2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20FCF-5DF1-6A70-8CE9-6FEF2AC56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44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8A973-0B05-D6E2-CBFE-8C702A292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187BF-73D0-F788-32F7-B1A6120CC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EEBC2-AC65-508B-2D05-740FC3F15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6374C-14E7-8F51-95C9-7E10E8916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98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5E68-9709-17EE-BC71-090691B4C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BFCED-D49F-84AD-426D-528F10D8A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BDF4A-5FF5-AEF8-ECD4-DF434F510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Imperative describes actions to be performed</a:t>
            </a:r>
          </a:p>
          <a:p>
            <a:endParaRPr lang="en-US"/>
          </a:p>
          <a:p>
            <a:r>
              <a:rPr lang="en-US"/>
              <a:t>Assembler: low level; instruction set specific, processor ‘actions’</a:t>
            </a:r>
          </a:p>
          <a:p>
            <a:r>
              <a:rPr lang="en-US"/>
              <a:t>Procedural: step by step instructions</a:t>
            </a:r>
          </a:p>
          <a:p>
            <a:r>
              <a:rPr lang="en-US"/>
              <a:t>Objects: objects and classes with methods attached to objects, encapsulation, high </a:t>
            </a:r>
            <a:r>
              <a:rPr lang="en-US" err="1"/>
              <a:t>resuabiolity</a:t>
            </a:r>
            <a:endParaRPr lang="en-US"/>
          </a:p>
          <a:p>
            <a:endParaRPr lang="en-US"/>
          </a:p>
          <a:p>
            <a:r>
              <a:rPr lang="en-US"/>
              <a:t>Declarative stating results rather than how to obtain; common in expert systems and AI</a:t>
            </a:r>
          </a:p>
          <a:p>
            <a:r>
              <a:rPr lang="en-US"/>
              <a:t>Logic: set of rules and facts</a:t>
            </a:r>
          </a:p>
          <a:p>
            <a:r>
              <a:rPr lang="en-US"/>
              <a:t>Functional: functions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A033E-E70F-5DD5-7C0A-EEDF80BA4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41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7503D-A87C-92B3-811E-02DE3C407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69E40-006E-EFF3-4289-998740CD2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44BF8-3147-DF72-5408-8EF761401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Imperative describes actions to be performed</a:t>
            </a:r>
          </a:p>
          <a:p>
            <a:endParaRPr lang="en-US"/>
          </a:p>
          <a:p>
            <a:r>
              <a:rPr lang="en-US"/>
              <a:t>Assembler: low level; instruction set specific, processor ‘actions’</a:t>
            </a:r>
          </a:p>
          <a:p>
            <a:r>
              <a:rPr lang="en-US"/>
              <a:t>Procedural: step by step instructions</a:t>
            </a:r>
          </a:p>
          <a:p>
            <a:r>
              <a:rPr lang="en-US"/>
              <a:t>Objects: objects and classes with methods attached to objects, encapsulation, high </a:t>
            </a:r>
            <a:r>
              <a:rPr lang="en-US" err="1"/>
              <a:t>resuabiolity</a:t>
            </a:r>
            <a:endParaRPr lang="en-US"/>
          </a:p>
          <a:p>
            <a:endParaRPr lang="en-US"/>
          </a:p>
          <a:p>
            <a:r>
              <a:rPr lang="en-US"/>
              <a:t>Declarative stating results rather than how to obtain; common in expert systems and AI</a:t>
            </a:r>
          </a:p>
          <a:p>
            <a:r>
              <a:rPr lang="en-US"/>
              <a:t>Logic: set of rules and facts</a:t>
            </a:r>
          </a:p>
          <a:p>
            <a:r>
              <a:rPr lang="en-US"/>
              <a:t>Functional: functions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263E9-B9C5-825F-ED5A-A56066024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54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A87D-F252-7687-6CBA-A2646A4C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51907-8157-EF3A-C514-0B28F319A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39D7-E6ED-464A-C63C-67D47C70D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00D63-65E4-7765-92EF-C454C0088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34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ED873-00B5-3B31-EE4F-2EE7669BB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830DA-5CEA-6DA5-59D7-4D734021A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246019-1D3F-B789-C9A9-9311F6AE0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750D1-2897-A59F-D61A-F8349E555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973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978C-7C53-E34D-6AEC-8FE5F187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65A26-1F4C-FF33-C7CB-B677179F9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F6D68-24F4-A904-9A7E-435A441AC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B4594-A251-6C99-4A8A-8137449FF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9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39A08-0B6B-9F0A-49BF-DA076656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5DB75A-0BFA-4672-0814-F01FD1F4F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6AA48-8579-EA44-9745-E2F73BF4A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2D052-0AA4-3BF4-118F-1C23AAC42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72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112A1-C317-6066-4602-05612C225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47757-EB71-7CB0-B39C-46F0CC30F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C1B40-361F-44E3-AF2F-E3B29ED83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4C4D2-FFC8-3C4B-B74A-27DF9AA75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50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A9FB9-95B4-1A5A-4799-7EE2DF23B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CA53A-D337-825A-E53C-EB9B43B97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94D2A-99AB-98F4-1454-18C0B1B7C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7096D-EE6C-B797-168B-CE1868760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89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6E524-B2B5-2F6F-1F0A-A36759F67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A83F4-F86E-A0B4-95C4-F7E1056A1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7F401-C449-3044-C03C-C9B64B4C7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CF38E-EBBE-0C0F-786C-1EAB906E1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27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6AEFD-A0EE-2132-07E6-9DC1B70C4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08775D-AA43-93DD-CF48-D3D3AC75E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C39AE-8417-2726-1D29-A777CE9BB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BA6A9-B2E9-EC29-2228-94FABD9B6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35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85599-DBAA-B9FA-FF3F-B10B7FB5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946AA-0981-2FA9-35C2-980807869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58B8C-D44E-801C-6847-D4FF571BF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back at where the &lt;, &gt; </a:t>
            </a:r>
            <a:r>
              <a:rPr lang="en-US" dirty="0" err="1"/>
              <a:t>etc</a:t>
            </a:r>
            <a:r>
              <a:rPr lang="en-US" dirty="0"/>
              <a:t> was used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507FB-60ED-4CA9-D162-FB6F15041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48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CE317-EA17-49E2-716A-5934D66C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0E0CD-C716-C864-F3B9-CBE6B10A8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EFCEA-C10C-D43C-C617-D0E36E84E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back at where the &lt;, &gt; </a:t>
            </a:r>
            <a:r>
              <a:rPr lang="en-US" dirty="0" err="1"/>
              <a:t>etc</a:t>
            </a:r>
            <a:r>
              <a:rPr lang="en-US" dirty="0"/>
              <a:t> was used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3E442-200C-CA1B-36FA-BFDB0C5C0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227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D343-28DE-2B74-8F97-ADE185989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74420-3C36-1943-4F4A-3E172DBA9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09D3E-8D37-06D6-BB6D-4CF7628BB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back at where the &lt;, &gt; </a:t>
            </a:r>
            <a:r>
              <a:rPr lang="en-US" dirty="0" err="1"/>
              <a:t>etc</a:t>
            </a:r>
            <a:r>
              <a:rPr lang="en-US" dirty="0"/>
              <a:t> was used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1A3E2-3D5F-738C-C3EB-C6A1944ED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30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9F7D6-B447-712A-66BB-391D8E8C6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93A40-73B4-D7A5-F92C-4DC1046CF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59291-0472-7363-8EE2-6EC9CB8BC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AE9C4-FCDE-7FC8-6FAF-381696080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B9F09-74A6-D04B-8146-D9B1DE984EA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78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University of Derby Logo">
            <a:extLst>
              <a:ext uri="{FF2B5EF4-FFF2-40B4-BE49-F238E27FC236}">
                <a16:creationId xmlns:a16="http://schemas.microsoft.com/office/drawing/2014/main" id="{56D74247-88E8-486E-9FA8-3C25A135B1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041" y="373818"/>
            <a:ext cx="976408" cy="989171"/>
          </a:xfrm>
          <a:prstGeom prst="rect">
            <a:avLst/>
          </a:prstGeom>
        </p:spPr>
      </p:pic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4733D3B3-40AE-BF86-CE7B-439049903E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35" y="5924332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53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Option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University of Derby Logo">
            <a:extLst>
              <a:ext uri="{FF2B5EF4-FFF2-40B4-BE49-F238E27FC236}">
                <a16:creationId xmlns:a16="http://schemas.microsoft.com/office/drawing/2014/main" id="{5CD4B156-5E4A-ED68-2B68-0F51AA2842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BA232F-E2A5-4C45-76E7-2E89173DE5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735" y="5927383"/>
            <a:ext cx="418005" cy="56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86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versity of Derby Logo">
            <a:extLst>
              <a:ext uri="{FF2B5EF4-FFF2-40B4-BE49-F238E27FC236}">
                <a16:creationId xmlns:a16="http://schemas.microsoft.com/office/drawing/2014/main" id="{444FD617-6C2D-4513-9458-B423D236DB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  <p:pic>
        <p:nvPicPr>
          <p:cNvPr id="3" name="Picture 2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A63E25F7-3764-70C6-B801-0C3349C879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735" y="5924332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6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versity of Derby Logo">
            <a:extLst>
              <a:ext uri="{FF2B5EF4-FFF2-40B4-BE49-F238E27FC236}">
                <a16:creationId xmlns:a16="http://schemas.microsoft.com/office/drawing/2014/main" id="{298B09FA-9037-457E-ABF5-4606C5BB6C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041" y="373818"/>
            <a:ext cx="976408" cy="9891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38C34E-C9C6-4766-4940-7D750675CB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735" y="5927383"/>
            <a:ext cx="418005" cy="56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9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BA232F-E2A5-4C45-76E7-2E89173DE5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1735" y="5927383"/>
            <a:ext cx="418005" cy="567510"/>
          </a:xfrm>
          <a:prstGeom prst="rect">
            <a:avLst/>
          </a:prstGeom>
        </p:spPr>
      </p:pic>
      <p:pic>
        <p:nvPicPr>
          <p:cNvPr id="8" name="Picture 7" descr="University of Derby Logo">
            <a:extLst>
              <a:ext uri="{FF2B5EF4-FFF2-40B4-BE49-F238E27FC236}">
                <a16:creationId xmlns:a16="http://schemas.microsoft.com/office/drawing/2014/main" id="{BE29B393-711A-C9F2-0837-B448E88B3D3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041" y="373818"/>
            <a:ext cx="976408" cy="98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80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Inn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2ADAF4DC-3D58-BE65-22A7-3427D5211A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13" y="6182886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60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/Blue Accessibility Option">
    <p:bg>
      <p:bgPr>
        <a:solidFill>
          <a:srgbClr val="ED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B1E41A37-450A-2EDE-73FF-B31D1C5E0A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13" y="6182886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50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yslexia Accessibility Option">
    <p:bg>
      <p:bgPr>
        <a:solidFill>
          <a:srgbClr val="FEF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884D7F82-3B95-DE3F-8695-78964CA688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13" y="6182886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26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Slide Option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University of Derby Logo">
            <a:extLst>
              <a:ext uri="{FF2B5EF4-FFF2-40B4-BE49-F238E27FC236}">
                <a16:creationId xmlns:a16="http://schemas.microsoft.com/office/drawing/2014/main" id="{EB9286DE-D286-45D1-B9D6-B0AF16D897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1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Title Slide Option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University of Derby Logo">
            <a:extLst>
              <a:ext uri="{FF2B5EF4-FFF2-40B4-BE49-F238E27FC236}">
                <a16:creationId xmlns:a16="http://schemas.microsoft.com/office/drawing/2014/main" id="{EB9286DE-D286-45D1-B9D6-B0AF16D897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8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Title Slide Option 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University of Derby Logo">
            <a:extLst>
              <a:ext uri="{FF2B5EF4-FFF2-40B4-BE49-F238E27FC236}">
                <a16:creationId xmlns:a16="http://schemas.microsoft.com/office/drawing/2014/main" id="{EB9286DE-D286-45D1-B9D6-B0AF16D897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36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Title Slide Option 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University of Derby Logo">
            <a:extLst>
              <a:ext uri="{FF2B5EF4-FFF2-40B4-BE49-F238E27FC236}">
                <a16:creationId xmlns:a16="http://schemas.microsoft.com/office/drawing/2014/main" id="{EB9286DE-D286-45D1-B9D6-B0AF16D897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076" y="373818"/>
            <a:ext cx="970338" cy="9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21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Inn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2ADAF4DC-3D58-BE65-22A7-3427D5211A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413" y="6182886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368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Title Slide Option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rectangular sign with white text&#10;&#10;Description automatically generated">
            <a:extLst>
              <a:ext uri="{FF2B5EF4-FFF2-40B4-BE49-F238E27FC236}">
                <a16:creationId xmlns:a16="http://schemas.microsoft.com/office/drawing/2014/main" id="{0457326B-AEDA-C427-159C-58A4826275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965" y="5924331"/>
            <a:ext cx="418005" cy="5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79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276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0" r:id="rId2"/>
    <p:sldLayoutId id="2147483685" r:id="rId3"/>
    <p:sldLayoutId id="2147483686" r:id="rId4"/>
    <p:sldLayoutId id="214748368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46C0F0-6525-4640-8756-D75A5DA09724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47B83616-CECF-476F-A98B-502B4428A49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BB7826-BDB1-4376-8783-E00BD22989CB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47619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60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79" r:id="rId2"/>
    <p:sldLayoutId id="2147483680" r:id="rId3"/>
    <p:sldLayoutId id="2147483681" r:id="rId4"/>
    <p:sldLayoutId id="214748369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D7BD53-FEB5-4B7E-A03C-B2E105D4E3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8041" y="373818"/>
            <a:ext cx="976407" cy="989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918B86-6EAC-48BC-934C-E30B4D7295A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9690" y="734801"/>
            <a:ext cx="1063361" cy="26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5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en.wikipedia.org/wiki/Category_(mathematics)" TargetMode="External"/><Relationship Id="rId5" Type="http://schemas.openxmlformats.org/officeDocument/2006/relationships/hyperlink" Target="https://en.wikipedia.org/wiki/Functor" TargetMode="Externa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540E-CBCF-46A7-8746-963FF11322C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7198" y="1745152"/>
            <a:ext cx="6799263" cy="13239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4CM525</a:t>
            </a:r>
            <a:b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4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Functional Programming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E6D359-338A-F391-293A-EC630323A706}"/>
              </a:ext>
            </a:extLst>
          </p:cNvPr>
          <p:cNvSpPr txBox="1">
            <a:spLocks/>
          </p:cNvSpPr>
          <p:nvPr/>
        </p:nvSpPr>
        <p:spPr>
          <a:xfrm>
            <a:off x="267198" y="3544111"/>
            <a:ext cx="4656494" cy="15696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Prof Stephan </a:t>
            </a:r>
            <a:r>
              <a:rPr lang="en-GB" sz="2400" b="1" err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Reiff-Marganiec</a:t>
            </a: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University of Derby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GB" sz="2400" b="1"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2024-2025</a:t>
            </a:r>
          </a:p>
        </p:txBody>
      </p:sp>
    </p:spTree>
    <p:extLst>
      <p:ext uri="{BB962C8B-B14F-4D97-AF65-F5344CB8AC3E}">
        <p14:creationId xmlns:p14="http://schemas.microsoft.com/office/powerpoint/2010/main" val="373633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7CCD-A396-05AE-2AFE-A270C5148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ED9D1-3415-6641-0A15-90C3EC9F01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7198" y="1745152"/>
            <a:ext cx="6799263" cy="230832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4CM525 Functional Programming</a:t>
            </a:r>
            <a:b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Lecture 12</a:t>
            </a:r>
            <a:b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Interactive Programs in Haskell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5321FFB-D1F6-61DE-21FE-EF8B0E0EDECE}"/>
              </a:ext>
            </a:extLst>
          </p:cNvPr>
          <p:cNvSpPr txBox="1">
            <a:spLocks/>
          </p:cNvSpPr>
          <p:nvPr/>
        </p:nvSpPr>
        <p:spPr>
          <a:xfrm>
            <a:off x="267198" y="5044665"/>
            <a:ext cx="4656494" cy="156966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Prof Stephan </a:t>
            </a:r>
            <a:r>
              <a:rPr lang="en-GB" sz="2400" b="1" err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Reiff-Marganiec</a:t>
            </a: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University of Derby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GB" sz="2400" b="1"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b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2024-2025</a:t>
            </a:r>
          </a:p>
        </p:txBody>
      </p:sp>
    </p:spTree>
    <p:extLst>
      <p:ext uri="{BB962C8B-B14F-4D97-AF65-F5344CB8AC3E}">
        <p14:creationId xmlns:p14="http://schemas.microsoft.com/office/powerpoint/2010/main" val="43962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7D9C8-C3C9-E844-58BE-30241D615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5AA48C-28CB-7B75-5AF0-D777BEF64B5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Today</a:t>
            </a:r>
            <a:endParaRPr kumimoji="0" lang="en-GB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85FBD3C-D6AE-C9BF-606E-EBDCAAD9155E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will look at interactive programs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an interactive program?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is Haskell a good language for certain interactive tasks?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difference between interactive vs non-interactive programs in Haskell.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994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BB50-8390-FEF2-B2A5-453D9217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B83F2B-B74C-B8C5-4B26-2DCB871FA91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Haskell programs so far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7415AAC-C27E-AF47-CB2A-C90E443815A8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Let’s spend a minute thinking about the programs we have written so far in Haskell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did they differ from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programmes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you wrote in say Python or C#?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just called functions with all the parameters that they needed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ReadLines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WriteLines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getting input from the user and no interim outputs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Pure Functional programming: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input/output are ‘side effects’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 how can we get both?</a:t>
            </a:r>
          </a:p>
        </p:txBody>
      </p:sp>
    </p:spTree>
    <p:extLst>
      <p:ext uri="{BB962C8B-B14F-4D97-AF65-F5344CB8AC3E}">
        <p14:creationId xmlns:p14="http://schemas.microsoft.com/office/powerpoint/2010/main" val="1672477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BB01E-AA1C-E26A-7E17-91128D71E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EA18367-F3BC-BAC4-C8DC-0E89D7AF69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A dilemma!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FD59C6C-4D05-4CA3-B758-38F8AE89EDEB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pure functional language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functions cannot have no side effects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they always produce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same output for the same input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cannot modify global state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cannot interact with the outside world, or change variables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real-world programs require side effects, such as reading input, writing output, or interacting with files and networks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putStrLn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"Hello, world!” performs a side effect (printing to the screen), which seems to break purity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761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7F55-6E6A-DC98-9411-AFDFA6C01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5EF125-BDA9-1091-9890-E4093D7BB527}"/>
              </a:ext>
            </a:extLst>
          </p:cNvPr>
          <p:cNvSpPr/>
          <p:nvPr/>
        </p:nvSpPr>
        <p:spPr>
          <a:xfrm>
            <a:off x="4669971" y="4757057"/>
            <a:ext cx="2253343" cy="3918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F34C4A-B4D9-9202-8F7B-401ED777C068}"/>
              </a:ext>
            </a:extLst>
          </p:cNvPr>
          <p:cNvSpPr/>
          <p:nvPr/>
        </p:nvSpPr>
        <p:spPr>
          <a:xfrm>
            <a:off x="7587342" y="4757057"/>
            <a:ext cx="2558144" cy="3918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BA5B96-24AE-563E-9E97-87DFBAB5C229}"/>
              </a:ext>
            </a:extLst>
          </p:cNvPr>
          <p:cNvSpPr/>
          <p:nvPr/>
        </p:nvSpPr>
        <p:spPr>
          <a:xfrm>
            <a:off x="11478147" y="4757057"/>
            <a:ext cx="474367" cy="3918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32FE14-90AC-7BF9-0252-28E1919E13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Let’s look at an IO example in Haskell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86DFB3-EA25-C0A3-CA33-787EC147DA19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07D5100-D3AF-5B58-4898-3A946B56BAEC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r>
              <a:rPr lang="en-GB" sz="2400" b="1" dirty="0">
                <a:latin typeface="Comic Sans MS" panose="030F0902030302020204" pitchFamily="66" charset="0"/>
                <a:cs typeface="Arial" panose="020B0604020202020204" pitchFamily="34" charset="0"/>
              </a:rPr>
              <a:t>main :: IO ()</a:t>
            </a:r>
          </a:p>
          <a:p>
            <a:pPr lvl="1" algn="l"/>
            <a:r>
              <a:rPr lang="en-GB" sz="2400" b="1" dirty="0">
                <a:latin typeface="Comic Sans MS" panose="030F0902030302020204" pitchFamily="66" charset="0"/>
                <a:cs typeface="Arial" panose="020B0604020202020204" pitchFamily="34" charset="0"/>
              </a:rPr>
              <a:t>main = do</a:t>
            </a:r>
          </a:p>
          <a:p>
            <a:pPr lvl="1" algn="l"/>
            <a:r>
              <a:rPr lang="en-GB" sz="2400" b="1" dirty="0">
                <a:latin typeface="Comic Sans MS" panose="030F0902030302020204" pitchFamily="66" charset="0"/>
                <a:cs typeface="Arial" panose="020B0604020202020204" pitchFamily="34" charset="0"/>
              </a:rPr>
              <a:t>    </a:t>
            </a:r>
            <a:r>
              <a:rPr lang="en-GB" sz="2400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putStrLn</a:t>
            </a:r>
            <a:r>
              <a:rPr lang="en-GB" sz="2400" b="1" dirty="0">
                <a:latin typeface="Comic Sans MS" panose="030F0902030302020204" pitchFamily="66" charset="0"/>
                <a:cs typeface="Arial" panose="020B0604020202020204" pitchFamily="34" charset="0"/>
              </a:rPr>
              <a:t> "What's your name?"</a:t>
            </a:r>
          </a:p>
          <a:p>
            <a:pPr lvl="1" algn="l"/>
            <a:r>
              <a:rPr lang="en-GB" sz="2400" b="1" dirty="0">
                <a:latin typeface="Comic Sans MS" panose="030F0902030302020204" pitchFamily="66" charset="0"/>
                <a:cs typeface="Arial" panose="020B0604020202020204" pitchFamily="34" charset="0"/>
              </a:rPr>
              <a:t>    name &lt;- </a:t>
            </a:r>
            <a:r>
              <a:rPr lang="en-GB" sz="2400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getLine</a:t>
            </a:r>
            <a:endParaRPr lang="en-GB" sz="2400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lvl="1" algn="l"/>
            <a:r>
              <a:rPr lang="en-GB" sz="2400" b="1" dirty="0">
                <a:latin typeface="Comic Sans MS" panose="030F0902030302020204" pitchFamily="66" charset="0"/>
                <a:cs typeface="Arial" panose="020B0604020202020204" pitchFamily="34" charset="0"/>
              </a:rPr>
              <a:t>    </a:t>
            </a:r>
            <a:r>
              <a:rPr lang="en-GB" sz="2400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putStrLn</a:t>
            </a:r>
            <a:r>
              <a:rPr lang="en-GB" sz="2400" b="1" dirty="0">
                <a:latin typeface="Comic Sans MS" panose="030F0902030302020204" pitchFamily="66" charset="0"/>
                <a:cs typeface="Arial" panose="020B0604020202020204" pitchFamily="34" charset="0"/>
              </a:rPr>
              <a:t> ("Hello, " ++ name)</a:t>
            </a:r>
            <a:endParaRPr lang="en-GB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Ok, that looks almost like non Haskell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What is going on? What is this “</a:t>
            </a:r>
            <a:r>
              <a:rPr lang="en-GB" sz="2400" b="1" dirty="0">
                <a:latin typeface="Comic Sans MS" panose="030F0902030302020204" pitchFamily="66" charset="0"/>
                <a:cs typeface="Arial" panose="020B0604020202020204" pitchFamily="34" charset="0"/>
              </a:rPr>
              <a:t>IO ()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” type that main has as type?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putStrLn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getLine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are monadic actions that sequence together using the </a:t>
            </a: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do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notation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Right?? All clear … not really as there is too much weirdness (highlighted in orange)!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Comic Sans MS" panose="030F0902030302020204" pitchFamily="66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GB" b="1" dirty="0">
              <a:latin typeface="Comic Sans MS" panose="030F0902030302020204" pitchFamily="66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GB" b="1" dirty="0">
              <a:latin typeface="Comic Sans MS" panose="030F0902030302020204" pitchFamily="66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581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50C02-82D8-20F9-8A7A-58EBC60D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BD3BD5-08C7-7672-F05C-3DF8B26ED5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IO Type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DF9A92E-A12A-54C7-0724-DD2D8EEC4B41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1C9DFE1-8142-3BFF-E266-8337D93518A5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Instead of allowing impure functions, Haskell treats side effects as values of a special type: `</a:t>
            </a:r>
            <a:r>
              <a:rPr lang="en-GB" dirty="0">
                <a:latin typeface="Comic Sans MS" panose="030F0902030302020204" pitchFamily="66" charset="0"/>
                <a:cs typeface="Arial" panose="020B0604020202020204" pitchFamily="34" charset="0"/>
              </a:rPr>
              <a:t>IO 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`.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`</a:t>
            </a: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IO 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` type represents a computation that, when executed, performs an action and returns a result of type `</a:t>
            </a: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`.  </a:t>
            </a:r>
          </a:p>
        </p:txBody>
      </p:sp>
    </p:spTree>
    <p:extLst>
      <p:ext uri="{BB962C8B-B14F-4D97-AF65-F5344CB8AC3E}">
        <p14:creationId xmlns:p14="http://schemas.microsoft.com/office/powerpoint/2010/main" val="318091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014DF-94E4-4E48-76BA-B2D512E2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9B8EDB-F20E-3439-F67A-89AE6E4F393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IO Type Preserves Purity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2787252-79F5-61CD-3EA6-6D0F1D20DB78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953FD9-F73F-34EB-754D-021323540311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`IO` allows side effects,  but does not break Haskell’s functional purity: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IO actions are values: instead of performing effects immediately, Haskell builds a sequence of actions.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Evaluation vs. Execution: Functions like `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getLine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` and `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putStrLn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` do not perform side effects themselves; they only describe computations that the runtime system later executes.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 escaping IO: Once a value is inside `IO`, it cannot be extracted without performing an effect. This ensures that impure computations do not "infect" pure functions.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- Example:</a:t>
            </a:r>
          </a:p>
          <a:p>
            <a:pPr lvl="1" algn="l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dirty="0">
                <a:latin typeface="Comic Sans MS" panose="030F0902030302020204" pitchFamily="66" charset="0"/>
                <a:cs typeface="Arial" panose="020B0604020202020204" pitchFamily="34" charset="0"/>
              </a:rPr>
              <a:t>greet :: String -&gt; String -- this is pure</a:t>
            </a:r>
          </a:p>
          <a:p>
            <a:pPr lvl="1" algn="l"/>
            <a:r>
              <a:rPr lang="en-GB" dirty="0">
                <a:latin typeface="Comic Sans MS" panose="030F0902030302020204" pitchFamily="66" charset="0"/>
                <a:cs typeface="Arial" panose="020B0604020202020204" pitchFamily="34" charset="0"/>
              </a:rPr>
              <a:t>  greet name = "Hello, " ++ name</a:t>
            </a:r>
          </a:p>
          <a:p>
            <a:pPr lvl="1" algn="l"/>
            <a:r>
              <a:rPr lang="en-GB" dirty="0">
                <a:latin typeface="Comic Sans MS" panose="030F0902030302020204" pitchFamily="66" charset="0"/>
                <a:cs typeface="Arial" panose="020B0604020202020204" pitchFamily="34" charset="0"/>
              </a:rPr>
              <a:t>  main :: IO () -- main remains in IO  </a:t>
            </a:r>
          </a:p>
          <a:p>
            <a:pPr lvl="1" algn="l"/>
            <a:r>
              <a:rPr lang="en-GB" dirty="0">
                <a:latin typeface="Comic Sans MS" panose="030F0902030302020204" pitchFamily="66" charset="0"/>
                <a:cs typeface="Arial" panose="020B0604020202020204" pitchFamily="34" charset="0"/>
              </a:rPr>
              <a:t>  main = do</a:t>
            </a:r>
          </a:p>
          <a:p>
            <a:pPr lvl="1" algn="l"/>
            <a:r>
              <a:rPr lang="en-GB" dirty="0">
                <a:latin typeface="Comic Sans MS" panose="030F0902030302020204" pitchFamily="66" charset="0"/>
                <a:cs typeface="Arial" panose="020B0604020202020204" pitchFamily="34" charset="0"/>
              </a:rPr>
              <a:t>      name &lt;- </a:t>
            </a:r>
            <a:r>
              <a:rPr lang="en-GB" dirty="0" err="1">
                <a:latin typeface="Comic Sans MS" panose="030F0902030302020204" pitchFamily="66" charset="0"/>
                <a:cs typeface="Arial" panose="020B0604020202020204" pitchFamily="34" charset="0"/>
              </a:rPr>
              <a:t>getLine</a:t>
            </a:r>
            <a:endParaRPr lang="en-GB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lvl="1" algn="l"/>
            <a:r>
              <a:rPr lang="en-GB" dirty="0">
                <a:latin typeface="Comic Sans MS" panose="030F0902030302020204" pitchFamily="66" charset="0"/>
                <a:cs typeface="Arial" panose="020B0604020202020204" pitchFamily="34" charset="0"/>
              </a:rPr>
              <a:t>      </a:t>
            </a:r>
            <a:r>
              <a:rPr lang="en-GB" dirty="0" err="1">
                <a:latin typeface="Comic Sans MS" panose="030F0902030302020204" pitchFamily="66" charset="0"/>
                <a:cs typeface="Arial" panose="020B0604020202020204" pitchFamily="34" charset="0"/>
              </a:rPr>
              <a:t>putStrLn</a:t>
            </a:r>
            <a:r>
              <a:rPr lang="en-GB" dirty="0">
                <a:latin typeface="Comic Sans MS" panose="030F0902030302020204" pitchFamily="66" charset="0"/>
                <a:cs typeface="Arial" panose="020B0604020202020204" pitchFamily="34" charset="0"/>
              </a:rPr>
              <a:t> (greet name) …</a:t>
            </a:r>
          </a:p>
        </p:txBody>
      </p:sp>
    </p:spTree>
    <p:extLst>
      <p:ext uri="{BB962C8B-B14F-4D97-AF65-F5344CB8AC3E}">
        <p14:creationId xmlns:p14="http://schemas.microsoft.com/office/powerpoint/2010/main" val="2580724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9DC99-E655-9ED4-9892-078C21B5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07AEB1-0F58-53EC-0E89-89FD3ACC04B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Bit of Maths (1)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2C850A0-5C24-F8B2-7B44-321151167A0A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E6C4715-48FF-0983-5D1F-B909E5E3259E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7544535" cy="1692955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Category: a collection of "objects" that are linked by "arrows".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Two basic properties: (1) the ability to compose the arrows associatively and (2) the existence of an identity arrow for each object. </a:t>
            </a:r>
          </a:p>
          <a:p>
            <a:pPr algn="l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A diagram depicting the idea of the maths concept ‘category’">
            <a:extLst>
              <a:ext uri="{FF2B5EF4-FFF2-40B4-BE49-F238E27FC236}">
                <a16:creationId xmlns:a16="http://schemas.microsoft.com/office/drawing/2014/main" id="{F5EF95A6-3C4B-36F4-C1EF-E9377CEBB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8787" y="650367"/>
            <a:ext cx="2054000" cy="20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8AEAC1DC-EBD7-6662-F5A8-98B947CC0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8787" y="3482121"/>
            <a:ext cx="3892074" cy="258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ACB4D4-03D0-B819-492B-269635A88984}"/>
              </a:ext>
            </a:extLst>
          </p:cNvPr>
          <p:cNvSpPr txBox="1"/>
          <p:nvPr/>
        </p:nvSpPr>
        <p:spPr>
          <a:xfrm>
            <a:off x="1675181" y="6441618"/>
            <a:ext cx="10619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Images from </a:t>
            </a:r>
            <a:r>
              <a:rPr lang="en-US" dirty="0">
                <a:hlinkClick r:id="rId5"/>
              </a:rPr>
              <a:t>https://en.wikipedia.org/wiki/Functor</a:t>
            </a:r>
            <a:r>
              <a:rPr lang="en-US" dirty="0"/>
              <a:t> and </a:t>
            </a:r>
            <a:r>
              <a:rPr lang="en-US" dirty="0">
                <a:hlinkClick r:id="rId6"/>
              </a:rPr>
              <a:t>https://en.wikipedia.org/wiki/Category_(mathematics)</a:t>
            </a:r>
            <a:r>
              <a:rPr lang="en-US" dirty="0"/>
              <a:t>. 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5CA2346-211A-B493-8127-98CC24654012}"/>
              </a:ext>
            </a:extLst>
          </p:cNvPr>
          <p:cNvSpPr txBox="1">
            <a:spLocks/>
          </p:cNvSpPr>
          <p:nvPr/>
        </p:nvSpPr>
        <p:spPr>
          <a:xfrm>
            <a:off x="478083" y="3171049"/>
            <a:ext cx="7982196" cy="289399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Functor: mapping between two categories C and D that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associates each object X in C to an object F(X) in D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associates each morphism f : X → Y in C to a morphism F(f) : F(X) → F(Y) in D such that the following two conditions hold: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F(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GB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lang="en-GB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GB" baseline="-250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for every X in C and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F(g ◦ f)=F(g) ◦ F(f) for all morphisms  f : X→Y and g : Y → Z in C.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(functors must preserve identity morphisms and composition of morphisms)</a:t>
            </a:r>
          </a:p>
          <a:p>
            <a:pPr algn="l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973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93573-4AD1-D45B-101E-9285351A5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8023D7A-B6A8-989E-7136-1D0377FA91E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dirty="0"/>
              <a:t>Monad as Functor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C8233E3-D989-4C33-B9B9-9C9A8D636E84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0894D75-9A64-0D94-ADBA-94AEF4C90CCB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 functor is a structure that allows you to apply a function to a value inside a context.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 monad has two main operations (functions) to work with: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bind (also called &gt;&gt;=): This operation lets you chain computations.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It takes a monadic value (like Maybe Int) and a function that produces a new monadic value (like Maybe String) and applies the function to the value inside the monad. The result is still inside the same monadic context.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Example: For the Maybe monad, if you have Just 3 and a function like f x = Just (x + 1), using bind would apply f to the value inside Just 3, resulting in Just 4.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return (also called pure): This operation wraps a normal value into a monadic context (like wrapping a value in Just or in IO).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Example: If you have the value 5 and you apply return to it in the Maybe monad, you get Just 5.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020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5979A-748D-1571-6811-4DC219CFD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312C4B-ABBF-14F2-0F8F-36CE71F4571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IO Type is a monad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DC54893-36AC-453E-751C-1498D0A3767C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E511160-465D-447B-0300-24036A290F0A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 monad is a ‘design pattern’ used to handle computations in a structured way, especially when dealing with side effects or chaining operations.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monad in Haskell is a type constructor (like Maybe, IO) that can wrap a value inside a context.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 functor allows us to map a function over the value inside that context.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 monad is a type constructor that takes a type </a:t>
            </a: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and gives us a new type </a:t>
            </a: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M 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IO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is a monad that constructs </a:t>
            </a: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IO a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bind (&gt;&gt;=): It allows you to sequence actions and pass values from one action to the next.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return: wraps a value in a monadic context (e.g., turning a regular value into an IO action).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do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is syntactic sugar for &gt;&gt;= </a:t>
            </a:r>
          </a:p>
          <a:p>
            <a:pPr algn="l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369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D38C9-5B6B-9575-B12E-5DB27DB7B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1AE92D3-0E84-5411-8691-ACB95B97074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Main takeaway from all this?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95443A4-F637-075E-F043-5BF78CF9316B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CF68575-252E-A7E0-755F-A881C87799BF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Haskell programs are pure, meaning they avoid side effects.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Monads like IO allow us to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handle these effects in a controlled and predictable way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There is a solid Mathematical base behind this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wihich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provides the required guarantees and allows verification (if needed)</a:t>
            </a:r>
          </a:p>
        </p:txBody>
      </p:sp>
    </p:spTree>
    <p:extLst>
      <p:ext uri="{BB962C8B-B14F-4D97-AF65-F5344CB8AC3E}">
        <p14:creationId xmlns:p14="http://schemas.microsoft.com/office/powerpoint/2010/main" val="2979836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4EA8-D5AC-A684-9D09-24D75FDEF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430A05-3FE3-E5D6-A08B-17D2FAF894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User Input Validation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1CD8267-F0F3-C610-661A-D6EE628917E8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11066583-8CFB-09FF-4F3C-F4CF62B51A36}"/>
              </a:ext>
            </a:extLst>
          </p:cNvPr>
          <p:cNvSpPr txBox="1">
            <a:spLocks/>
          </p:cNvSpPr>
          <p:nvPr/>
        </p:nvSpPr>
        <p:spPr>
          <a:xfrm>
            <a:off x="529213" y="13586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Ensuring valid user input (e.g., numeric input).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/>
            <a:r>
              <a:rPr lang="en-GB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getValidNumber</a:t>
            </a: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 :: IO Int</a:t>
            </a:r>
          </a:p>
          <a:p>
            <a:pPr lvl="1" algn="l"/>
            <a:r>
              <a:rPr lang="en-GB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getValidNumber</a:t>
            </a: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 = do</a:t>
            </a:r>
          </a:p>
          <a:p>
            <a:pPr lvl="1" algn="l"/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    </a:t>
            </a:r>
            <a:r>
              <a:rPr lang="en-GB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putStrLn</a:t>
            </a: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 "Enter a number:"</a:t>
            </a:r>
          </a:p>
          <a:p>
            <a:pPr lvl="1" algn="l"/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    input &lt;- </a:t>
            </a:r>
            <a:r>
              <a:rPr lang="en-GB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getLine</a:t>
            </a:r>
            <a:endParaRPr lang="en-GB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lvl="1" algn="l"/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    case reads input of</a:t>
            </a:r>
          </a:p>
          <a:p>
            <a:pPr lvl="1" algn="l"/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        [(n, "")] -&gt; return n</a:t>
            </a:r>
          </a:p>
          <a:p>
            <a:pPr lvl="1" algn="l"/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        _         -&gt; do </a:t>
            </a:r>
            <a:r>
              <a:rPr lang="en-GB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putStrLn</a:t>
            </a: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 "Invalid input. Please enter a valid number.” </a:t>
            </a:r>
            <a:r>
              <a:rPr lang="en-GB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getValidNumber</a:t>
            </a:r>
            <a:endParaRPr lang="en-GB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Errors can be managed using </a:t>
            </a: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Either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GB" b="1" dirty="0">
                <a:latin typeface="Comic Sans MS" panose="030F0902030302020204" pitchFamily="66" charset="0"/>
                <a:cs typeface="Arial" panose="020B0604020202020204" pitchFamily="34" charset="0"/>
              </a:rPr>
              <a:t>Maybe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for more complex error handling.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568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952F8-A5D5-EA97-41B8-9AEE2096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3D94A79-5955-5708-3964-0829FD1367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A Game … the first bits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DAB8311-B26C-ED0D-0D38-3CF2EA8343A1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number-guessing game (program generates a random number, and the user guesses until they get it right).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mport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System.Random</a:t>
            </a:r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main :: IO ()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main = do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putStrLn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"Welcome to the number guessing game!"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number &lt;-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randomRIO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(1, 100) :: IO Int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guessLoop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number</a:t>
            </a:r>
          </a:p>
          <a:p>
            <a:pPr lvl="1"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853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EDF2B-F146-8999-A8E0-C5325CDD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53DA2A-BDC3-289B-7B12-C7E3EC82A64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A Game … continued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A276AA-9698-C3DE-F000-EC727CCC99E1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number-guessing game (program generates a random number, and the user guesses until they get it right).</a:t>
            </a: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/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guessLoop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:: Int -&gt; IO ()</a:t>
            </a:r>
          </a:p>
          <a:p>
            <a:pPr lvl="1" algn="l"/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guessLoop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number = do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putStrLn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"Guess a number between 1 and 100:"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guessStr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&lt;-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getLine</a:t>
            </a:r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let guess = read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guessStr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:: Int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if guess == number then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   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putStrLn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"You guessed correctly!"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else if guess &lt; number then do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   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putStrLn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"Too low!"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   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guessLoop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number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else do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   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putStrLn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"Too high!"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   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guessLoop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number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015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5C3F-252E-60F8-E6E2-B5A511CD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74E22A-A125-70E7-9145-355E9DB967B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6813" y="378734"/>
            <a:ext cx="10488901" cy="6253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Interacting with Files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7B8B6CC-1128-E180-90A0-547350A99693}"/>
              </a:ext>
            </a:extLst>
          </p:cNvPr>
          <p:cNvSpPr txBox="1">
            <a:spLocks/>
          </p:cNvSpPr>
          <p:nvPr/>
        </p:nvSpPr>
        <p:spPr>
          <a:xfrm>
            <a:off x="376813" y="1206274"/>
            <a:ext cx="11716378" cy="4656554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main :: IO ()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main = do</a:t>
            </a: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contents &lt;-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readFile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"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file.txt</a:t>
            </a:r>
            <a:r>
              <a:rPr lang="en-US" b="1">
                <a:latin typeface="Comic Sans MS" panose="030F0902030302020204" pitchFamily="66" charset="0"/>
                <a:cs typeface="Arial" panose="020B0604020202020204" pitchFamily="34" charset="0"/>
              </a:rPr>
              <a:t>"</a:t>
            </a:r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lvl="1" algn="l"/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   </a:t>
            </a:r>
            <a:r>
              <a:rPr lang="en-US" b="1" dirty="0" err="1">
                <a:latin typeface="Comic Sans MS" panose="030F0902030302020204" pitchFamily="66" charset="0"/>
                <a:cs typeface="Arial" panose="020B0604020202020204" pitchFamily="34" charset="0"/>
              </a:rPr>
              <a:t>putStrLn</a:t>
            </a:r>
            <a:r>
              <a:rPr lang="en-US" b="1" dirty="0">
                <a:latin typeface="Comic Sans MS" panose="030F0902030302020204" pitchFamily="66" charset="0"/>
                <a:cs typeface="Arial" panose="020B0604020202020204" pitchFamily="34" charset="0"/>
              </a:rPr>
              <a:t> ("File contents:\n" ++ contents)</a:t>
            </a:r>
          </a:p>
          <a:p>
            <a:pPr lvl="1"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  <a:p>
            <a:pPr lvl="1" algn="l"/>
            <a:endParaRPr lang="en-US" b="1" dirty="0">
              <a:latin typeface="Comic Sans MS" panose="030F0902030302020204" pitchFamily="66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591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757D1-7997-A1C6-2E45-C5DC4964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FF85-D0B3-F8C6-19DD-AD706E448F9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7198" y="1745152"/>
            <a:ext cx="6799263" cy="14465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IO Monad, sequencing actions, user input, recursion in interactive programs, and monads.</a:t>
            </a:r>
            <a:br>
              <a:rPr lang="en-GB" sz="240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GB" sz="4000" i="0" u="none" strike="noStrike" kern="1200" cap="none" spc="0" normalizeH="0" baseline="0" noProof="0" dirty="0">
              <a:solidFill>
                <a:schemeClr val="tx1"/>
              </a:solidFill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750539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O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Inner Slide O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Title Slide O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Title Slide Op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1981</TotalTime>
  <Words>1556</Words>
  <Application>Microsoft Macintosh PowerPoint</Application>
  <PresentationFormat>Widescreen</PresentationFormat>
  <Paragraphs>183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Comic Sans MS</vt:lpstr>
      <vt:lpstr>Calibri</vt:lpstr>
      <vt:lpstr>Title Slide Options</vt:lpstr>
      <vt:lpstr>Default Inner Slide Options</vt:lpstr>
      <vt:lpstr>Section Title Slide Options</vt:lpstr>
      <vt:lpstr>End Title Slide Option</vt:lpstr>
      <vt:lpstr>4CM525 Functional Programming</vt:lpstr>
      <vt:lpstr>4CM525 Functional Programming Lecture 12 Interactive Programs in Haskell</vt:lpstr>
      <vt:lpstr>Today</vt:lpstr>
      <vt:lpstr>Haskell programs so far</vt:lpstr>
      <vt:lpstr>A dilemma!</vt:lpstr>
      <vt:lpstr>Let’s look at an IO example in Haskell</vt:lpstr>
      <vt:lpstr>IO Type</vt:lpstr>
      <vt:lpstr>IO Type Preserves Purity</vt:lpstr>
      <vt:lpstr>Bit of Maths (1)</vt:lpstr>
      <vt:lpstr>Monad as Functor</vt:lpstr>
      <vt:lpstr>IO Type is a monad</vt:lpstr>
      <vt:lpstr>Main takeaway from all this? </vt:lpstr>
      <vt:lpstr>User Input Validation</vt:lpstr>
      <vt:lpstr>A Game … the first bits</vt:lpstr>
      <vt:lpstr>A Game … continued</vt:lpstr>
      <vt:lpstr>Interacting with Files</vt:lpstr>
      <vt:lpstr>IO Monad, sequencing actions, user input, recursion in interactive programs, and monads.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Muessig</dc:creator>
  <cp:lastModifiedBy>Stephan Reiff-Marganiec</cp:lastModifiedBy>
  <cp:revision>6</cp:revision>
  <dcterms:created xsi:type="dcterms:W3CDTF">2021-03-18T09:19:43Z</dcterms:created>
  <dcterms:modified xsi:type="dcterms:W3CDTF">2025-02-01T15:30:09Z</dcterms:modified>
</cp:coreProperties>
</file>