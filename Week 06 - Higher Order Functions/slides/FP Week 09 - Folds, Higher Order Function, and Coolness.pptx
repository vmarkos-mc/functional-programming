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Raleway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aleway-italic.fntdata"/><Relationship Id="rId12" Type="http://schemas.openxmlformats.org/officeDocument/2006/relationships/slide" Target="slides/slide7.xml"/><Relationship Id="rId34" Type="http://schemas.openxmlformats.org/officeDocument/2006/relationships/font" Target="fonts/Raleway-bold.fntdata"/><Relationship Id="rId15" Type="http://schemas.openxmlformats.org/officeDocument/2006/relationships/slide" Target="slides/slide10.xml"/><Relationship Id="rId37" Type="http://schemas.openxmlformats.org/officeDocument/2006/relationships/font" Target="fonts/Lato-regular.fntdata"/><Relationship Id="rId14" Type="http://schemas.openxmlformats.org/officeDocument/2006/relationships/slide" Target="slides/slide9.xml"/><Relationship Id="rId36" Type="http://schemas.openxmlformats.org/officeDocument/2006/relationships/font" Target="fonts/Raleway-boldItalic.fntdata"/><Relationship Id="rId17" Type="http://schemas.openxmlformats.org/officeDocument/2006/relationships/slide" Target="slides/slide12.xml"/><Relationship Id="rId39" Type="http://schemas.openxmlformats.org/officeDocument/2006/relationships/font" Target="fonts/Lato-italic.fntdata"/><Relationship Id="rId16" Type="http://schemas.openxmlformats.org/officeDocument/2006/relationships/slide" Target="slides/slide11.xml"/><Relationship Id="rId38" Type="http://schemas.openxmlformats.org/officeDocument/2006/relationships/font" Target="fonts/La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b9e8f50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1b9e8f50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b9e8f508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b9e8f508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b9e8f508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1b9e8f508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b9e8f508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1b9e8f508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b9e8f508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1b9e8f508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b9e8f508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1b9e8f508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1b9e8f508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1b9e8f508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b9e8f508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1b9e8f508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1b9e8f508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1b9e8f50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1b9e8f508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1b9e8f508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b9e8f508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1b9e8f508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b9e8f508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1b9e8f508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1b9e8f508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1b9e8f508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1b9e8f5088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1b9e8f508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1b9e8f508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1b9e8f508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b9e8f508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1b9e8f508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1b9e8f5088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1b9e8f5088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b9e8f508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b9e8f508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1b9e8f5088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1b9e8f508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1b9e8f508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1b9e8f508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1b9e8f5088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1b9e8f508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1b9e8f5088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1b9e8f508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1b9e8f508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1b9e8f508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1bc326ce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1bc326ce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1bc326cea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1bc326cea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d407ffd0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d407ffd0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3" name="Google Shape;13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sz="42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729625" y="3172900"/>
            <a:ext cx="7688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6590950" y="3866975"/>
            <a:ext cx="194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19;p2"/>
          <p:cNvSpPr txBox="1"/>
          <p:nvPr>
            <p:ph idx="2" type="subTitle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50">
          <p15:clr>
            <a:srgbClr val="E46962"/>
          </p15:clr>
        </p15:guide>
        <p15:guide id="2" pos="530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  <p:grpSp>
        <p:nvGrpSpPr>
          <p:cNvPr id="28" name="Google Shape;28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9" name="Google Shape;29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" name="Google Shape;31;p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Εκτός ύλης">
  <p:cSld name="TITLE_AND_BODY_1">
    <p:bg>
      <p:bgPr>
        <a:solidFill>
          <a:schemeClr val="l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lt1"/>
                </a:solidFill>
              </a:rPr>
              <a:t>Not relevant for the assessment of the module!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36" name="Google Shape;36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7" name="Google Shape;3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Προσοχή!">
  <p:cSld name="TITLE_AND_BODY_1_1">
    <p:bg>
      <p:bgPr>
        <a:solidFill>
          <a:schemeClr val="lt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lt1"/>
                </a:solidFill>
              </a:rPr>
              <a:t>Heads up!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44" name="Google Shape;44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Προσοχή! 1">
  <p:cSld name="TITLE_AND_BODY_1_1_1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lt1"/>
                </a:solidFill>
              </a:rPr>
              <a:t>Quick Revision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52" name="Google Shape;52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3" name="Google Shape;53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" name="Google Shape;55;p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6" name="Google Shape;56;p7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" name="Google Shape;60;p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1" name="Google Shape;61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8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729325" y="1474150"/>
            <a:ext cx="3774300" cy="28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2" type="body"/>
          </p:nvPr>
        </p:nvSpPr>
        <p:spPr>
          <a:xfrm>
            <a:off x="4643600" y="1474075"/>
            <a:ext cx="3774300" cy="28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67" name="Google Shape;67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9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0"/>
          <p:cNvSpPr txBox="1"/>
          <p:nvPr>
            <p:ph type="title"/>
          </p:nvPr>
        </p:nvSpPr>
        <p:spPr>
          <a:xfrm>
            <a:off x="721225" y="523413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2" name="Google Shape;82;p10"/>
          <p:cNvSpPr txBox="1"/>
          <p:nvPr>
            <p:ph idx="1" type="body"/>
          </p:nvPr>
        </p:nvSpPr>
        <p:spPr>
          <a:xfrm>
            <a:off x="721225" y="1452775"/>
            <a:ext cx="3300900" cy="29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84" name="Google Shape;84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7" name="Google Shape;87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4" name="Google Shape;94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7" name="Google Shape;97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8" name="Google Shape;98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2" name="Google Shape;102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5" name="Google Shape;105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4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ato"/>
              <a:buNone/>
              <a:defRPr sz="8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157325" y="41050"/>
            <a:ext cx="892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Lato"/>
              <a:buNone/>
              <a:defRPr b="0" sz="1000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cis.upenn.edu/~cis1940/spring13/hw/04-higher-order.pdf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hyperlink" Target="https://forms.gle/YU1mjxjBjBf8hyvH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Functional Programming</a:t>
            </a:r>
            <a:br>
              <a:rPr lang="el"/>
            </a:br>
            <a:r>
              <a:rPr b="0" lang="el" sz="2200">
                <a:solidFill>
                  <a:schemeClr val="accent1"/>
                </a:solidFill>
              </a:rPr>
              <a:t>:l foo “</a:t>
            </a:r>
            <a:r>
              <a:rPr b="0" lang="el" sz="2200">
                <a:solidFill>
                  <a:schemeClr val="accent1"/>
                </a:solidFill>
              </a:rPr>
              <a:t>Haskell”</a:t>
            </a:r>
            <a:endParaRPr b="0" sz="2200">
              <a:solidFill>
                <a:schemeClr val="accent1"/>
              </a:solidFill>
            </a:endParaRPr>
          </a:p>
        </p:txBody>
      </p:sp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729625" y="3172900"/>
            <a:ext cx="7688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Markos Vassilis, Mediterranean College, 2024 - 2025, Fall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029600" y="4001275"/>
            <a:ext cx="23880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6"/>
          <p:cNvSpPr txBox="1"/>
          <p:nvPr>
            <p:ph idx="2" type="subTitle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Week 09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Functions, Functions, Functions…</a:t>
            </a:r>
            <a:endParaRPr/>
          </a:p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Greater Than 10</a:t>
            </a:r>
            <a:endParaRPr/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It is well known that all positive integers greater than 10 are boring.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Write a </a:t>
            </a:r>
            <a:r>
              <a:rPr lang="el"/>
              <a:t>function</a:t>
            </a:r>
            <a:r>
              <a:rPr lang="el"/>
              <a:t> that filters a list of integers and keeps only non boring functions: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noBore :: [Int] -&gt; [Int]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noBore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::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-&gt;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noBore ls = filter lt10 ls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lt10 n = n &lt;=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&amp;&amp; n &gt;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0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But, why waste our time and define lt10 ? Is there any chance we will use it elsewhere?</a:t>
            </a:r>
            <a:endParaRPr/>
          </a:p>
        </p:txBody>
      </p:sp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Anonymous Functions</a:t>
            </a:r>
            <a:endParaRPr/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729450" y="1378000"/>
            <a:ext cx="7688700" cy="36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many cases, you just need a function for a particular occasion but you do not want to pollute the namespace by defining it globally.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This what </a:t>
            </a:r>
            <a:r>
              <a:rPr b="1" lang="el"/>
              <a:t>where</a:t>
            </a:r>
            <a:r>
              <a:rPr lang="el"/>
              <a:t> actually does.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However, why even give it a name?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is what anonymous functions are for!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noBore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::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-&gt;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noBore ls = filter (\n -&gt; n &lt;=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&amp;&amp; n &gt;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ls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Syntax: </a:t>
            </a:r>
            <a:r>
              <a:rPr b="1" lang="el"/>
              <a:t>\</a:t>
            </a:r>
            <a:r>
              <a:rPr lang="el"/>
              <a:t> &lt;input&gt; </a:t>
            </a:r>
            <a:r>
              <a:rPr b="1" lang="el"/>
              <a:t>-&gt;</a:t>
            </a:r>
            <a:r>
              <a:rPr lang="el"/>
              <a:t> &lt;body&gt;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 -&gt; (arrow) substitutes “=” in a typical </a:t>
            </a:r>
            <a:r>
              <a:rPr lang="el"/>
              <a:t>function</a:t>
            </a:r>
            <a:r>
              <a:rPr lang="el"/>
              <a:t> definition.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 \ is intended to look like a lambda (λ) just without the left short left (true story…).</a:t>
            </a:r>
            <a:endParaRPr/>
          </a:p>
        </p:txBody>
      </p:sp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Operator Sections</a:t>
            </a:r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Things might be even shorter in some cases.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Consider this function: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aBitBore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::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-&gt;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aBitBore ls = filter (\n -&gt; n &lt;=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ls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Haskell offers a special syntax for the case of such simple functions where we just want to apply a single operator on some input: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aBitBore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::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-&gt;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aBitBore ls = filter (&lt;=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ls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Essentially, we abstract out the name of the input, since it does not really matter.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general, this (?x) thing, where ? is any Haskell operator is called an </a:t>
            </a:r>
            <a:r>
              <a:rPr b="1" lang="el"/>
              <a:t>Operator Section</a:t>
            </a:r>
            <a:r>
              <a:rPr lang="el"/>
              <a:t>. So, it works with any other operator such as &lt;, &gt;, ==, etc.</a:t>
            </a:r>
            <a:endParaRPr/>
          </a:p>
        </p:txBody>
      </p:sp>
      <p:sp>
        <p:nvSpPr>
          <p:cNvPr id="146" name="Google Shape;146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More Abstraction</a:t>
            </a:r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Reconsider this example: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aBitBore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::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-&gt;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aBitBore ls = filter (&lt;=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ls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Why do we need ls?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Actually, we do not, since we know (type declaration) that this function is applied onto a list of integers.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why even name it?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aBitBore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::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-&gt;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aBitBore = filter (&lt;=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makes our code even more succinct (and somewhat cryptic for non–Haskell people…)</a:t>
            </a:r>
            <a:endParaRPr/>
          </a:p>
        </p:txBody>
      </p:sp>
      <p:sp>
        <p:nvSpPr>
          <p:cNvPr id="153" name="Google Shape;153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Function Composition</a:t>
            </a:r>
            <a:endParaRPr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We have informally talked about function composition in the past.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 brief maths interlude: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000" y="2188888"/>
            <a:ext cx="594360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Function Composition</a:t>
            </a:r>
            <a:endParaRPr/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Since (almost) everything is a </a:t>
            </a:r>
            <a:r>
              <a:rPr lang="el"/>
              <a:t>function</a:t>
            </a:r>
            <a:r>
              <a:rPr lang="el"/>
              <a:t> in Haskell, we can think of them as “objects” on which we can operate.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instance, assume we want to check whether the length of a list is even or not. How would you implement this in Haskell?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evenLn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:: [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-&gt;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evenLn ls = even (length ls)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above is a typical example of function composition: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We first compute the output of length on ls, and then;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We then compute the output of even on the previous output.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Such </a:t>
            </a:r>
            <a:r>
              <a:rPr lang="el"/>
              <a:t>function</a:t>
            </a:r>
            <a:r>
              <a:rPr lang="el"/>
              <a:t> “chaining” cases are typical for function composition: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evenLn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:: [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-&gt;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evenLn = even . length</a:t>
            </a:r>
            <a:endParaRPr/>
          </a:p>
        </p:txBody>
      </p:sp>
      <p:sp>
        <p:nvSpPr>
          <p:cNvPr id="168" name="Google Shape;168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Your Turn</a:t>
            </a:r>
            <a:endParaRPr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Define a function </a:t>
            </a:r>
            <a:r>
              <a:rPr b="1" lang="el"/>
              <a:t>comp </a:t>
            </a:r>
            <a:r>
              <a:rPr lang="el"/>
              <a:t>that implements function composition in the same way that . does.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</a:t>
            </a:r>
            <a:r>
              <a:rPr lang="el"/>
              <a:t>function</a:t>
            </a:r>
            <a:r>
              <a:rPr lang="el"/>
              <a:t> signature should be as follows: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comp :: (b -&gt; c) -&gt; (a -&gt; b) -&gt; (a -&gt; c)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Take some time to think of it…</a:t>
            </a:r>
            <a:endParaRPr/>
          </a:p>
        </p:txBody>
      </p:sp>
      <p:sp>
        <p:nvSpPr>
          <p:cNvPr id="175" name="Google Shape;175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Currying</a:t>
            </a:r>
            <a:endParaRPr/>
          </a:p>
        </p:txBody>
      </p:sp>
      <p:sp>
        <p:nvSpPr>
          <p:cNvPr id="181" name="Google Shape;181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[Cringe Alert!] Curry</a:t>
            </a:r>
            <a:endParaRPr/>
          </a:p>
        </p:txBody>
      </p:sp>
      <p:sp>
        <p:nvSpPr>
          <p:cNvPr id="187" name="Google Shape;187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729450" y="4039075"/>
            <a:ext cx="2677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Steph Curry</a:t>
            </a:r>
            <a:endParaRPr/>
          </a:p>
        </p:txBody>
      </p:sp>
      <p:sp>
        <p:nvSpPr>
          <p:cNvPr id="189" name="Google Shape;189;p26"/>
          <p:cNvSpPr txBox="1"/>
          <p:nvPr>
            <p:ph idx="1" type="body"/>
          </p:nvPr>
        </p:nvSpPr>
        <p:spPr>
          <a:xfrm>
            <a:off x="3407250" y="4039075"/>
            <a:ext cx="2677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Haskell Curry</a:t>
            </a:r>
            <a:endParaRPr/>
          </a:p>
        </p:txBody>
      </p:sp>
      <p:sp>
        <p:nvSpPr>
          <p:cNvPr id="190" name="Google Shape;190;p26"/>
          <p:cNvSpPr txBox="1"/>
          <p:nvPr>
            <p:ph idx="1" type="body"/>
          </p:nvPr>
        </p:nvSpPr>
        <p:spPr>
          <a:xfrm>
            <a:off x="6085050" y="4039075"/>
            <a:ext cx="2677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No Curry</a:t>
            </a:r>
            <a:endParaRPr/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9525"/>
            <a:ext cx="2628434" cy="262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3223" y="1259525"/>
            <a:ext cx="2628425" cy="262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4048" y="1259525"/>
            <a:ext cx="1991523" cy="262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Currying</a:t>
            </a:r>
            <a:endParaRPr/>
          </a:p>
        </p:txBody>
      </p:sp>
      <p:sp>
        <p:nvSpPr>
          <p:cNvPr id="199" name="Google Shape;199;p27"/>
          <p:cNvSpPr txBox="1"/>
          <p:nvPr>
            <p:ph idx="1" type="body"/>
          </p:nvPr>
        </p:nvSpPr>
        <p:spPr>
          <a:xfrm>
            <a:off x="729450" y="1378000"/>
            <a:ext cx="7688700" cy="35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Consider the following function: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foo x y = x + y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would be its signature? (there are multiple correct answers).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Assuming that everything is an integers: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::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-&gt;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-&gt;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Why is that? (Recall freely from previous lectures).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Essentially, this is an instance of what we call “Currying”.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On a side–note, currying was not first invented by Curry (neither Steph, no Haskell), but by Moses Schoenfinkel (the third guy on right in the previous slide).</a:t>
            </a:r>
            <a:endParaRPr/>
          </a:p>
        </p:txBody>
      </p:sp>
      <p:sp>
        <p:nvSpPr>
          <p:cNvPr id="200" name="Google Shape;200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Currying</a:t>
            </a:r>
            <a:endParaRPr/>
          </a:p>
        </p:txBody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729450" y="1378000"/>
            <a:ext cx="7688700" cy="3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But, what is currying, actually?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As we saw before, foo, while seeming accepting two arguments, actually accepts a single argument which is an integer and outputs a function taking as input an integer and returning another integer.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Int -&gt; Int -&gt; Int should be read as: Int -&gt; (Int -&gt; Int), but we typically omit the right-most parentheses in such cases.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is the quintessence of currying: We can represent any function taking n arguments as a composition of many single–variable functions that return other functions!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is really useful at a more formal level, since it allows proving stuff about (efficient) computability of programs</a:t>
            </a:r>
            <a:endParaRPr/>
          </a:p>
        </p:txBody>
      </p:sp>
      <p:sp>
        <p:nvSpPr>
          <p:cNvPr id="207" name="Google Shape;207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curry And uncurry</a:t>
            </a:r>
            <a:endParaRPr/>
          </a:p>
        </p:txBody>
      </p:sp>
      <p:sp>
        <p:nvSpPr>
          <p:cNvPr id="213" name="Google Shape;213;p29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Haskell offers two nice functions regarding currying stuff and uncurrying stuff: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curry f x y = f (x, y) → Typically, this makes a function f accept its two arguments as a single tuple, like a “two arguments” function.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uncurry f (x, y) = f x y → The opposite of the previous one.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instance: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uncurry (+) (4, 7) → 5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Why don’t we have curry  uncurry versions for more than two arguments?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Stay tuned…</a:t>
            </a:r>
            <a:endParaRPr/>
          </a:p>
        </p:txBody>
      </p:sp>
      <p:sp>
        <p:nvSpPr>
          <p:cNvPr id="214" name="Google Shape;214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Partial Application</a:t>
            </a:r>
            <a:endParaRPr/>
          </a:p>
        </p:txBody>
      </p:sp>
      <p:sp>
        <p:nvSpPr>
          <p:cNvPr id="220" name="Google Shape;220;p30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can currying help us - besides making function declarations seem bogus?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is roughly what happens here: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::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-&gt;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bar = filter (&gt;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rgbClr val="795E26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We have defined this one through composition, omitting any arguments.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Since we omit one argument from filter, what does filter return?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filter (&gt;3) actually returns a </a:t>
            </a:r>
            <a:r>
              <a:rPr b="1" lang="el"/>
              <a:t>function</a:t>
            </a:r>
            <a:r>
              <a:rPr lang="el"/>
              <a:t> that waits for a list and outputs another list.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Exactly what bar is!</a:t>
            </a:r>
            <a:endParaRPr/>
          </a:p>
        </p:txBody>
      </p:sp>
      <p:sp>
        <p:nvSpPr>
          <p:cNvPr id="221" name="Google Shape;221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Folds</a:t>
            </a:r>
            <a:endParaRPr/>
          </a:p>
        </p:txBody>
      </p:sp>
      <p:sp>
        <p:nvSpPr>
          <p:cNvPr id="227" name="Google Shape;227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Do You Observe?</a:t>
            </a:r>
            <a:endParaRPr/>
          </a:p>
        </p:txBody>
      </p:sp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do the following functions share in common?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sum'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::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-&gt;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Integer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sum'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=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0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sum' (x:xs) = x + sum' xs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product'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:: [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-&gt;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Integer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product'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0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product' (x:xs) = x * product' xs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length'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:: [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-&gt;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length'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=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0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length' (_:xs) =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+ length' xs</a:t>
            </a:r>
            <a:endParaRPr/>
          </a:p>
        </p:txBody>
      </p:sp>
      <p:sp>
        <p:nvSpPr>
          <p:cNvPr id="234" name="Google Shape;234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Even More Abstraction</a:t>
            </a:r>
            <a:endParaRPr/>
          </a:p>
        </p:txBody>
      </p:sp>
      <p:sp>
        <p:nvSpPr>
          <p:cNvPr id="240" name="Google Shape;240;p33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all cases above, each function: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Has a base case of how to handle an empty list.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Then applies the same operation to each element of the list.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Consider this list:  x == [2, 5, 1, 3]: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Remove syntactic sugar: x == 2:(5:(1:(3:[])))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Then, in order to compute the sum of its elements: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Substitute [] with 0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Substitute : with +</a:t>
            </a:r>
            <a:r>
              <a:rPr lang="el" sz="1600"/>
              <a:t> and leave its elements as they are.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Voilà!</a:t>
            </a:r>
            <a:endParaRPr sz="1600"/>
          </a:p>
        </p:txBody>
      </p:sp>
      <p:sp>
        <p:nvSpPr>
          <p:cNvPr id="241" name="Google Shape;241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Even More Abstraction</a:t>
            </a:r>
            <a:endParaRPr/>
          </a:p>
        </p:txBody>
      </p:sp>
      <p:sp>
        <p:nvSpPr>
          <p:cNvPr id="247" name="Google Shape;247;p34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Consider again  x == [2, 5, 1, 3]: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Remove syntactic sugar: x == 2:(5:(1:(3:[])))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Then, in order to compute the product of its elements: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Substitute [] with 1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Substitute : with * and leave its elements as they are.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Voilà!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Consider again  x == [2, 5, 1, 3]: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Remove syntactic sugar: x == 2:(5:(1:(3:[])))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Then, in order to compute the product of its elements: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Substitute [] with 0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Substitute : with + and each element with 1.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l" sz="1600"/>
              <a:t>Voilà!</a:t>
            </a:r>
            <a:endParaRPr/>
          </a:p>
        </p:txBody>
      </p:sp>
      <p:sp>
        <p:nvSpPr>
          <p:cNvPr id="248" name="Google Shape;248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Even More Abstraction</a:t>
            </a:r>
            <a:endParaRPr/>
          </a:p>
        </p:txBody>
      </p:sp>
      <p:sp>
        <p:nvSpPr>
          <p:cNvPr id="254" name="Google Shape;254;p35"/>
          <p:cNvSpPr txBox="1"/>
          <p:nvPr>
            <p:ph idx="1" type="body"/>
          </p:nvPr>
        </p:nvSpPr>
        <p:spPr>
          <a:xfrm>
            <a:off x="729450" y="1378000"/>
            <a:ext cx="7688700" cy="3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all cases above we what we actually do is: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substitute [] by some </a:t>
            </a:r>
            <a:r>
              <a:rPr b="1" lang="el"/>
              <a:t>base value</a:t>
            </a:r>
            <a:r>
              <a:rPr lang="el"/>
              <a:t>;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substitute the colon with the </a:t>
            </a:r>
            <a:r>
              <a:rPr b="1" lang="el"/>
              <a:t>operation </a:t>
            </a:r>
            <a:r>
              <a:rPr lang="el"/>
              <a:t>we want to perform on each element.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assuming the base value is a piece of data and the operation is a function (of “two arguments”), the pattern above looks something like this: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Get a list, e.g., x == [5, 2, 7, 4].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Remove syntactic sugar: x == 5:(2:(7:(4:[])))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[] → base, : → f (in prefix notation).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So: x == f 5 (f 2 (f 7 (f 4 base))).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is called </a:t>
            </a:r>
            <a:r>
              <a:rPr b="1" lang="el"/>
              <a:t>folding</a:t>
            </a:r>
            <a:r>
              <a:rPr lang="el"/>
              <a:t>.</a:t>
            </a:r>
            <a:endParaRPr/>
          </a:p>
        </p:txBody>
      </p:sp>
      <p:sp>
        <p:nvSpPr>
          <p:cNvPr id="255" name="Google Shape;255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Your Turn!</a:t>
            </a:r>
            <a:endParaRPr/>
          </a:p>
        </p:txBody>
      </p:sp>
      <p:sp>
        <p:nvSpPr>
          <p:cNvPr id="261" name="Google Shape;261;p36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Implement</a:t>
            </a:r>
            <a:r>
              <a:rPr lang="el"/>
              <a:t> a (higher order) function that actually implements folding.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function’s </a:t>
            </a:r>
            <a:r>
              <a:rPr lang="el"/>
              <a:t>signature</a:t>
            </a:r>
            <a:r>
              <a:rPr lang="el"/>
              <a:t> should be: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fold :: b -&gt; (a -&gt; b -&gt; b) -&gt; [a] -&gt; b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That is, fold gets as parameters: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something of type b;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 function which gets something of type a and something of type b, returning an output of type b, and;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 list of elements of type a;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and returns something of type b (the same as the base case).</a:t>
            </a:r>
            <a:endParaRPr/>
          </a:p>
        </p:txBody>
      </p:sp>
      <p:sp>
        <p:nvSpPr>
          <p:cNvPr id="262" name="Google Shape;262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Our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fold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" name="Google Shape;268;p37"/>
          <p:cNvSpPr txBox="1"/>
          <p:nvPr>
            <p:ph idx="1" type="body"/>
          </p:nvPr>
        </p:nvSpPr>
        <p:spPr>
          <a:xfrm>
            <a:off x="729450" y="1378000"/>
            <a:ext cx="7688700" cy="3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fold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::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-&gt; (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-&gt;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-&gt;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-&gt; [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-&gt; </a:t>
            </a:r>
            <a:r>
              <a:rPr lang="el" sz="10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50">
              <a:solidFill>
                <a:srgbClr val="001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fold base f </a:t>
            </a:r>
            <a:r>
              <a:rPr lang="el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= base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fold z f (x:xs) = f x (fold z f xs)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Using the above, implement sum, length, and product.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One way of doing so: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sum''     = fold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product'' = fold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l" sz="10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length''  = fold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(\_ s -&gt; </a:t>
            </a:r>
            <a:r>
              <a:rPr lang="el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l" sz="10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+ s)</a:t>
            </a:r>
            <a:endParaRPr/>
          </a:p>
        </p:txBody>
      </p:sp>
      <p:sp>
        <p:nvSpPr>
          <p:cNvPr id="269" name="Google Shape;269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foldr, foldl</a:t>
            </a:r>
            <a:endParaRPr/>
          </a:p>
        </p:txBody>
      </p:sp>
      <p:sp>
        <p:nvSpPr>
          <p:cNvPr id="275" name="Google Shape;275;p38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Folding is implemented in Prelude in two ways: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foldr → right folding, as in our case, just with parameters passed in a different order (function, base value, list)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foldl → left folding.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Prefer foldl’ from Data.List since it is more efficient!</a:t>
            </a:r>
            <a:endParaRPr/>
          </a:p>
        </p:txBody>
      </p:sp>
      <p:sp>
        <p:nvSpPr>
          <p:cNvPr id="276" name="Google Shape;276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Fun Time!</a:t>
            </a:r>
            <a:endParaRPr/>
          </a:p>
        </p:txBody>
      </p:sp>
      <p:sp>
        <p:nvSpPr>
          <p:cNvPr id="282" name="Google Shape;282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Wholemeal Programming</a:t>
            </a:r>
            <a:endParaRPr/>
          </a:p>
        </p:txBody>
      </p:sp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Have some fun with the following lab from UPENN: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l" u="sng">
                <a:solidFill>
                  <a:schemeClr val="hlink"/>
                </a:solidFill>
                <a:hlinkClick r:id="rId3"/>
              </a:rPr>
              <a:t>https://www.cis.upenn.edu/~cis1940/spring13/hw/04-higher-order.pdf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l"/>
              <a:t>In case you get stuck, seek for help at: solutions/hof.hs.</a:t>
            </a:r>
            <a:endParaRPr/>
          </a:p>
        </p:txBody>
      </p:sp>
      <p:sp>
        <p:nvSpPr>
          <p:cNvPr id="289" name="Google Shape;289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Graded Lab</a:t>
            </a:r>
            <a:endParaRPr/>
          </a:p>
        </p:txBody>
      </p:sp>
      <p:sp>
        <p:nvSpPr>
          <p:cNvPr id="295" name="Google Shape;295;p41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Take a tour to this semester’s next graded lab, as found in: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labs/5CM524 Lab 4_v1_2.docx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l"/>
              <a:t>Take care to follow all instructions carefully and do not forget to take screenshots of your in-class work!</a:t>
            </a:r>
            <a:endParaRPr/>
          </a:p>
        </p:txBody>
      </p:sp>
      <p:sp>
        <p:nvSpPr>
          <p:cNvPr id="296" name="Google Shape;296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Any Questions</a:t>
            </a:r>
            <a:endParaRPr/>
          </a:p>
        </p:txBody>
      </p:sp>
      <p:sp>
        <p:nvSpPr>
          <p:cNvPr id="302" name="Google Shape;302;p42"/>
          <p:cNvSpPr txBox="1"/>
          <p:nvPr>
            <p:ph idx="1" type="body"/>
          </p:nvPr>
        </p:nvSpPr>
        <p:spPr>
          <a:xfrm>
            <a:off x="729450" y="1378000"/>
            <a:ext cx="3842400" cy="296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Don’t forget to fill in the questionnaire shown right!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l"/>
              <a:t>Office hours:</a:t>
            </a:r>
            <a:br>
              <a:rPr lang="el"/>
            </a:br>
            <a:r>
              <a:rPr lang="el"/>
              <a:t>Tuesday: 09:00 —10:00, Glyfada, PC Lab</a:t>
            </a:r>
            <a:br>
              <a:rPr lang="el"/>
            </a:br>
            <a:r>
              <a:rPr lang="el"/>
              <a:t>Wednesday: 15:00 — 17:00, Pellinis, 203</a:t>
            </a:r>
            <a:endParaRPr/>
          </a:p>
        </p:txBody>
      </p:sp>
      <p:sp>
        <p:nvSpPr>
          <p:cNvPr id="303" name="Google Shape;303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304" name="Google Shape;30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250" y="802325"/>
            <a:ext cx="3337925" cy="33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2"/>
          <p:cNvSpPr txBox="1"/>
          <p:nvPr/>
        </p:nvSpPr>
        <p:spPr>
          <a:xfrm>
            <a:off x="4724252" y="4105025"/>
            <a:ext cx="3584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https://forms.gle/YU1mjxjBjBf8hyvH7</a:t>
            </a:r>
            <a:endParaRPr sz="130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