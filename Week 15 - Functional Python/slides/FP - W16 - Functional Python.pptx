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ED6B244-E6D9-4D3E-981D-264D318FE566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93F404D-E675-440A-8296-D17EA27B0DE6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A3A4677-5FE8-4977-B668-48AC6354F93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A8A71E-6EA1-4F94-A927-AA9DD075C164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7F589C8-4D32-4C58-8BC3-E7F925E4E762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29360" y="572040"/>
            <a:ext cx="7688520" cy="248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39A5B3C-107A-41FB-8173-65FFE4D203A9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349733D-39EB-4EC4-97E9-A9D814F8B51B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F6643E2-83EF-4ED6-908D-168CCBAECBEF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521611-1D55-4773-9EC3-6D62E0A97225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F27DF87-52D8-42C8-BAD4-F8F8D133FF23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571A80F-77B2-4414-9C33-B9AC4663830A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332892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592848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2936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332892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592848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5E219B9-EC61-4854-83F7-43B695A1B471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023EAC-A28D-435F-9466-88F87D6E0A48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B777E4-B649-4136-BBDA-4257585431E6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02C585-3054-4127-89CE-36BAE30D9E68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1D31CB-C5F4-4BF4-854D-1FB390F53B85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28373A-60E0-41BF-AD79-958E4FCD7964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729360" y="572040"/>
            <a:ext cx="7688520" cy="248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A8ABF1-C768-4465-B5B3-7DDFCC4BEE60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66810A-02A2-4D84-9E42-697A0F414046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003A1B-A84E-4729-AB0D-FE8E0B58FA31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FA7CD1-E0F9-47D0-9D39-E3C43F63D72E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FE0C56-E0C7-4F15-9541-3DCD6D2213ED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BE9897-DADA-4FCE-8B3D-FD1768728A30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32892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592848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72936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32892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592848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C6B1D7-E189-4851-8654-5A88CA76AE8F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B0D7366-382B-409B-8CA6-CEC9F5B24162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D8E8C2-3B8B-4E39-933B-643ED66908C0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00985C-F2FD-4581-A45C-9639EE5805B6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7A628C-63B8-4BD3-ACA6-0C224310B4B8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5F35DEC-F3A0-4DC0-ACFD-CFB829DE919A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ubTitle"/>
          </p:nvPr>
        </p:nvSpPr>
        <p:spPr>
          <a:xfrm>
            <a:off x="729360" y="572040"/>
            <a:ext cx="7688520" cy="248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C98440-EAF6-4C48-A782-13A867C40267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0EEB60-86B6-4D1D-B90B-F3A2F80EE9A4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296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0B1B54-EB77-4DEF-B87C-D23BD21B6ED3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EA1FBC-5120-47C1-9A7E-DF44906E9BC7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729360" y="2925360"/>
            <a:ext cx="76885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EDE17C-767E-4D5B-9B60-7EFFDCF1BBF5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669200" y="137808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72936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/>
          </p:nvPr>
        </p:nvSpPr>
        <p:spPr>
          <a:xfrm>
            <a:off x="4669200" y="2925360"/>
            <a:ext cx="375192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2CD2F2-94FF-4904-A64C-211F5256CF0E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332892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5928480" y="137808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72936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/>
          </p:nvPr>
        </p:nvSpPr>
        <p:spPr>
          <a:xfrm>
            <a:off x="332892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/>
          </p:nvPr>
        </p:nvSpPr>
        <p:spPr>
          <a:xfrm>
            <a:off x="5928480" y="2925360"/>
            <a:ext cx="2475360" cy="141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E8BB967-5715-40B3-A9AF-857D67F99CA8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1;p29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" name="Google Shape;12;p29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2" name="Google Shape;13;p29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" name="Google Shape;14;p29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7800" cy="16642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BF9A72-9F3F-43F0-939D-F8359A311F5F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Google Shape;18;p29"/>
          <p:cNvSpPr/>
          <p:nvPr/>
        </p:nvSpPr>
        <p:spPr>
          <a:xfrm>
            <a:off x="6590880" y="3867120"/>
            <a:ext cx="1945080" cy="73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21;p30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45" name="Google Shape;22;p30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" name="Google Shape;23;p30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F49DA8-4DE2-4FFF-8611-EAE15856D78B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27;p31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7" name="Google Shape;28;p31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88" name="Google Shape;29;p31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" name="Google Shape;30;p31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812D69-813E-4AAC-8D51-95F474F8C775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xkcd.com/1270/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https://docs.python.org/3/library/itertools.html" TargetMode="External"/><Relationship Id="rId2" Type="http://schemas.openxmlformats.org/officeDocument/2006/relationships/hyperlink" Target="https://docs.python.org/3/library/functools.html" TargetMode="External"/><Relationship Id="rId3" Type="http://schemas.openxmlformats.org/officeDocument/2006/relationships/slideLayout" Target="../slideLayouts/slideLayout2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hyperlink" Target="https://realpython.com/python-reduce-function/" TargetMode="External"/><Relationship Id="rId2" Type="http://schemas.openxmlformats.org/officeDocument/2006/relationships/slideLayout" Target="../slideLayouts/slideLayout2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https://forms.gle/YU1mjxjBjBf8hyvH7" TargetMode="External"/><Relationship Id="rId3" Type="http://schemas.openxmlformats.org/officeDocument/2006/relationships/slideLayout" Target="../slideLayouts/slideLayout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7800" cy="16642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4200" spc="-1" strike="noStrike">
                <a:solidFill>
                  <a:schemeClr val="dk2"/>
                </a:solidFill>
                <a:latin typeface="Lato"/>
                <a:ea typeface="Lato"/>
              </a:rPr>
              <a:t>Functional Programming</a:t>
            </a:r>
            <a:br>
              <a:rPr sz="4200"/>
            </a:br>
            <a:r>
              <a:rPr b="0" lang="el" sz="2200" spc="-1" strike="noStrike">
                <a:solidFill>
                  <a:schemeClr val="accent1"/>
                </a:solidFill>
                <a:latin typeface="Lato"/>
                <a:ea typeface="Lato"/>
              </a:rPr>
              <a:t>Python + Functional Programming = ?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ubTitle"/>
          </p:nvPr>
        </p:nvSpPr>
        <p:spPr>
          <a:xfrm>
            <a:off x="729720" y="3173040"/>
            <a:ext cx="7687800" cy="738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Markos Vassilis, Mediterranean College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Google Shape;118;p1"/>
          <p:cNvSpPr/>
          <p:nvPr/>
        </p:nvSpPr>
        <p:spPr>
          <a:xfrm>
            <a:off x="6029640" y="4001400"/>
            <a:ext cx="238752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ubTitle"/>
          </p:nvPr>
        </p:nvSpPr>
        <p:spPr>
          <a:xfrm>
            <a:off x="6057000" y="3821760"/>
            <a:ext cx="2360520" cy="1121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algn="r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l" sz="1300" spc="-1" strike="noStrike">
                <a:solidFill>
                  <a:schemeClr val="accent1"/>
                </a:solidFill>
                <a:latin typeface="Lato"/>
                <a:ea typeface="Lato"/>
              </a:rPr>
              <a:t>Week 16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3600" spc="-1" strike="noStrike">
                <a:solidFill>
                  <a:schemeClr val="lt1"/>
                </a:solidFill>
                <a:latin typeface="Lato"/>
                <a:ea typeface="Lato"/>
              </a:rPr>
              <a:t>A Quick Python Revision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Num" idx="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854A75-B943-401F-BB7D-56C86A96AC8D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Data Types in Python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99000"/>
          </a:bodyPr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Name a few known data types (primitive or not):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character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string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integer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float (double etc)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object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05040" indent="-3265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about those in Python?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3"/>
                </a:solidFill>
                <a:latin typeface="Lato"/>
                <a:ea typeface="Lato"/>
              </a:rPr>
              <a:t>Python is not a typed language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which means that you should not declare types while writing code. Everything is done by python under the hood.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97E2E4-356F-472F-A58C-F849C88795C2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Google Shape;133;p3"/>
          <p:cNvSpPr/>
          <p:nvPr/>
        </p:nvSpPr>
        <p:spPr>
          <a:xfrm>
            <a:off x="5944680" y="1717920"/>
            <a:ext cx="2753640" cy="1154160"/>
          </a:xfrm>
          <a:prstGeom prst="rect">
            <a:avLst/>
          </a:prstGeom>
          <a:solidFill>
            <a:srgbClr val="fce5cd"/>
          </a:solidFill>
          <a:ln w="19050">
            <a:solidFill>
              <a:srgbClr val="eb56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l" sz="1600" spc="-1" strike="noStrike">
                <a:solidFill>
                  <a:schemeClr val="accent3"/>
                </a:solidFill>
                <a:latin typeface="Consolas"/>
                <a:ea typeface="Consolas"/>
              </a:rPr>
              <a:t>Everything</a:t>
            </a:r>
            <a:r>
              <a:rPr b="0" lang="el" sz="1600" spc="-1" strike="noStrike">
                <a:solidFill>
                  <a:srgbClr val="000000"/>
                </a:solidFill>
                <a:latin typeface="Consolas"/>
                <a:ea typeface="Consolas"/>
              </a:rPr>
              <a:t> in this course refers to </a:t>
            </a:r>
            <a:r>
              <a:rPr b="1" lang="el" sz="1600" spc="-1" strike="noStrike">
                <a:solidFill>
                  <a:schemeClr val="accent3"/>
                </a:solidFill>
                <a:latin typeface="Consolas"/>
                <a:ea typeface="Consolas"/>
              </a:rPr>
              <a:t>Python</a:t>
            </a:r>
            <a:r>
              <a:rPr b="1" lang="el" sz="1600" spc="-1" strike="noStrike">
                <a:solidFill>
                  <a:srgbClr val="000000"/>
                </a:solidFill>
                <a:latin typeface="Consolas"/>
                <a:ea typeface="Consolas"/>
              </a:rPr>
              <a:t> 3</a:t>
            </a:r>
            <a:r>
              <a:rPr b="0" lang="el" sz="1600" spc="-1" strike="noStrike">
                <a:solidFill>
                  <a:srgbClr val="000000"/>
                </a:solidFill>
                <a:latin typeface="Consolas"/>
                <a:ea typeface="Consolas"/>
              </a:rPr>
              <a:t>, which we simply refer to as “Python”.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#001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will the following piece of code print?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1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‘a’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2.4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print(type(a) == type(1))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This will print </a:t>
            </a:r>
            <a:r>
              <a:rPr b="1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False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because the variable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ended up being a float, hence its type is not the same as that of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1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which is of type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int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95D6BD-877F-4EBC-B963-D4BC2FAF5C9F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#001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2B10A0-2990-4710-8BEF-140D8DDB3615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5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4" name="Google Shape;147;p5" descr=""/>
          <p:cNvPicPr/>
          <p:nvPr/>
        </p:nvPicPr>
        <p:blipFill>
          <a:blip r:embed="rId1"/>
          <a:stretch/>
        </p:blipFill>
        <p:spPr>
          <a:xfrm>
            <a:off x="1823760" y="128016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will the following piece of code print?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[3, 5, 2, 4]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b = [3, 5, 2, 4]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x = a.sort() == sorted(b)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print(x)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 will print </a:t>
            </a:r>
            <a:r>
              <a:rPr b="1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False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because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object.sort()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returns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None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(it is an object method) while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sorted(list)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returns a new sorted list.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8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CC9291-5FC7-4CCE-971F-D6BF232160C1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3" dur="indefinite" restart="never" nodeType="tmRoot">
          <p:childTnLst>
            <p:seq>
              <p:cTn id="54" dur="indefinite" nodeType="mainSeq">
                <p:childTnLst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ldNum" idx="9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0A5492-081B-4578-B337-10CA4A2F39CC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7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0" name="Google Shape;161;p7" descr=""/>
          <p:cNvPicPr/>
          <p:nvPr/>
        </p:nvPicPr>
        <p:blipFill>
          <a:blip r:embed="rId1"/>
          <a:stretch/>
        </p:blipFill>
        <p:spPr>
          <a:xfrm>
            <a:off x="1823760" y="128016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#003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will the following piece of code print?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‘qwerty’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b = a[2:-1]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c = a + b * 2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print(c)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 will print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qwertyertert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as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a[2:-1]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yields the substring of a starting from its third character (inclusive) up to its last character (exclusive) and multiplying a string by an integer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n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repeats that string n times.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0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DA9FE1-B027-4BE3-BB3B-1403FA7D6E60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3" dur="indefinite" restart="never" nodeType="tmRoot">
          <p:childTnLst>
            <p:seq>
              <p:cTn id="64" dur="indefinite" nodeType="mainSeq">
                <p:childTnLst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#003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1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8B30C9-0F70-4962-A056-7B60BA6F2133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9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6" name="Google Shape;175;p9" descr=""/>
          <p:cNvPicPr/>
          <p:nvPr/>
        </p:nvPicPr>
        <p:blipFill>
          <a:blip r:embed="rId1"/>
          <a:stretch/>
        </p:blipFill>
        <p:spPr>
          <a:xfrm>
            <a:off x="1823760" y="127332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6000"/>
          </a:bodyPr>
          <a:p>
            <a:pPr marL="393120" indent="-28368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will the following piece of code print?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[10, 24]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c = 0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while a: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x = a.pop()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if x % 2 == 0: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a.append(x // 2)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c += 1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print(c)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9312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 will print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4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since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c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is incremented only whenever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x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is a multiple of 2, which is the case for exactly 4 cases (24, 12, 6, 10).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1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E1559-804A-4AAE-B022-39DEDF390D67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10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3" dur="indefinite" restart="never" nodeType="tmRoot">
          <p:childTnLst>
            <p:seq>
              <p:cTn id="74" dur="indefinite" nodeType="mainSeq">
                <p:childTnLst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sldNum" idx="1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1CF8EF-8B82-47A9-9982-3020E51F7B54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11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2" name="Google Shape;189;p11" descr=""/>
          <p:cNvPicPr/>
          <p:nvPr/>
        </p:nvPicPr>
        <p:blipFill>
          <a:blip r:embed="rId1"/>
          <a:stretch/>
        </p:blipFill>
        <p:spPr>
          <a:xfrm>
            <a:off x="1825560" y="126648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#005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will the following piece of code print?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def foo(x):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[]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for i in range(2, x ** 2, 3):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a.append(3 * x ** 3)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return len(a)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print(foo(5) + foo(6))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 will print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20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since the first loop (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foo(5)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) runs for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i = 2, 5,..., 23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(8 times) and the second loop (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foo(6)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) for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i = 2, 5,..., 35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(12 times).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ED2343-E1DA-403C-874E-A06DA22B8181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3" dur="indefinite" restart="never" nodeType="tmRoot">
          <p:childTnLst>
            <p:seq>
              <p:cTn id="84" dur="indefinite" nodeType="mainSeq">
                <p:childTnLst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Bits of Python #005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ldNum" idx="1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76FBBD-60F3-4EF3-9DAF-D287D203F4FA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8" name="Google Shape;203;p13" descr=""/>
          <p:cNvPicPr/>
          <p:nvPr/>
        </p:nvPicPr>
        <p:blipFill>
          <a:blip r:embed="rId1"/>
          <a:stretch/>
        </p:blipFill>
        <p:spPr>
          <a:xfrm>
            <a:off x="1823760" y="124560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Printing files in Python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34938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Consider the following piece of code: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 = open('test.txt', 'w')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f.write('asda')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f.close()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g = open('test.txt', 'r')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[print(x) for x in g]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above snippet creates a file named test.txt and writes ‘asda’ in it. Then, it opens the file and prints its content.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Execute it to verify its functionality!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428C65-3969-41C1-965E-FED10E44D2AC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3" dur="indefinite" restart="never" nodeType="tmRoot">
          <p:childTnLst>
            <p:seq>
              <p:cTn id="94" dur="indefinite" nodeType="mainSeq">
                <p:childTnLst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Example Execution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sldNum" idx="1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13AE78-CFCA-4C6B-9011-389ACC1CCB9D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15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4" name="Google Shape;217;p15" descr=""/>
          <p:cNvPicPr/>
          <p:nvPr/>
        </p:nvPicPr>
        <p:blipFill>
          <a:blip r:embed="rId1"/>
          <a:stretch/>
        </p:blipFill>
        <p:spPr>
          <a:xfrm>
            <a:off x="1825560" y="125028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Forgetting to close files *with* Python…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35028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 is usual to forget to close files when reading / parsing / editing them, leading to unexpected behaviour (e.g., damaged files, improper initialisation etc)...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…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but Python can take care of that, as well!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with open('test.txt', 'w') as f: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f.write('asda')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with open('test.txt', 'r') as g:</a:t>
            </a:r>
            <a:br>
              <a:rPr sz="1600"/>
            </a:b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	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a = [print(x) for x in g]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above snippet achieves exactly the same as above, without having us worry about closing file (streams) or whatnot.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Execute it to verify its functionality!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8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39EF9E-79E2-4971-A6A1-016863F693F2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1" dur="indefinite" restart="never" nodeType="tmRoot">
          <p:childTnLst>
            <p:seq>
              <p:cTn id="112" dur="indefinite" nodeType="mainSeq">
                <p:childTnLst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It Really Works!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9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3C8822-144F-4EFA-9A32-30E9B6763AB2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17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0" name="Google Shape;231;p17" descr=""/>
          <p:cNvPicPr/>
          <p:nvPr/>
        </p:nvPicPr>
        <p:blipFill>
          <a:blip r:embed="rId1"/>
          <a:stretch/>
        </p:blipFill>
        <p:spPr>
          <a:xfrm>
            <a:off x="1823760" y="1277640"/>
            <a:ext cx="5495760" cy="373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3600" spc="-1" strike="noStrike">
                <a:solidFill>
                  <a:schemeClr val="lt1"/>
                </a:solidFill>
                <a:latin typeface="Lato"/>
                <a:ea typeface="Lato"/>
              </a:rPr>
              <a:t>Functional Programming + Python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sldNum" idx="20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62405D-22B8-4C45-84F7-6B8308442F06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Some Programmer’s Humour First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764280" y="4319280"/>
            <a:ext cx="7688520" cy="3250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50000"/>
          </a:bodyPr>
          <a:p>
            <a:pPr indent="0" algn="ctr">
              <a:lnSpc>
                <a:spcPct val="115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This course’s goal is to understand programming so deeply that you actually consider this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funny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: Source: </a:t>
            </a: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1"/>
              </a:rPr>
              <a:t>https://xkcd.com/1270/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2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4306CD-5C78-487B-84A0-74137FE63CA3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19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6" name="Google Shape;245;p19" descr=""/>
          <p:cNvPicPr/>
          <p:nvPr/>
        </p:nvPicPr>
        <p:blipFill>
          <a:blip r:embed="rId2"/>
          <a:stretch/>
        </p:blipFill>
        <p:spPr>
          <a:xfrm>
            <a:off x="3481560" y="1509480"/>
            <a:ext cx="2184120" cy="260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Going First Class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 Haskell, functions are everywhere!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This is because they are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first class objects,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so one can: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assign them to variables;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pass them as arguments;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treat them just like any other variable.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same is also true for Python: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So, to that end, you can let the warmth of Haskell flood your mind.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This instantly allows us to define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higher order functions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and play around with more advanced functional programming stuff!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2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8CC8E0-BC12-4F94-B7F9-CDEEE18658BB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20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3" dur="indefinite" restart="never" nodeType="tmRoot">
          <p:childTnLst>
            <p:seq>
              <p:cTn id="134" dur="indefinite" nodeType="mainSeq">
                <p:childTnLst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Python’s Functional Toolkit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1"/>
              </a:rPr>
              <a:t>itertools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: This module implements a number of iterator building blocks inspired by constructs from APL, Haskell, and SML.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Each has been recast in a form suitable for Python.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2"/>
              </a:rPr>
              <a:t>functools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: The functools module is for higher-order functions: functions that act on or return other functions.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 general, any callable object can be treated as a function for the purposes of this module.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There are also some built–in elements of the language such as comprehensions that are of a functional nature and might come in handy.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2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CA861E-E3CA-400D-906F-EEA222B2913F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21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7" dur="indefinite" restart="never" nodeType="tmRoot">
          <p:childTnLst>
            <p:seq>
              <p:cTn id="168" dur="indefinite" nodeType="mainSeq">
                <p:childTnLst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Consolas"/>
                <a:ea typeface="Consolas"/>
              </a:rPr>
              <a:t>filter(function, iterable)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37652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Much like in Haskell, it accepts: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 boolean function, which is used to filter the contents of an;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iterable, keeping only those for which the function evaluates to True.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For instance, how would you keep all even numbers from a list of integers?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even = lambda ns: filter(lambda n: n % 2 == 0, ns)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Run this!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did you get?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Something like: &lt;filter object at 0x00000140E69ED3F0&gt;.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How to fix that?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Wrap it using 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list()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2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2DF0EB-D52F-49EB-B9F8-6870BE6B72C4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9" dur="indefinite" restart="never" nodeType="tmRoot">
          <p:childTnLst>
            <p:seq>
              <p:cTn id="190" dur="indefinite" nodeType="mainSeq">
                <p:childTnLst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Consolas"/>
                <a:ea typeface="Consolas"/>
              </a:rPr>
              <a:t>map(function, iterable)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37652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Much like in Haskell, it accepts: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 boolean function, which is used to map the contents of an;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iterable, until it is exhausted.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For instance, how would you double all numbers from a list of integers?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double = lambda ns: map(lambda n: n * 2, ns)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Run this!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What did you get?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Fix that, maybe?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2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A8574C-D1AA-4D04-A3CC-688A66537510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1" dur="indefinite" restart="never" nodeType="tmRoot">
          <p:childTnLst>
            <p:seq>
              <p:cTn id="232" dur="indefinite" nodeType="mainSeq">
                <p:childTnLst>
                  <p:par>
                    <p:cTn id="233" fill="hold">
                      <p:stCondLst>
                        <p:cond delay="indefinite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indefinite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5" fill="hold">
                      <p:stCondLst>
                        <p:cond delay="indefinite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9" fill="hold">
                      <p:stCondLst>
                        <p:cond delay="indefinite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id="2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7" fill="hold">
                      <p:stCondLst>
                        <p:cond delay="indefinite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3600" spc="-1" strike="noStrike">
                <a:solidFill>
                  <a:schemeClr val="lt1"/>
                </a:solidFill>
                <a:latin typeface="Lato"/>
                <a:ea typeface="Lato"/>
              </a:rPr>
              <a:t>Fun Time!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2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DDF881-6700-4D12-B7DA-C52AC40C87CD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24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Pythonic Folding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 Haskell, folding has proved to be a really cool and useful feature of the language, but, what about python?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Follow the lab below to find out more about the pythonic way of folding: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1"/>
              </a:rPr>
              <a:t>https://realpython.com/python-reduce-function/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2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8859F2-52E5-43FA-A977-2167519C93CA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25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Do You Read Books?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Regardless of that, please follow the instructions found at: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./labs/books_lab_01.pdf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28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221110-0F3D-4D9D-A71F-61C404AB2426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26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Any Questions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8419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p>
            <a:pPr indent="0">
              <a:lnSpc>
                <a:spcPct val="115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Don’t forget to fill in the questionnaire shown right!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29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3A4311-E771-4B24-9901-78130027F5C3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0" name="Google Shape;301;p27" descr=""/>
          <p:cNvPicPr/>
          <p:nvPr/>
        </p:nvPicPr>
        <p:blipFill>
          <a:blip r:embed="rId1"/>
          <a:stretch/>
        </p:blipFill>
        <p:spPr>
          <a:xfrm>
            <a:off x="4724280" y="802440"/>
            <a:ext cx="3337560" cy="3337560"/>
          </a:xfrm>
          <a:prstGeom prst="rect">
            <a:avLst/>
          </a:prstGeom>
          <a:ln w="0">
            <a:noFill/>
          </a:ln>
        </p:spPr>
      </p:pic>
      <p:sp>
        <p:nvSpPr>
          <p:cNvPr id="211" name="Google Shape;302;p27"/>
          <p:cNvSpPr/>
          <p:nvPr/>
        </p:nvSpPr>
        <p:spPr>
          <a:xfrm>
            <a:off x="4724280" y="4105080"/>
            <a:ext cx="358452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l" sz="1300" spc="-1" strike="noStrike" u="sng">
                <a:solidFill>
                  <a:schemeClr val="hlink"/>
                </a:solidFill>
                <a:uFillTx/>
                <a:latin typeface="Consolas"/>
                <a:ea typeface="Consolas"/>
                <a:hlinkClick r:id="rId2"/>
              </a:rPr>
              <a:t>https://forms.gle/YU1mjxjBjBf8hyvH7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2026-02-02T12:25:30Z</dcterms:modified>
  <cp:revision>2</cp:revision>
  <dc:subject/>
  <dc:title/>
</cp:coreProperties>
</file>