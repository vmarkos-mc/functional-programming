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dc40aa0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dc40aa0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dc40aa0e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dc40aa0e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dc40aa0e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dc40aa0e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b67d0fa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b67d0fa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ba3d5a70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2ba3d5a70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ba762bc9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ba762bc9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ba762bc9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ba762bc9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ba762bc9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ba762bc9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ba762bc96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ba762bc96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b9e8f508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1b9e8f508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2dc40aa0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2dc40aa0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d407ffd0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d407ffd0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Font typeface="Lato"/>
              <a:buNone/>
              <a:defRPr sz="4200">
                <a:latin typeface="Lato"/>
                <a:ea typeface="Lato"/>
                <a:cs typeface="Lato"/>
                <a:sym typeface="Lato"/>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6" name="Google Shape;16;p2"/>
          <p:cNvSpPr txBox="1"/>
          <p:nvPr>
            <p:ph idx="1" type="subTitle"/>
          </p:nvPr>
        </p:nvSpPr>
        <p:spPr>
          <a:xfrm>
            <a:off x="729625" y="3172900"/>
            <a:ext cx="7688100" cy="738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 name="Google Shape;17;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18" name="Google Shape;18;p2"/>
          <p:cNvSpPr txBox="1"/>
          <p:nvPr/>
        </p:nvSpPr>
        <p:spPr>
          <a:xfrm>
            <a:off x="6590950" y="3866975"/>
            <a:ext cx="19455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9" name="Google Shape;19;p2"/>
          <p:cNvSpPr txBox="1"/>
          <p:nvPr>
            <p:ph idx="2" type="subTitle"/>
          </p:nvPr>
        </p:nvSpPr>
        <p:spPr>
          <a:xfrm>
            <a:off x="6057025" y="3821800"/>
            <a:ext cx="2360700" cy="11217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extLst>
    <p:ext uri="{DCECCB84-F9BA-43D5-87BE-67443E8EF086}">
      <p15:sldGuideLst>
        <p15:guide id="1" orient="horz" pos="750">
          <p15:clr>
            <a:srgbClr val="E46962"/>
          </p15:clr>
        </p15:guide>
        <p15:guide id="2" pos="530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0" name="Shape 20"/>
        <p:cNvGrpSpPr/>
        <p:nvPr/>
      </p:nvGrpSpPr>
      <p:grpSpPr>
        <a:xfrm>
          <a:off x="0" y="0"/>
          <a:ext cx="0" cy="0"/>
          <a:chOff x="0" y="0"/>
          <a:chExt cx="0" cy="0"/>
        </a:xfrm>
      </p:grpSpPr>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5" name="Google Shape;25;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grpSp>
        <p:nvGrpSpPr>
          <p:cNvPr id="28" name="Google Shape;28;p4"/>
          <p:cNvGrpSpPr/>
          <p:nvPr/>
        </p:nvGrpSpPr>
        <p:grpSpPr>
          <a:xfrm>
            <a:off x="830392" y="1191256"/>
            <a:ext cx="745763" cy="45826"/>
            <a:chOff x="4580561" y="2589004"/>
            <a:chExt cx="1064464" cy="25200"/>
          </a:xfrm>
        </p:grpSpPr>
        <p:sp>
          <p:nvSpPr>
            <p:cNvPr id="29" name="Google Shape;29;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4"/>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2" name="Google Shape;32;p4"/>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 name="Google Shape;33;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Εκτός ύλης">
  <p:cSld name="TITLE_AND_BODY_1">
    <p:bg>
      <p:bgPr>
        <a:solidFill>
          <a:schemeClr val="lt2"/>
        </a:solidFill>
      </p:bgPr>
    </p:bg>
    <p:spTree>
      <p:nvGrpSpPr>
        <p:cNvPr id="34" name="Shape 34"/>
        <p:cNvGrpSpPr/>
        <p:nvPr/>
      </p:nvGrpSpPr>
      <p:grpSpPr>
        <a:xfrm>
          <a:off x="0" y="0"/>
          <a:ext cx="0" cy="0"/>
          <a:chOff x="0" y="0"/>
          <a:chExt cx="0" cy="0"/>
        </a:xfrm>
      </p:grpSpPr>
      <p:sp>
        <p:nvSpPr>
          <p:cNvPr id="35" name="Google Shape;35;p5"/>
          <p:cNvSpPr/>
          <p:nvPr/>
        </p:nvSpPr>
        <p:spPr>
          <a:xfrm>
            <a:off x="0" y="0"/>
            <a:ext cx="9144000" cy="4878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Not relevant for the assessment of the module!</a:t>
            </a:r>
            <a:endParaRPr b="1">
              <a:solidFill>
                <a:schemeClr val="lt1"/>
              </a:solidFill>
            </a:endParaRPr>
          </a:p>
        </p:txBody>
      </p:sp>
      <p:grpSp>
        <p:nvGrpSpPr>
          <p:cNvPr id="36" name="Google Shape;36;p5"/>
          <p:cNvGrpSpPr/>
          <p:nvPr/>
        </p:nvGrpSpPr>
        <p:grpSpPr>
          <a:xfrm>
            <a:off x="830392" y="1191256"/>
            <a:ext cx="745763" cy="45826"/>
            <a:chOff x="4580561" y="2589004"/>
            <a:chExt cx="1064464" cy="25200"/>
          </a:xfrm>
        </p:grpSpPr>
        <p:sp>
          <p:nvSpPr>
            <p:cNvPr id="37" name="Google Shape;37;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5"/>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0" name="Google Shape;40;p5"/>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41" name="Google Shape;41;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p:cSld name="TITLE_AND_BODY_1_1">
    <p:bg>
      <p:bgPr>
        <a:solidFill>
          <a:schemeClr val="lt2"/>
        </a:solidFill>
      </p:bgPr>
    </p:bg>
    <p:spTree>
      <p:nvGrpSpPr>
        <p:cNvPr id="42" name="Shape 42"/>
        <p:cNvGrpSpPr/>
        <p:nvPr/>
      </p:nvGrpSpPr>
      <p:grpSpPr>
        <a:xfrm>
          <a:off x="0" y="0"/>
          <a:ext cx="0" cy="0"/>
          <a:chOff x="0" y="0"/>
          <a:chExt cx="0" cy="0"/>
        </a:xfrm>
      </p:grpSpPr>
      <p:sp>
        <p:nvSpPr>
          <p:cNvPr id="43" name="Google Shape;43;p6"/>
          <p:cNvSpPr/>
          <p:nvPr/>
        </p:nvSpPr>
        <p:spPr>
          <a:xfrm>
            <a:off x="0" y="0"/>
            <a:ext cx="9144000" cy="48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Heads up!</a:t>
            </a:r>
            <a:endParaRPr b="1">
              <a:solidFill>
                <a:schemeClr val="lt1"/>
              </a:solidFill>
            </a:endParaRPr>
          </a:p>
        </p:txBody>
      </p:sp>
      <p:grpSp>
        <p:nvGrpSpPr>
          <p:cNvPr id="44" name="Google Shape;44;p6"/>
          <p:cNvGrpSpPr/>
          <p:nvPr/>
        </p:nvGrpSpPr>
        <p:grpSpPr>
          <a:xfrm>
            <a:off x="830392" y="1191256"/>
            <a:ext cx="745763" cy="45826"/>
            <a:chOff x="4580561" y="2589004"/>
            <a:chExt cx="1064464" cy="25200"/>
          </a:xfrm>
        </p:grpSpPr>
        <p:sp>
          <p:nvSpPr>
            <p:cNvPr id="45" name="Google Shape;45;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6"/>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8" name="Google Shape;48;p6"/>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49" name="Google Shape;49;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1">
  <p:cSld name="TITLE_AND_BODY_1_1_1">
    <p:bg>
      <p:bgPr>
        <a:solidFill>
          <a:schemeClr val="lt2"/>
        </a:solidFill>
      </p:bgPr>
    </p:bg>
    <p:spTree>
      <p:nvGrpSpPr>
        <p:cNvPr id="50" name="Shape 50"/>
        <p:cNvGrpSpPr/>
        <p:nvPr/>
      </p:nvGrpSpPr>
      <p:grpSpPr>
        <a:xfrm>
          <a:off x="0" y="0"/>
          <a:ext cx="0" cy="0"/>
          <a:chOff x="0" y="0"/>
          <a:chExt cx="0" cy="0"/>
        </a:xfrm>
      </p:grpSpPr>
      <p:sp>
        <p:nvSpPr>
          <p:cNvPr id="51" name="Google Shape;51;p7"/>
          <p:cNvSpPr/>
          <p:nvPr/>
        </p:nvSpPr>
        <p:spPr>
          <a:xfrm>
            <a:off x="0" y="0"/>
            <a:ext cx="9144000" cy="487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l">
                <a:solidFill>
                  <a:schemeClr val="lt1"/>
                </a:solidFill>
              </a:rPr>
              <a:t>Quick Revision</a:t>
            </a:r>
            <a:endParaRPr b="1">
              <a:solidFill>
                <a:schemeClr val="lt1"/>
              </a:solidFill>
            </a:endParaRPr>
          </a:p>
        </p:txBody>
      </p:sp>
      <p:grpSp>
        <p:nvGrpSpPr>
          <p:cNvPr id="52" name="Google Shape;52;p7"/>
          <p:cNvGrpSpPr/>
          <p:nvPr/>
        </p:nvGrpSpPr>
        <p:grpSpPr>
          <a:xfrm>
            <a:off x="830392" y="1191256"/>
            <a:ext cx="745763" cy="45826"/>
            <a:chOff x="4580561" y="2589004"/>
            <a:chExt cx="1064464" cy="25200"/>
          </a:xfrm>
        </p:grpSpPr>
        <p:sp>
          <p:nvSpPr>
            <p:cNvPr id="53" name="Google Shape;53;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7"/>
          <p:cNvSpPr txBox="1"/>
          <p:nvPr>
            <p:ph type="title"/>
          </p:nvPr>
        </p:nvSpPr>
        <p:spPr>
          <a:xfrm>
            <a:off x="729450" y="571925"/>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Font typeface="Lato"/>
              <a:buNone/>
              <a:defRPr sz="2600">
                <a:latin typeface="Lato"/>
                <a:ea typeface="Lato"/>
                <a:cs typeface="Lato"/>
                <a:sym typeface="Lato"/>
              </a:defRPr>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56" name="Google Shape;56;p7"/>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57" name="Google Shape;57;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8"/>
          <p:cNvGrpSpPr/>
          <p:nvPr/>
        </p:nvGrpSpPr>
        <p:grpSpPr>
          <a:xfrm>
            <a:off x="830392" y="1191256"/>
            <a:ext cx="745763" cy="45826"/>
            <a:chOff x="4580561" y="2589004"/>
            <a:chExt cx="1064464" cy="25200"/>
          </a:xfrm>
        </p:grpSpPr>
        <p:sp>
          <p:nvSpPr>
            <p:cNvPr id="61" name="Google Shape;61;p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8"/>
          <p:cNvSpPr txBox="1"/>
          <p:nvPr>
            <p:ph type="title"/>
          </p:nvPr>
        </p:nvSpPr>
        <p:spPr>
          <a:xfrm>
            <a:off x="727800" y="57192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4" name="Google Shape;64;p8"/>
          <p:cNvSpPr txBox="1"/>
          <p:nvPr>
            <p:ph idx="1" type="body"/>
          </p:nvPr>
        </p:nvSpPr>
        <p:spPr>
          <a:xfrm>
            <a:off x="729325" y="1474150"/>
            <a:ext cx="3774300" cy="286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5" name="Google Shape;65;p8"/>
          <p:cNvSpPr txBox="1"/>
          <p:nvPr>
            <p:ph idx="2" type="body"/>
          </p:nvPr>
        </p:nvSpPr>
        <p:spPr>
          <a:xfrm>
            <a:off x="4643600" y="1474075"/>
            <a:ext cx="3774300" cy="286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6" name="Google Shape;66;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67" name="Google Shape;67;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9"/>
          <p:cNvGrpSpPr/>
          <p:nvPr/>
        </p:nvGrpSpPr>
        <p:grpSpPr>
          <a:xfrm>
            <a:off x="830392" y="1191256"/>
            <a:ext cx="745763" cy="45826"/>
            <a:chOff x="4580561" y="2589004"/>
            <a:chExt cx="1064464" cy="25200"/>
          </a:xfrm>
        </p:grpSpPr>
        <p:sp>
          <p:nvSpPr>
            <p:cNvPr id="71" name="Google Shape;71;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9"/>
          <p:cNvSpPr txBox="1"/>
          <p:nvPr>
            <p:ph type="title"/>
          </p:nvPr>
        </p:nvSpPr>
        <p:spPr>
          <a:xfrm>
            <a:off x="727800" y="57192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4" name="Google Shape;74;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75" name="Google Shape;75;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0"/>
          <p:cNvGrpSpPr/>
          <p:nvPr/>
        </p:nvGrpSpPr>
        <p:grpSpPr>
          <a:xfrm>
            <a:off x="830392" y="1191256"/>
            <a:ext cx="745763" cy="45826"/>
            <a:chOff x="4580561" y="2589004"/>
            <a:chExt cx="1064464" cy="25200"/>
          </a:xfrm>
        </p:grpSpPr>
        <p:sp>
          <p:nvSpPr>
            <p:cNvPr id="79" name="Google Shape;79;p1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0"/>
          <p:cNvSpPr txBox="1"/>
          <p:nvPr>
            <p:ph type="title"/>
          </p:nvPr>
        </p:nvSpPr>
        <p:spPr>
          <a:xfrm>
            <a:off x="721225" y="523413"/>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2" name="Google Shape;82;p10"/>
          <p:cNvSpPr txBox="1"/>
          <p:nvPr>
            <p:ph idx="1" type="body"/>
          </p:nvPr>
        </p:nvSpPr>
        <p:spPr>
          <a:xfrm>
            <a:off x="721225" y="1452775"/>
            <a:ext cx="3300900" cy="2926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3" name="Google Shape;83;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
        <p:nvSpPr>
          <p:cNvPr id="84" name="Google Shape;84;p1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solidFill>
                <a:srgbClr val="CCCCCC"/>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5" name="Shape 85"/>
        <p:cNvGrpSpPr/>
        <p:nvPr/>
      </p:nvGrpSpPr>
      <p:grpSpPr>
        <a:xfrm>
          <a:off x="0" y="0"/>
          <a:ext cx="0" cy="0"/>
          <a:chOff x="0" y="0"/>
          <a:chExt cx="0" cy="0"/>
        </a:xfrm>
      </p:grpSpPr>
      <p:grpSp>
        <p:nvGrpSpPr>
          <p:cNvPr id="86" name="Google Shape;86;p11"/>
          <p:cNvGrpSpPr/>
          <p:nvPr/>
        </p:nvGrpSpPr>
        <p:grpSpPr>
          <a:xfrm>
            <a:off x="830392" y="4169130"/>
            <a:ext cx="745763" cy="45826"/>
            <a:chOff x="4580561" y="2589004"/>
            <a:chExt cx="1064464" cy="25200"/>
          </a:xfrm>
        </p:grpSpPr>
        <p:sp>
          <p:nvSpPr>
            <p:cNvPr id="87" name="Google Shape;87;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11"/>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0" name="Google Shape;90;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sp>
        <p:nvSpPr>
          <p:cNvPr id="92" name="Google Shape;92;p12"/>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 name="Google Shape;93;p12"/>
          <p:cNvGrpSpPr/>
          <p:nvPr/>
        </p:nvGrpSpPr>
        <p:grpSpPr>
          <a:xfrm>
            <a:off x="830392" y="1191256"/>
            <a:ext cx="745763" cy="45826"/>
            <a:chOff x="4580561" y="2589004"/>
            <a:chExt cx="1064464" cy="25200"/>
          </a:xfrm>
        </p:grpSpPr>
        <p:sp>
          <p:nvSpPr>
            <p:cNvPr id="94" name="Google Shape;94;p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12"/>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Font typeface="Lato"/>
              <a:buNone/>
              <a:defRPr sz="2600">
                <a:latin typeface="Lato"/>
                <a:ea typeface="Lato"/>
                <a:cs typeface="Lato"/>
                <a:sym typeface="Lato"/>
              </a:defRPr>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7" name="Google Shape;97;p12"/>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8" name="Google Shape;98;p12"/>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13"/>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2" name="Google Shape;102;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03" name="Shape 103"/>
        <p:cNvGrpSpPr/>
        <p:nvPr/>
      </p:nvGrpSpPr>
      <p:grpSpPr>
        <a:xfrm>
          <a:off x="0" y="0"/>
          <a:ext cx="0" cy="0"/>
          <a:chOff x="0" y="0"/>
          <a:chExt cx="0" cy="0"/>
        </a:xfrm>
      </p:grpSpPr>
      <p:grpSp>
        <p:nvGrpSpPr>
          <p:cNvPr id="104" name="Google Shape;104;p14"/>
          <p:cNvGrpSpPr/>
          <p:nvPr/>
        </p:nvGrpSpPr>
        <p:grpSpPr>
          <a:xfrm>
            <a:off x="830392" y="4169130"/>
            <a:ext cx="745763" cy="45826"/>
            <a:chOff x="4580561" y="2589004"/>
            <a:chExt cx="1064464" cy="25200"/>
          </a:xfrm>
        </p:grpSpPr>
        <p:sp>
          <p:nvSpPr>
            <p:cNvPr id="105" name="Google Shape;105;p1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Font typeface="Lato"/>
              <a:buNone/>
              <a:defRPr sz="8000">
                <a:solidFill>
                  <a:schemeClr val="lt1"/>
                </a:solidFill>
                <a:latin typeface="Lato"/>
                <a:ea typeface="Lato"/>
                <a:cs typeface="Lato"/>
                <a:sym typeface="Lato"/>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08" name="Google Shape;108;p14"/>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09" name="Google Shape;109;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9" name="Google Shape;9;p1"/>
          <p:cNvSpPr txBox="1"/>
          <p:nvPr>
            <p:ph idx="2" type="title"/>
          </p:nvPr>
        </p:nvSpPr>
        <p:spPr>
          <a:xfrm>
            <a:off x="157325" y="41050"/>
            <a:ext cx="8927700" cy="393600"/>
          </a:xfrm>
          <a:prstGeom prst="rect">
            <a:avLst/>
          </a:prstGeom>
          <a:noFill/>
          <a:ln>
            <a:noFill/>
          </a:ln>
        </p:spPr>
        <p:txBody>
          <a:bodyPr anchorCtr="0" anchor="t" bIns="91425" lIns="91425" spcFirstLastPara="1" rIns="91425" wrap="square" tIns="91425">
            <a:noAutofit/>
          </a:bodyPr>
          <a:lstStyle>
            <a:lvl1pPr lvl="0" rtl="0" algn="r">
              <a:spcBef>
                <a:spcPts val="0"/>
              </a:spcBef>
              <a:spcAft>
                <a:spcPts val="0"/>
              </a:spcAft>
              <a:buClr>
                <a:srgbClr val="CCCCCC"/>
              </a:buClr>
              <a:buSzPts val="1000"/>
              <a:buFont typeface="Lato"/>
              <a:buNone/>
              <a:defRPr b="0" sz="1000">
                <a:solidFill>
                  <a:srgbClr val="CCCCCC"/>
                </a:solidFill>
                <a:latin typeface="Lato"/>
                <a:ea typeface="Lato"/>
                <a:cs typeface="Lato"/>
                <a:sym typeface="La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adit.io/posts/2013-04-17-functors,_applicatives,_and_monads_in_picture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www.youtube.com/watch?v=uaBY1qBI2wY" TargetMode="Externa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Countdown_(game_show)"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forms.gle/YU1mjxjBjBf8hyvH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Functional Programming</a:t>
            </a:r>
            <a:br>
              <a:rPr lang="el"/>
            </a:br>
            <a:r>
              <a:rPr b="0" lang="el" sz="2200">
                <a:solidFill>
                  <a:schemeClr val="accent1"/>
                </a:solidFill>
              </a:rPr>
              <a:t>putStrLn</a:t>
            </a:r>
            <a:r>
              <a:rPr b="0" lang="el" sz="2200">
                <a:solidFill>
                  <a:schemeClr val="accent1"/>
                </a:solidFill>
              </a:rPr>
              <a:t> “Haskell is Fun!”</a:t>
            </a:r>
            <a:endParaRPr b="0" sz="2200">
              <a:solidFill>
                <a:schemeClr val="accent1"/>
              </a:solidFill>
            </a:endParaRPr>
          </a:p>
        </p:txBody>
      </p:sp>
      <p:sp>
        <p:nvSpPr>
          <p:cNvPr id="117" name="Google Shape;117;p16"/>
          <p:cNvSpPr txBox="1"/>
          <p:nvPr>
            <p:ph idx="1" type="subTitle"/>
          </p:nvPr>
        </p:nvSpPr>
        <p:spPr>
          <a:xfrm>
            <a:off x="729625" y="3172900"/>
            <a:ext cx="7688100" cy="7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Markos Vassilis, Mediterranean College, 2024 - 2025, Spring</a:t>
            </a:r>
            <a:endParaRPr/>
          </a:p>
        </p:txBody>
      </p:sp>
      <p:sp>
        <p:nvSpPr>
          <p:cNvPr id="118" name="Google Shape;118;p16"/>
          <p:cNvSpPr txBox="1"/>
          <p:nvPr/>
        </p:nvSpPr>
        <p:spPr>
          <a:xfrm>
            <a:off x="6029600" y="4001275"/>
            <a:ext cx="2388000" cy="616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t/>
            </a:r>
            <a:endParaRPr>
              <a:solidFill>
                <a:schemeClr val="accent1"/>
              </a:solidFill>
              <a:latin typeface="Lato"/>
              <a:ea typeface="Lato"/>
              <a:cs typeface="Lato"/>
              <a:sym typeface="Lato"/>
            </a:endParaRPr>
          </a:p>
        </p:txBody>
      </p:sp>
      <p:sp>
        <p:nvSpPr>
          <p:cNvPr id="119" name="Google Shape;119;p16"/>
          <p:cNvSpPr txBox="1"/>
          <p:nvPr>
            <p:ph idx="2" type="subTitle"/>
          </p:nvPr>
        </p:nvSpPr>
        <p:spPr>
          <a:xfrm>
            <a:off x="6057025" y="3821800"/>
            <a:ext cx="2360700" cy="11217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lang="el"/>
              <a:t>Week 14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No Side Effects?</a:t>
            </a:r>
            <a:endParaRPr/>
          </a:p>
        </p:txBody>
      </p:sp>
      <p:sp>
        <p:nvSpPr>
          <p:cNvPr id="125" name="Google Shape;125;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Haskell Supports I/O?</a:t>
            </a:r>
            <a:endParaRPr/>
          </a:p>
        </p:txBody>
      </p:sp>
      <p:sp>
        <p:nvSpPr>
          <p:cNvPr id="131" name="Google Shape;131;p18"/>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(A) We have said that Haskell implements Functional Programming (FP).</a:t>
            </a:r>
            <a:endParaRPr/>
          </a:p>
          <a:p>
            <a:pPr indent="-330200" lvl="0" marL="457200" rtl="0" algn="l">
              <a:spcBef>
                <a:spcPts val="0"/>
              </a:spcBef>
              <a:spcAft>
                <a:spcPts val="0"/>
              </a:spcAft>
              <a:buSzPts val="1600"/>
              <a:buChar char="●"/>
            </a:pPr>
            <a:r>
              <a:rPr lang="el"/>
              <a:t>(B) We have also said that in FP functions have no side–effects, i.e., they just have some input and return some output without modifying anything in the universe or acting in any other way.</a:t>
            </a:r>
            <a:endParaRPr/>
          </a:p>
          <a:p>
            <a:pPr indent="-330200" lvl="0" marL="457200" rtl="0" algn="l">
              <a:spcBef>
                <a:spcPts val="0"/>
              </a:spcBef>
              <a:spcAft>
                <a:spcPts val="0"/>
              </a:spcAft>
              <a:buSzPts val="1600"/>
              <a:buChar char="●"/>
            </a:pPr>
            <a:r>
              <a:rPr lang="el"/>
              <a:t>(C)Printing on screen while executing a function is a side effect.</a:t>
            </a:r>
            <a:endParaRPr/>
          </a:p>
          <a:p>
            <a:pPr indent="-330200" lvl="0" marL="457200" rtl="0" algn="l">
              <a:spcBef>
                <a:spcPts val="0"/>
              </a:spcBef>
              <a:spcAft>
                <a:spcPts val="0"/>
              </a:spcAft>
              <a:buSzPts val="1600"/>
              <a:buChar char="●"/>
            </a:pPr>
            <a:r>
              <a:rPr lang="el"/>
              <a:t>So, how can (A), (B), and © be true at the same time?</a:t>
            </a:r>
            <a:endParaRPr/>
          </a:p>
          <a:p>
            <a:pPr indent="-330200" lvl="0" marL="457200" rtl="0" algn="l">
              <a:spcBef>
                <a:spcPts val="0"/>
              </a:spcBef>
              <a:spcAft>
                <a:spcPts val="0"/>
              </a:spcAft>
              <a:buSzPts val="1600"/>
              <a:buChar char="●"/>
            </a:pPr>
            <a:r>
              <a:rPr lang="el"/>
              <a:t>Some options:</a:t>
            </a:r>
            <a:endParaRPr/>
          </a:p>
          <a:p>
            <a:pPr indent="-330200" lvl="1" marL="914400" rtl="0" algn="l">
              <a:spcBef>
                <a:spcPts val="0"/>
              </a:spcBef>
              <a:spcAft>
                <a:spcPts val="0"/>
              </a:spcAft>
              <a:buSzPts val="1600"/>
              <a:buChar char="○"/>
            </a:pPr>
            <a:r>
              <a:rPr lang="el"/>
              <a:t>Haskell is magic.</a:t>
            </a:r>
            <a:endParaRPr/>
          </a:p>
          <a:p>
            <a:pPr indent="-330200" lvl="1" marL="914400" rtl="0" algn="l">
              <a:spcBef>
                <a:spcPts val="0"/>
              </a:spcBef>
              <a:spcAft>
                <a:spcPts val="0"/>
              </a:spcAft>
              <a:buSzPts val="1600"/>
              <a:buChar char="○"/>
            </a:pPr>
            <a:r>
              <a:rPr lang="el"/>
              <a:t>Not all three hold true at the same time.</a:t>
            </a:r>
            <a:endParaRPr/>
          </a:p>
          <a:p>
            <a:pPr indent="-330200" lvl="1" marL="914400" rtl="0" algn="l">
              <a:spcBef>
                <a:spcPts val="0"/>
              </a:spcBef>
              <a:spcAft>
                <a:spcPts val="0"/>
              </a:spcAft>
              <a:buSzPts val="1600"/>
              <a:buChar char="○"/>
            </a:pPr>
            <a:r>
              <a:rPr lang="el"/>
              <a:t>All three hold true and there is something we have to explain…</a:t>
            </a:r>
            <a:endParaRPr/>
          </a:p>
        </p:txBody>
      </p:sp>
      <p:sp>
        <p:nvSpPr>
          <p:cNvPr id="132" name="Google Shape;132;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Haskell + IO ()</a:t>
            </a:r>
            <a:endParaRPr/>
          </a:p>
        </p:txBody>
      </p:sp>
      <p:sp>
        <p:nvSpPr>
          <p:cNvPr id="138" name="Google Shape;138;p19"/>
          <p:cNvSpPr txBox="1"/>
          <p:nvPr>
            <p:ph idx="1" type="body"/>
          </p:nvPr>
        </p:nvSpPr>
        <p:spPr>
          <a:xfrm>
            <a:off x="729450" y="1378000"/>
            <a:ext cx="7688700" cy="3694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Haskell has its own way to deal with impurity, i.e., things that might not provide the same output on the same input:</a:t>
            </a:r>
            <a:endParaRPr/>
          </a:p>
          <a:p>
            <a:pPr indent="-330200" lvl="1" marL="914400" rtl="0" algn="l">
              <a:spcBef>
                <a:spcPts val="0"/>
              </a:spcBef>
              <a:spcAft>
                <a:spcPts val="0"/>
              </a:spcAft>
              <a:buSzPts val="1600"/>
              <a:buChar char="○"/>
            </a:pPr>
            <a:r>
              <a:rPr lang="el"/>
              <a:t>I/O</a:t>
            </a:r>
            <a:endParaRPr/>
          </a:p>
          <a:p>
            <a:pPr indent="-330200" lvl="1" marL="914400" rtl="0" algn="l">
              <a:spcBef>
                <a:spcPts val="0"/>
              </a:spcBef>
              <a:spcAft>
                <a:spcPts val="0"/>
              </a:spcAft>
              <a:buSzPts val="1600"/>
              <a:buChar char="○"/>
            </a:pPr>
            <a:r>
              <a:rPr lang="el"/>
              <a:t>Randomness</a:t>
            </a:r>
            <a:endParaRPr/>
          </a:p>
          <a:p>
            <a:pPr indent="-330200" lvl="0" marL="457200" rtl="0" algn="l">
              <a:spcBef>
                <a:spcPts val="0"/>
              </a:spcBef>
              <a:spcAft>
                <a:spcPts val="0"/>
              </a:spcAft>
              <a:buSzPts val="1600"/>
              <a:buChar char="●"/>
            </a:pPr>
            <a:r>
              <a:rPr lang="el"/>
              <a:t>If it happens that you have a PhD in Category Theory, then you are well aware of Monads.</a:t>
            </a:r>
            <a:endParaRPr/>
          </a:p>
          <a:p>
            <a:pPr indent="-330200" lvl="0" marL="457200" rtl="0" algn="l">
              <a:spcBef>
                <a:spcPts val="0"/>
              </a:spcBef>
              <a:spcAft>
                <a:spcPts val="0"/>
              </a:spcAft>
              <a:buSzPts val="1600"/>
              <a:buChar char="●"/>
            </a:pPr>
            <a:r>
              <a:rPr lang="el"/>
              <a:t>In case you are not, Monads are roughly like “close worlds” in which you can apply functions that return values in this closed world onto stuff that does also belongs to that world.</a:t>
            </a:r>
            <a:endParaRPr/>
          </a:p>
          <a:p>
            <a:pPr indent="-330200" lvl="0" marL="457200" rtl="0" algn="l">
              <a:spcBef>
                <a:spcPts val="0"/>
              </a:spcBef>
              <a:spcAft>
                <a:spcPts val="0"/>
              </a:spcAft>
              <a:buSzPts val="1600"/>
              <a:buChar char="●"/>
            </a:pPr>
            <a:r>
              <a:rPr lang="el"/>
              <a:t>For more: </a:t>
            </a:r>
            <a:r>
              <a:rPr lang="el" u="sng">
                <a:solidFill>
                  <a:schemeClr val="hlink"/>
                </a:solidFill>
                <a:hlinkClick r:id="rId3"/>
              </a:rPr>
              <a:t>https://www.adit.io/posts/2013-04-17-functors,_applicatives,_and_monads_in_pictures.html</a:t>
            </a:r>
            <a:endParaRPr/>
          </a:p>
        </p:txBody>
      </p:sp>
      <p:sp>
        <p:nvSpPr>
          <p:cNvPr id="139" name="Google Shape;13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Countdown</a:t>
            </a:r>
            <a:endParaRPr/>
          </a:p>
        </p:txBody>
      </p:sp>
      <p:sp>
        <p:nvSpPr>
          <p:cNvPr id="145" name="Google Shape;145;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Let Us Watch Some TV Shows First…</a:t>
            </a:r>
            <a:endParaRPr/>
          </a:p>
        </p:txBody>
      </p:sp>
      <p:sp>
        <p:nvSpPr>
          <p:cNvPr id="151" name="Google Shape;151;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descr="The clock is ticking as contestants compete in games of lexical dexterity and numerical agility. Each day two contestants compete in 15 rounds of words and numbers to become the Countdown Champion.&#10;&#10;Colin Murray and Rachel Riley host as contestants race against the clock to pit their wits against vowels, consonants and numbers. Stephen K Amos joins Susie Dent in Dictionary Corner.&#10;&#10;Numbers Round List:&#10;00:00 Monday, 23 January 2023&#10;04:32 Tuesday, 24 January 2023&#10;07:56 Wednesday, 25 January 2023&#10;11:16 Thursday, 26 January 2023&#10;14:21 Friday, 27 January 2023&#10;&#10;&#10;SPIN-OFF&#10;&quot;8 Out of 10 Cats Does Countdown&quot; is hosted by Jimmy Carr, with Rachel Riley and Susie Dent assuming their Countdown roles. The formation of the crossover with &quot;8 Out if 10 Cats&quot; began as a series of specials, the first of which was broadcast on 2 January 2012, when Channel 4 orchestrated a special &quot;mash-up night&quot;, merging two shows to form a special edition of the pair, as part of its 30th-anniversary celebrations eleven years ago." id="152" name="Google Shape;152;p21" title="Countdown Game Show - Series 87 Week 1 (2023)">
            <a:hlinkClick r:id="rId3"/>
          </p:cNvPr>
          <p:cNvPicPr preferRelativeResize="0"/>
          <p:nvPr/>
        </p:nvPicPr>
        <p:blipFill>
          <a:blip r:embed="rId4">
            <a:alphaModFix/>
          </a:blip>
          <a:stretch>
            <a:fillRect/>
          </a:stretch>
        </p:blipFill>
        <p:spPr>
          <a:xfrm>
            <a:off x="1694088" y="1454250"/>
            <a:ext cx="5755825" cy="323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Is “The Countdown”?</a:t>
            </a:r>
            <a:endParaRPr/>
          </a:p>
        </p:txBody>
      </p:sp>
      <p:sp>
        <p:nvSpPr>
          <p:cNvPr id="158" name="Google Shape;158;p22"/>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Countdown is a British game show involving word and mathematical tasks.</a:t>
            </a:r>
            <a:endParaRPr/>
          </a:p>
          <a:p>
            <a:pPr indent="-330200" lvl="0" marL="457200" rtl="0" algn="l">
              <a:spcBef>
                <a:spcPts val="0"/>
              </a:spcBef>
              <a:spcAft>
                <a:spcPts val="0"/>
              </a:spcAft>
              <a:buSzPts val="1600"/>
              <a:buChar char="●"/>
            </a:pPr>
            <a:r>
              <a:rPr lang="el"/>
              <a:t>First aired: 1972.</a:t>
            </a:r>
            <a:endParaRPr/>
          </a:p>
          <a:p>
            <a:pPr indent="-330200" lvl="0" marL="457200" rtl="0" algn="l">
              <a:spcBef>
                <a:spcPts val="0"/>
              </a:spcBef>
              <a:spcAft>
                <a:spcPts val="0"/>
              </a:spcAft>
              <a:buSzPts val="1600"/>
              <a:buChar char="●"/>
            </a:pPr>
            <a:r>
              <a:rPr lang="el"/>
              <a:t>90 regular series, 8443 regular episodes.</a:t>
            </a:r>
            <a:endParaRPr/>
          </a:p>
          <a:p>
            <a:pPr indent="-330200" lvl="0" marL="457200" rtl="0" algn="l">
              <a:spcBef>
                <a:spcPts val="0"/>
              </a:spcBef>
              <a:spcAft>
                <a:spcPts val="0"/>
              </a:spcAft>
              <a:buSzPts val="1600"/>
              <a:buChar char="●"/>
            </a:pPr>
            <a:r>
              <a:rPr lang="el"/>
              <a:t>The players contest in three types of tasks:</a:t>
            </a:r>
            <a:endParaRPr/>
          </a:p>
          <a:p>
            <a:pPr indent="-330200" lvl="1" marL="914400" rtl="0" algn="l">
              <a:spcBef>
                <a:spcPts val="0"/>
              </a:spcBef>
              <a:spcAft>
                <a:spcPts val="0"/>
              </a:spcAft>
              <a:buSzPts val="1600"/>
              <a:buChar char="○"/>
            </a:pPr>
            <a:r>
              <a:rPr lang="el"/>
              <a:t>Making the longest possible word from 9 random letters.</a:t>
            </a:r>
            <a:endParaRPr/>
          </a:p>
          <a:p>
            <a:pPr indent="-330200" lvl="1" marL="914400" rtl="0" algn="l">
              <a:spcBef>
                <a:spcPts val="0"/>
              </a:spcBef>
              <a:spcAft>
                <a:spcPts val="0"/>
              </a:spcAft>
              <a:buClr>
                <a:schemeClr val="dk1"/>
              </a:buClr>
              <a:buSzPts val="1600"/>
              <a:buChar char="○"/>
            </a:pPr>
            <a:r>
              <a:rPr i="1" lang="el">
                <a:solidFill>
                  <a:schemeClr val="dk1"/>
                </a:solidFill>
              </a:rPr>
              <a:t>Reaching a target positive integer using 6 random positive integers through arithmetic.</a:t>
            </a:r>
            <a:endParaRPr i="1">
              <a:solidFill>
                <a:schemeClr val="dk1"/>
              </a:solidFill>
            </a:endParaRPr>
          </a:p>
          <a:p>
            <a:pPr indent="-330200" lvl="1" marL="914400" rtl="0" algn="l">
              <a:spcBef>
                <a:spcPts val="0"/>
              </a:spcBef>
              <a:spcAft>
                <a:spcPts val="0"/>
              </a:spcAft>
              <a:buSzPts val="1600"/>
              <a:buChar char="○"/>
            </a:pPr>
            <a:r>
              <a:rPr lang="el"/>
              <a:t>Solving a nine–letter anagram.</a:t>
            </a:r>
            <a:endParaRPr/>
          </a:p>
          <a:p>
            <a:pPr indent="-330200" lvl="0" marL="457200" rtl="0" algn="l">
              <a:spcBef>
                <a:spcPts val="0"/>
              </a:spcBef>
              <a:spcAft>
                <a:spcPts val="0"/>
              </a:spcAft>
              <a:buSzPts val="1600"/>
              <a:buChar char="●"/>
            </a:pPr>
            <a:r>
              <a:rPr lang="el"/>
              <a:t>Source: </a:t>
            </a:r>
            <a:r>
              <a:rPr lang="el" u="sng">
                <a:solidFill>
                  <a:schemeClr val="hlink"/>
                </a:solidFill>
                <a:hlinkClick r:id="rId3"/>
              </a:rPr>
              <a:t>https://en.wikipedia.org/wiki/Countdown_(game_show)</a:t>
            </a:r>
            <a:endParaRPr/>
          </a:p>
        </p:txBody>
      </p:sp>
      <p:sp>
        <p:nvSpPr>
          <p:cNvPr id="159" name="Google Shape;159;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Your Turn!</a:t>
            </a:r>
            <a:endParaRPr/>
          </a:p>
        </p:txBody>
      </p:sp>
      <p:sp>
        <p:nvSpPr>
          <p:cNvPr id="165" name="Google Shape;165;p23"/>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Consider the following six numbers:</a:t>
            </a:r>
            <a:endParaRPr/>
          </a:p>
          <a:p>
            <a:pPr indent="0" lvl="0" marL="457200" rtl="0" algn="ctr">
              <a:spcBef>
                <a:spcPts val="1200"/>
              </a:spcBef>
              <a:spcAft>
                <a:spcPts val="0"/>
              </a:spcAft>
              <a:buNone/>
            </a:pPr>
            <a:r>
              <a:rPr lang="el"/>
              <a:t>1, 3, 7, 10, 25, 50.</a:t>
            </a:r>
            <a:endParaRPr/>
          </a:p>
          <a:p>
            <a:pPr indent="-330200" lvl="0" marL="457200" rtl="0" algn="l">
              <a:spcBef>
                <a:spcPts val="1200"/>
              </a:spcBef>
              <a:spcAft>
                <a:spcPts val="0"/>
              </a:spcAft>
              <a:buSzPts val="1600"/>
              <a:buChar char="●"/>
            </a:pPr>
            <a:r>
              <a:rPr lang="el"/>
              <a:t>Also consider this target number: 765</a:t>
            </a:r>
            <a:endParaRPr/>
          </a:p>
          <a:p>
            <a:pPr indent="-330200" lvl="0" marL="457200" rtl="0" algn="l">
              <a:spcBef>
                <a:spcPts val="0"/>
              </a:spcBef>
              <a:spcAft>
                <a:spcPts val="0"/>
              </a:spcAft>
              <a:buSzPts val="1600"/>
              <a:buChar char="●"/>
            </a:pPr>
            <a:r>
              <a:rPr lang="el"/>
              <a:t>Try to reach this number using the four common arithmetic operations, +, –, *, /, and all of the above six numbers at most once!</a:t>
            </a:r>
            <a:endParaRPr/>
          </a:p>
          <a:p>
            <a:pPr indent="-330200" lvl="0" marL="457200" rtl="0" algn="l">
              <a:spcBef>
                <a:spcPts val="0"/>
              </a:spcBef>
              <a:spcAft>
                <a:spcPts val="0"/>
              </a:spcAft>
              <a:buSzPts val="1600"/>
              <a:buChar char="●"/>
            </a:pPr>
            <a:r>
              <a:rPr lang="el"/>
              <a:t>Optionally, do so in under 30 seconds.</a:t>
            </a:r>
            <a:endParaRPr/>
          </a:p>
          <a:p>
            <a:pPr indent="-330200" lvl="0" marL="457200" rtl="0" algn="l">
              <a:spcBef>
                <a:spcPts val="0"/>
              </a:spcBef>
              <a:spcAft>
                <a:spcPts val="0"/>
              </a:spcAft>
              <a:buSzPts val="1600"/>
              <a:buChar char="●"/>
            </a:pPr>
            <a:r>
              <a:rPr lang="el"/>
              <a:t>How many solutions are there?</a:t>
            </a:r>
            <a:endParaRPr/>
          </a:p>
        </p:txBody>
      </p:sp>
      <p:sp>
        <p:nvSpPr>
          <p:cNvPr id="166" name="Google Shape;16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167" name="Google Shape;167;p23"/>
          <p:cNvSpPr txBox="1"/>
          <p:nvPr/>
        </p:nvSpPr>
        <p:spPr>
          <a:xfrm rot="10800000">
            <a:off x="5561250" y="4070150"/>
            <a:ext cx="2856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l" sz="1600">
                <a:solidFill>
                  <a:schemeClr val="accent1"/>
                </a:solidFill>
                <a:latin typeface="Lato"/>
                <a:ea typeface="Lato"/>
                <a:cs typeface="Lato"/>
                <a:sym typeface="Lato"/>
              </a:rPr>
              <a:t>One solution: (1+50)*(25</a:t>
            </a:r>
            <a:r>
              <a:rPr i="1" lang="el" sz="1600">
                <a:solidFill>
                  <a:schemeClr val="accent1"/>
                </a:solidFill>
                <a:latin typeface="Lato"/>
                <a:ea typeface="Lato"/>
                <a:cs typeface="Lato"/>
                <a:sym typeface="Lato"/>
              </a:rPr>
              <a:t>–</a:t>
            </a:r>
            <a:r>
              <a:rPr i="1" lang="el" sz="1600">
                <a:solidFill>
                  <a:schemeClr val="accent1"/>
                </a:solidFill>
                <a:latin typeface="Lato"/>
                <a:ea typeface="Lato"/>
                <a:cs typeface="Lato"/>
                <a:sym typeface="Lato"/>
              </a:rPr>
              <a:t>10)</a:t>
            </a:r>
            <a:endParaRPr i="1" sz="16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Your Turn!</a:t>
            </a:r>
            <a:endParaRPr/>
          </a:p>
        </p:txBody>
      </p:sp>
      <p:sp>
        <p:nvSpPr>
          <p:cNvPr id="173" name="Google Shape;173;p24"/>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Consider again the following six numbers:</a:t>
            </a:r>
            <a:endParaRPr/>
          </a:p>
          <a:p>
            <a:pPr indent="0" lvl="0" marL="457200" rtl="0" algn="ctr">
              <a:spcBef>
                <a:spcPts val="1200"/>
              </a:spcBef>
              <a:spcAft>
                <a:spcPts val="0"/>
              </a:spcAft>
              <a:buNone/>
            </a:pPr>
            <a:r>
              <a:rPr lang="el"/>
              <a:t>1, 3, 7, 10, 25, 50.</a:t>
            </a:r>
            <a:endParaRPr/>
          </a:p>
          <a:p>
            <a:pPr indent="-330200" lvl="0" marL="457200" rtl="0" algn="l">
              <a:spcBef>
                <a:spcPts val="1200"/>
              </a:spcBef>
              <a:spcAft>
                <a:spcPts val="0"/>
              </a:spcAft>
              <a:buSzPts val="1600"/>
              <a:buChar char="●"/>
            </a:pPr>
            <a:r>
              <a:rPr lang="el"/>
              <a:t>Also consider this target number: 831</a:t>
            </a:r>
            <a:endParaRPr/>
          </a:p>
          <a:p>
            <a:pPr indent="-330200" lvl="0" marL="457200" rtl="0" algn="l">
              <a:spcBef>
                <a:spcPts val="0"/>
              </a:spcBef>
              <a:spcAft>
                <a:spcPts val="0"/>
              </a:spcAft>
              <a:buSzPts val="1600"/>
              <a:buChar char="●"/>
            </a:pPr>
            <a:r>
              <a:rPr lang="el"/>
              <a:t>Try to reach this number using the four common arithmetic operations, +, –, *, /, and all of the above six numbers at most once!</a:t>
            </a:r>
            <a:endParaRPr/>
          </a:p>
          <a:p>
            <a:pPr indent="-330200" lvl="0" marL="457200" rtl="0" algn="l">
              <a:spcBef>
                <a:spcPts val="0"/>
              </a:spcBef>
              <a:spcAft>
                <a:spcPts val="0"/>
              </a:spcAft>
              <a:buSzPts val="1600"/>
              <a:buChar char="●"/>
            </a:pPr>
            <a:r>
              <a:rPr lang="el"/>
              <a:t>Optionally, do so in under 30 seconds.</a:t>
            </a:r>
            <a:endParaRPr/>
          </a:p>
          <a:p>
            <a:pPr indent="-330200" lvl="0" marL="457200" rtl="0" algn="l">
              <a:spcBef>
                <a:spcPts val="0"/>
              </a:spcBef>
              <a:spcAft>
                <a:spcPts val="0"/>
              </a:spcAft>
              <a:buSzPts val="1600"/>
              <a:buChar char="●"/>
            </a:pPr>
            <a:r>
              <a:rPr lang="el"/>
              <a:t>How many solutions are there?</a:t>
            </a:r>
            <a:endParaRPr/>
          </a:p>
        </p:txBody>
      </p:sp>
      <p:sp>
        <p:nvSpPr>
          <p:cNvPr id="174" name="Google Shape;174;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175" name="Google Shape;175;p24"/>
          <p:cNvSpPr txBox="1"/>
          <p:nvPr/>
        </p:nvSpPr>
        <p:spPr>
          <a:xfrm rot="10800000">
            <a:off x="5561250" y="4070150"/>
            <a:ext cx="2856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l" sz="1600">
                <a:solidFill>
                  <a:schemeClr val="accent1"/>
                </a:solidFill>
                <a:latin typeface="Lato"/>
                <a:ea typeface="Lato"/>
                <a:cs typeface="Lato"/>
                <a:sym typeface="Lato"/>
              </a:rPr>
              <a:t>There is no solution in this case</a:t>
            </a:r>
            <a:endParaRPr i="1" sz="16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Solve This Problem?</a:t>
            </a:r>
            <a:endParaRPr/>
          </a:p>
        </p:txBody>
      </p:sp>
      <p:sp>
        <p:nvSpPr>
          <p:cNvPr id="181" name="Google Shape;181;p25"/>
          <p:cNvSpPr txBox="1"/>
          <p:nvPr>
            <p:ph idx="1" type="body"/>
          </p:nvPr>
        </p:nvSpPr>
        <p:spPr>
          <a:xfrm>
            <a:off x="729450" y="1378000"/>
            <a:ext cx="7688700" cy="3638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l"/>
              <a:t>While in the actual TV show people solve this problem using their bare brain capacity, we can take advantage of our PCs and programming, in particular…</a:t>
            </a:r>
            <a:endParaRPr/>
          </a:p>
          <a:p>
            <a:pPr indent="-330200" lvl="1" marL="914400" rtl="0" algn="l">
              <a:spcBef>
                <a:spcPts val="0"/>
              </a:spcBef>
              <a:spcAft>
                <a:spcPts val="0"/>
              </a:spcAft>
              <a:buSzPts val="1600"/>
              <a:buChar char="○"/>
            </a:pPr>
            <a:r>
              <a:rPr lang="el"/>
              <a:t>Sounds like cheating? Well, it is, but we are computer scientists, not TV show participants!</a:t>
            </a:r>
            <a:endParaRPr/>
          </a:p>
          <a:p>
            <a:pPr indent="-330200" lvl="0" marL="457200" rtl="0" algn="l">
              <a:spcBef>
                <a:spcPts val="0"/>
              </a:spcBef>
              <a:spcAft>
                <a:spcPts val="0"/>
              </a:spcAft>
              <a:buSzPts val="1600"/>
              <a:buChar char="●"/>
            </a:pPr>
            <a:r>
              <a:rPr lang="el"/>
              <a:t>So, how would you approach this problem?</a:t>
            </a:r>
            <a:endParaRPr/>
          </a:p>
          <a:p>
            <a:pPr indent="-330200" lvl="0" marL="457200" rtl="0" algn="l">
              <a:spcBef>
                <a:spcPts val="0"/>
              </a:spcBef>
              <a:spcAft>
                <a:spcPts val="0"/>
              </a:spcAft>
              <a:buSzPts val="1600"/>
              <a:buChar char="●"/>
            </a:pPr>
            <a:r>
              <a:rPr lang="el"/>
              <a:t>Take some time to think of it:</a:t>
            </a:r>
            <a:endParaRPr/>
          </a:p>
          <a:p>
            <a:pPr indent="-330200" lvl="1" marL="914400" rtl="0" algn="l">
              <a:spcBef>
                <a:spcPts val="0"/>
              </a:spcBef>
              <a:spcAft>
                <a:spcPts val="0"/>
              </a:spcAft>
              <a:buSzPts val="1600"/>
              <a:buChar char="○"/>
            </a:pPr>
            <a:r>
              <a:rPr lang="el"/>
              <a:t>Take some notes of your thoughts?</a:t>
            </a:r>
            <a:endParaRPr/>
          </a:p>
          <a:p>
            <a:pPr indent="-330200" lvl="1" marL="914400" rtl="0" algn="l">
              <a:spcBef>
                <a:spcPts val="0"/>
              </a:spcBef>
              <a:spcAft>
                <a:spcPts val="0"/>
              </a:spcAft>
              <a:buSzPts val="1600"/>
              <a:buChar char="○"/>
            </a:pPr>
            <a:r>
              <a:rPr lang="el"/>
              <a:t>Write down your idea in pseudocode?</a:t>
            </a:r>
            <a:endParaRPr/>
          </a:p>
          <a:p>
            <a:pPr indent="-330200" lvl="1" marL="914400" rtl="0" algn="l">
              <a:spcBef>
                <a:spcPts val="0"/>
              </a:spcBef>
              <a:spcAft>
                <a:spcPts val="0"/>
              </a:spcAft>
              <a:buSzPts val="1600"/>
              <a:buChar char="○"/>
            </a:pPr>
            <a:r>
              <a:rPr lang="el"/>
              <a:t>Write a draft Haskell script?</a:t>
            </a:r>
            <a:endParaRPr/>
          </a:p>
          <a:p>
            <a:pPr indent="-330200" lvl="1" marL="914400" rtl="0" algn="l">
              <a:spcBef>
                <a:spcPts val="0"/>
              </a:spcBef>
              <a:spcAft>
                <a:spcPts val="0"/>
              </a:spcAft>
              <a:buSzPts val="1600"/>
              <a:buChar char="○"/>
            </a:pPr>
            <a:r>
              <a:rPr lang="el"/>
              <a:t>Write a short paper on “The Countdown”?</a:t>
            </a:r>
            <a:endParaRPr/>
          </a:p>
          <a:p>
            <a:pPr indent="-330200" lvl="1" marL="914400" rtl="0" algn="l">
              <a:spcBef>
                <a:spcPts val="0"/>
              </a:spcBef>
              <a:spcAft>
                <a:spcPts val="0"/>
              </a:spcAft>
              <a:buSzPts val="1600"/>
              <a:buChar char="○"/>
            </a:pPr>
            <a:r>
              <a:rPr lang="el"/>
              <a:t>With Functional Programming, the sky's the limit!</a:t>
            </a:r>
            <a:endParaRPr/>
          </a:p>
        </p:txBody>
      </p:sp>
      <p:sp>
        <p:nvSpPr>
          <p:cNvPr id="182" name="Google Shape;182;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Fun Time!</a:t>
            </a:r>
            <a:endParaRPr/>
          </a:p>
        </p:txBody>
      </p:sp>
      <p:sp>
        <p:nvSpPr>
          <p:cNvPr id="188" name="Google Shape;188;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Countdown Problem</a:t>
            </a:r>
            <a:endParaRPr/>
          </a:p>
        </p:txBody>
      </p:sp>
      <p:sp>
        <p:nvSpPr>
          <p:cNvPr id="194" name="Google Shape;194;p27"/>
          <p:cNvSpPr txBox="1"/>
          <p:nvPr>
            <p:ph idx="1" type="body"/>
          </p:nvPr>
        </p:nvSpPr>
        <p:spPr>
          <a:xfrm>
            <a:off x="729450" y="1378000"/>
            <a:ext cx="7688700" cy="296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To implement a fully working solution of the Countdown problem as discussed above, follow the instructions found at:</a:t>
            </a:r>
            <a:endParaRPr/>
          </a:p>
          <a:p>
            <a:pPr indent="0" lvl="0" marL="0" rtl="0" algn="ctr">
              <a:spcBef>
                <a:spcPts val="1200"/>
              </a:spcBef>
              <a:spcAft>
                <a:spcPts val="0"/>
              </a:spcAft>
              <a:buNone/>
            </a:pPr>
            <a:r>
              <a:rPr lang="el">
                <a:latin typeface="Consolas"/>
                <a:ea typeface="Consolas"/>
                <a:cs typeface="Consolas"/>
                <a:sym typeface="Consolas"/>
              </a:rPr>
              <a:t>./labs/countdown_lab_01.pdf</a:t>
            </a:r>
            <a:endParaRPr>
              <a:latin typeface="Consolas"/>
              <a:ea typeface="Consolas"/>
              <a:cs typeface="Consolas"/>
              <a:sym typeface="Consolas"/>
            </a:endParaRPr>
          </a:p>
          <a:p>
            <a:pPr indent="0" lvl="0" marL="0" rtl="0" algn="l">
              <a:spcBef>
                <a:spcPts val="1200"/>
              </a:spcBef>
              <a:spcAft>
                <a:spcPts val="1200"/>
              </a:spcAft>
              <a:buNone/>
            </a:pPr>
            <a:r>
              <a:rPr lang="el"/>
              <a:t>Feel free to make any optimisations you see fit to make your solution run faster!</a:t>
            </a:r>
            <a:endParaRPr/>
          </a:p>
        </p:txBody>
      </p:sp>
      <p:sp>
        <p:nvSpPr>
          <p:cNvPr id="195" name="Google Shape;195;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729450" y="571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Any Questions</a:t>
            </a:r>
            <a:endParaRPr/>
          </a:p>
        </p:txBody>
      </p:sp>
      <p:sp>
        <p:nvSpPr>
          <p:cNvPr id="201" name="Google Shape;201;p28"/>
          <p:cNvSpPr txBox="1"/>
          <p:nvPr>
            <p:ph idx="1" type="body"/>
          </p:nvPr>
        </p:nvSpPr>
        <p:spPr>
          <a:xfrm>
            <a:off x="729450" y="1378000"/>
            <a:ext cx="3842400" cy="2961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l"/>
              <a:t>Don’t forget to fill in the questionnaire shown right!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l"/>
              <a:t>Office hours:</a:t>
            </a:r>
            <a:br>
              <a:rPr lang="el"/>
            </a:br>
            <a:r>
              <a:rPr lang="el"/>
              <a:t>Tuesday: 09:00 —10:00, Glyfada, PC Lab</a:t>
            </a:r>
            <a:br>
              <a:rPr lang="el"/>
            </a:br>
            <a:r>
              <a:rPr lang="el"/>
              <a:t>Wednesday: 15:00 — 17:00, Pellinis, 203</a:t>
            </a:r>
            <a:endParaRPr/>
          </a:p>
        </p:txBody>
      </p:sp>
      <p:sp>
        <p:nvSpPr>
          <p:cNvPr id="202" name="Google Shape;202;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203" name="Google Shape;203;p28"/>
          <p:cNvPicPr preferRelativeResize="0"/>
          <p:nvPr/>
        </p:nvPicPr>
        <p:blipFill>
          <a:blip r:embed="rId3">
            <a:alphaModFix/>
          </a:blip>
          <a:stretch>
            <a:fillRect/>
          </a:stretch>
        </p:blipFill>
        <p:spPr>
          <a:xfrm>
            <a:off x="4724250" y="802325"/>
            <a:ext cx="3337925" cy="3337925"/>
          </a:xfrm>
          <a:prstGeom prst="rect">
            <a:avLst/>
          </a:prstGeom>
          <a:noFill/>
          <a:ln>
            <a:noFill/>
          </a:ln>
        </p:spPr>
      </p:pic>
      <p:sp>
        <p:nvSpPr>
          <p:cNvPr id="204" name="Google Shape;204;p28"/>
          <p:cNvSpPr txBox="1"/>
          <p:nvPr/>
        </p:nvSpPr>
        <p:spPr>
          <a:xfrm>
            <a:off x="4724252" y="4105025"/>
            <a:ext cx="35847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sz="1300" u="sng">
                <a:solidFill>
                  <a:schemeClr val="hlink"/>
                </a:solidFill>
                <a:latin typeface="Consolas"/>
                <a:ea typeface="Consolas"/>
                <a:cs typeface="Consolas"/>
                <a:sym typeface="Consolas"/>
                <a:hlinkClick r:id="rId4"/>
              </a:rPr>
              <a:t>https://forms.gle/YU1mjxjBjBf8hyvH7</a:t>
            </a:r>
            <a:endParaRPr sz="1300">
              <a:solidFill>
                <a:schemeClr val="accent1"/>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